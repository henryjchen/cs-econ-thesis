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4.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sldIdLst>
    <p:sldId id="256" r:id="rId2"/>
    <p:sldId id="2147473344" r:id="rId3"/>
    <p:sldId id="2147473356" r:id="rId4"/>
    <p:sldId id="2147473341" r:id="rId5"/>
    <p:sldId id="2147473327" r:id="rId6"/>
    <p:sldId id="2147473345" r:id="rId7"/>
    <p:sldId id="2147473330" r:id="rId8"/>
    <p:sldId id="2147473328" r:id="rId9"/>
    <p:sldId id="2147473357" r:id="rId10"/>
    <p:sldId id="2147473358" r:id="rId11"/>
    <p:sldId id="2147473347" r:id="rId12"/>
    <p:sldId id="261" r:id="rId13"/>
    <p:sldId id="2147473351" r:id="rId14"/>
    <p:sldId id="2147473350" r:id="rId15"/>
    <p:sldId id="2147473349" r:id="rId16"/>
    <p:sldId id="2147473348" r:id="rId17"/>
    <p:sldId id="2147473352" r:id="rId18"/>
    <p:sldId id="264" r:id="rId19"/>
    <p:sldId id="2147473353" r:id="rId20"/>
    <p:sldId id="2147473355" r:id="rId21"/>
    <p:sldId id="2147473346" r:id="rId22"/>
    <p:sldId id="2147473332" r:id="rId23"/>
    <p:sldId id="2147473339" r:id="rId24"/>
    <p:sldId id="2147473324" r:id="rId25"/>
    <p:sldId id="214747332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92"/>
    <p:restoredTop sz="89247"/>
  </p:normalViewPr>
  <p:slideViewPr>
    <p:cSldViewPr snapToGrid="0">
      <p:cViewPr>
        <p:scale>
          <a:sx n="103" d="100"/>
          <a:sy n="103" d="100"/>
        </p:scale>
        <p:origin x="792" y="3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A3617-7BB1-8949-A64C-F1F9ACBFDE69}" type="datetimeFigureOut">
              <a:rPr lang="en-US" smtClean="0"/>
              <a:t>3/31/26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1B361-416F-D14F-B9D2-968EA6F3D750}" type="slidenum">
              <a:rPr lang="en-US" smtClean="0"/>
              <a:t>‹#›</a:t>
            </a:fld>
            <a:endParaRPr lang="en-US"/>
          </a:p>
        </p:txBody>
      </p:sp>
    </p:spTree>
    <p:extLst>
      <p:ext uri="{BB962C8B-B14F-4D97-AF65-F5344CB8AC3E}">
        <p14:creationId xmlns:p14="http://schemas.microsoft.com/office/powerpoint/2010/main" val="2397045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1B361-416F-D14F-B9D2-968EA6F3D750}" type="slidenum">
              <a:rPr lang="en-US" smtClean="0"/>
              <a:t>1</a:t>
            </a:fld>
            <a:endParaRPr lang="en-US"/>
          </a:p>
        </p:txBody>
      </p:sp>
    </p:spTree>
    <p:extLst>
      <p:ext uri="{BB962C8B-B14F-4D97-AF65-F5344CB8AC3E}">
        <p14:creationId xmlns:p14="http://schemas.microsoft.com/office/powerpoint/2010/main" val="3464275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F8F5A-C39D-4A70-BBB8-7E424DA5C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B986B-17F4-4716-58F5-15A7F4BAD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5CBB0-C8F6-95F9-AF16-83F98871FB5C}"/>
              </a:ext>
            </a:extLst>
          </p:cNvPr>
          <p:cNvSpPr>
            <a:spLocks noGrp="1"/>
          </p:cNvSpPr>
          <p:nvPr>
            <p:ph type="body" idx="1"/>
          </p:nvPr>
        </p:nvSpPr>
        <p:spPr/>
        <p:txBody>
          <a:bodyPr/>
          <a:lstStyle/>
          <a:p>
            <a:r>
              <a:rPr lang="en-US" dirty="0"/>
              <a:t>Population data is foundational to a wide range of social science research — from estimating the effects of crime on neighborhood outcomes to understanding how infrastructure investment shapes development.</a:t>
            </a:r>
          </a:p>
        </p:txBody>
      </p:sp>
      <p:sp>
        <p:nvSpPr>
          <p:cNvPr id="4" name="Slide Number Placeholder 3">
            <a:extLst>
              <a:ext uri="{FF2B5EF4-FFF2-40B4-BE49-F238E27FC236}">
                <a16:creationId xmlns:a16="http://schemas.microsoft.com/office/drawing/2014/main" id="{2F5F3A9E-F894-F201-0447-9E5CE0A48DAA}"/>
              </a:ext>
            </a:extLst>
          </p:cNvPr>
          <p:cNvSpPr>
            <a:spLocks noGrp="1"/>
          </p:cNvSpPr>
          <p:nvPr>
            <p:ph type="sldNum" sz="quarter" idx="5"/>
          </p:nvPr>
        </p:nvSpPr>
        <p:spPr/>
        <p:txBody>
          <a:bodyPr/>
          <a:lstStyle/>
          <a:p>
            <a:fld id="{9E71B361-416F-D14F-B9D2-968EA6F3D750}" type="slidenum">
              <a:rPr lang="en-US" smtClean="0"/>
              <a:t>3</a:t>
            </a:fld>
            <a:endParaRPr lang="en-US"/>
          </a:p>
        </p:txBody>
      </p:sp>
    </p:spTree>
    <p:extLst>
      <p:ext uri="{BB962C8B-B14F-4D97-AF65-F5344CB8AC3E}">
        <p14:creationId xmlns:p14="http://schemas.microsoft.com/office/powerpoint/2010/main" val="100249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6864-23E9-B1C2-2DE8-EC50E0C79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DCA3E-0000-4EF7-BA8D-69F843DD2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02741-1047-1EBC-8033-C52082DB5E09}"/>
              </a:ext>
            </a:extLst>
          </p:cNvPr>
          <p:cNvSpPr>
            <a:spLocks noGrp="1"/>
          </p:cNvSpPr>
          <p:nvPr>
            <p:ph type="body" idx="1"/>
          </p:nvPr>
        </p:nvSpPr>
        <p:spPr/>
        <p:txBody>
          <a:bodyPr/>
          <a:lstStyle/>
          <a:p>
            <a:r>
              <a:rPr lang="en-US" dirty="0"/>
              <a:t>Population data is foundational to a wide range of social science research — from estimating the effects of crime on neighborhood outcomes to understanding how infrastructure investment shapes development. In most countries, including the United States and Mexico, comprehensive population counts are conducted only once a decade. Although annual estimates and survey-based measures exist, they rely on modeling and sampling rather than full enumeration and can carry substantial uncertainty, particularly for small geographic areas. At the sub-municipal level — neighborhoods, blocks, or census tracts — high-frequency, fully enumerated population data is rarely available.</a:t>
            </a:r>
          </a:p>
        </p:txBody>
      </p:sp>
      <p:sp>
        <p:nvSpPr>
          <p:cNvPr id="4" name="Slide Number Placeholder 3">
            <a:extLst>
              <a:ext uri="{FF2B5EF4-FFF2-40B4-BE49-F238E27FC236}">
                <a16:creationId xmlns:a16="http://schemas.microsoft.com/office/drawing/2014/main" id="{E42E5625-3D1C-F9CB-AFF3-47446129BF03}"/>
              </a:ext>
            </a:extLst>
          </p:cNvPr>
          <p:cNvSpPr>
            <a:spLocks noGrp="1"/>
          </p:cNvSpPr>
          <p:nvPr>
            <p:ph type="sldNum" sz="quarter" idx="5"/>
          </p:nvPr>
        </p:nvSpPr>
        <p:spPr/>
        <p:txBody>
          <a:bodyPr/>
          <a:lstStyle/>
          <a:p>
            <a:fld id="{9E71B361-416F-D14F-B9D2-968EA6F3D750}" type="slidenum">
              <a:rPr lang="en-US" smtClean="0"/>
              <a:t>4</a:t>
            </a:fld>
            <a:endParaRPr lang="en-US"/>
          </a:p>
        </p:txBody>
      </p:sp>
    </p:spTree>
    <p:extLst>
      <p:ext uri="{BB962C8B-B14F-4D97-AF65-F5344CB8AC3E}">
        <p14:creationId xmlns:p14="http://schemas.microsoft.com/office/powerpoint/2010/main" val="152558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18F8D-A099-1F1F-D9BC-248345E9A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718AA-302D-B4A5-C6BC-C0AA81F68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4DD4E-28B9-862C-2EAC-BB342C59E09B}"/>
              </a:ext>
            </a:extLst>
          </p:cNvPr>
          <p:cNvSpPr>
            <a:spLocks noGrp="1"/>
          </p:cNvSpPr>
          <p:nvPr>
            <p:ph type="body" idx="1"/>
          </p:nvPr>
        </p:nvSpPr>
        <p:spPr/>
        <p:txBody>
          <a:bodyPr/>
          <a:lstStyle/>
          <a:p>
            <a:r>
              <a:rPr lang="en-US" dirty="0"/>
              <a:t>One promising alternative data source is satellite imagery. Unlike census data, satellite imagery is collected continuously — in some cases updated every few days — and it covers the entire surface of the earth at resolutions fine enough to distinguish individual buildings. Crucially, it is available at the sub-municipal level, which means it can in principle fill exactly the geographic and temporal gaps that census data leaves open. The question is whether it contains enough signal about human settlement patterns to support accurate population estimates.</a:t>
            </a:r>
          </a:p>
        </p:txBody>
      </p:sp>
      <p:sp>
        <p:nvSpPr>
          <p:cNvPr id="4" name="Slide Number Placeholder 3">
            <a:extLst>
              <a:ext uri="{FF2B5EF4-FFF2-40B4-BE49-F238E27FC236}">
                <a16:creationId xmlns:a16="http://schemas.microsoft.com/office/drawing/2014/main" id="{3A241A95-B561-8BDD-9CC1-58D9FEB36FB5}"/>
              </a:ext>
            </a:extLst>
          </p:cNvPr>
          <p:cNvSpPr>
            <a:spLocks noGrp="1"/>
          </p:cNvSpPr>
          <p:nvPr>
            <p:ph type="sldNum" sz="quarter" idx="5"/>
          </p:nvPr>
        </p:nvSpPr>
        <p:spPr/>
        <p:txBody>
          <a:bodyPr/>
          <a:lstStyle/>
          <a:p>
            <a:fld id="{9E71B361-416F-D14F-B9D2-968EA6F3D750}" type="slidenum">
              <a:rPr lang="en-US" smtClean="0"/>
              <a:t>7</a:t>
            </a:fld>
            <a:endParaRPr lang="en-US"/>
          </a:p>
        </p:txBody>
      </p:sp>
    </p:spTree>
    <p:extLst>
      <p:ext uri="{BB962C8B-B14F-4D97-AF65-F5344CB8AC3E}">
        <p14:creationId xmlns:p14="http://schemas.microsoft.com/office/powerpoint/2010/main" val="1879799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5FCDB-D2D2-AACD-B144-21B7296EB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0B7CA-BE65-EE47-2849-446E66F05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C2CFF-3DEC-2EF7-7D28-5E67A5D120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75005E-C071-0FFF-A558-D96D190879B6}"/>
              </a:ext>
            </a:extLst>
          </p:cNvPr>
          <p:cNvSpPr>
            <a:spLocks noGrp="1"/>
          </p:cNvSpPr>
          <p:nvPr>
            <p:ph type="sldNum" sz="quarter" idx="5"/>
          </p:nvPr>
        </p:nvSpPr>
        <p:spPr/>
        <p:txBody>
          <a:bodyPr/>
          <a:lstStyle/>
          <a:p>
            <a:fld id="{9E71B361-416F-D14F-B9D2-968EA6F3D750}" type="slidenum">
              <a:rPr lang="en-US" smtClean="0"/>
              <a:t>9</a:t>
            </a:fld>
            <a:endParaRPr lang="en-US"/>
          </a:p>
        </p:txBody>
      </p:sp>
    </p:spTree>
    <p:extLst>
      <p:ext uri="{BB962C8B-B14F-4D97-AF65-F5344CB8AC3E}">
        <p14:creationId xmlns:p14="http://schemas.microsoft.com/office/powerpoint/2010/main" val="1266633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DEEAC-AD0B-A194-58C1-6C669B66E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E032E-4895-9C0A-F7B5-909AC346D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402CA-C2F3-73E8-EECA-16A0D91517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51AF44-E133-8D0B-D8F2-A8C3AEFB788A}"/>
              </a:ext>
            </a:extLst>
          </p:cNvPr>
          <p:cNvSpPr>
            <a:spLocks noGrp="1"/>
          </p:cNvSpPr>
          <p:nvPr>
            <p:ph type="sldNum" sz="quarter" idx="5"/>
          </p:nvPr>
        </p:nvSpPr>
        <p:spPr/>
        <p:txBody>
          <a:bodyPr/>
          <a:lstStyle/>
          <a:p>
            <a:fld id="{9E71B361-416F-D14F-B9D2-968EA6F3D750}" type="slidenum">
              <a:rPr lang="en-US" smtClean="0"/>
              <a:t>10</a:t>
            </a:fld>
            <a:endParaRPr lang="en-US"/>
          </a:p>
        </p:txBody>
      </p:sp>
    </p:spTree>
    <p:extLst>
      <p:ext uri="{BB962C8B-B14F-4D97-AF65-F5344CB8AC3E}">
        <p14:creationId xmlns:p14="http://schemas.microsoft.com/office/powerpoint/2010/main" val="2214502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unit of analysis.</a:t>
            </a:r>
          </a:p>
        </p:txBody>
      </p:sp>
      <p:sp>
        <p:nvSpPr>
          <p:cNvPr id="4" name="Slide Number Placeholder 3"/>
          <p:cNvSpPr>
            <a:spLocks noGrp="1"/>
          </p:cNvSpPr>
          <p:nvPr>
            <p:ph type="sldNum" sz="quarter" idx="5"/>
          </p:nvPr>
        </p:nvSpPr>
        <p:spPr/>
        <p:txBody>
          <a:bodyPr/>
          <a:lstStyle/>
          <a:p>
            <a:fld id="{9E71B361-416F-D14F-B9D2-968EA6F3D750}" type="slidenum">
              <a:rPr lang="en-US" smtClean="0"/>
              <a:t>14</a:t>
            </a:fld>
            <a:endParaRPr lang="en-US"/>
          </a:p>
        </p:txBody>
      </p:sp>
    </p:spTree>
    <p:extLst>
      <p:ext uri="{BB962C8B-B14F-4D97-AF65-F5344CB8AC3E}">
        <p14:creationId xmlns:p14="http://schemas.microsoft.com/office/powerpoint/2010/main" val="2014821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It captures information about land cover + built environment (e.g., building density, road networks, vegetation, land use)</a:t>
            </a:r>
          </a:p>
          <a:p>
            <a:endParaRPr lang="en-US" dirty="0"/>
          </a:p>
        </p:txBody>
      </p:sp>
      <p:sp>
        <p:nvSpPr>
          <p:cNvPr id="4" name="Slide Number Placeholder 3"/>
          <p:cNvSpPr>
            <a:spLocks noGrp="1"/>
          </p:cNvSpPr>
          <p:nvPr>
            <p:ph type="sldNum" sz="quarter" idx="5"/>
          </p:nvPr>
        </p:nvSpPr>
        <p:spPr/>
        <p:txBody>
          <a:bodyPr/>
          <a:lstStyle/>
          <a:p>
            <a:fld id="{9E71B361-416F-D14F-B9D2-968EA6F3D750}" type="slidenum">
              <a:rPr lang="en-US" smtClean="0"/>
              <a:t>18</a:t>
            </a:fld>
            <a:endParaRPr lang="en-US"/>
          </a:p>
        </p:txBody>
      </p:sp>
    </p:spTree>
    <p:extLst>
      <p:ext uri="{BB962C8B-B14F-4D97-AF65-F5344CB8AC3E}">
        <p14:creationId xmlns:p14="http://schemas.microsoft.com/office/powerpoint/2010/main" val="779467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3999D-7F1C-5DAA-4A74-231B27DB0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4C911-9D5C-7799-2A66-5DCAA1395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0DC21-6272-04C8-407E-D373B316F0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89851C-B111-487C-A544-E4ACBBFECFCC}"/>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24137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56988-3542-9E57-DA5C-1B7985A7E7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A4EB7D-5231-3879-1E49-C81322B1DA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A1CF5B-81D6-E39B-184A-007C95F75EBA}"/>
              </a:ext>
            </a:extLst>
          </p:cNvPr>
          <p:cNvSpPr>
            <a:spLocks noGrp="1"/>
          </p:cNvSpPr>
          <p:nvPr>
            <p:ph type="dt" sz="half" idx="10"/>
          </p:nvPr>
        </p:nvSpPr>
        <p:spPr/>
        <p:txBody>
          <a:bodyPr/>
          <a:lstStyle/>
          <a:p>
            <a:fld id="{14A52519-A3B4-3A4C-A956-B8CF7698984B}" type="datetime4">
              <a:rPr lang="en-US" smtClean="0"/>
              <a:t>March 31, 2026</a:t>
            </a:fld>
            <a:endParaRPr lang="en-US"/>
          </a:p>
        </p:txBody>
      </p:sp>
      <p:sp>
        <p:nvSpPr>
          <p:cNvPr id="5" name="Footer Placeholder 4">
            <a:extLst>
              <a:ext uri="{FF2B5EF4-FFF2-40B4-BE49-F238E27FC236}">
                <a16:creationId xmlns:a16="http://schemas.microsoft.com/office/drawing/2014/main" id="{47D4B94C-70A6-C556-C821-990E96F267A6}"/>
              </a:ext>
            </a:extLst>
          </p:cNvPr>
          <p:cNvSpPr>
            <a:spLocks noGrp="1"/>
          </p:cNvSpPr>
          <p:nvPr>
            <p:ph type="ftr" sz="quarter" idx="11"/>
          </p:nvPr>
        </p:nvSpPr>
        <p:spPr/>
        <p:txBody>
          <a:bodyPr/>
          <a:lstStyle/>
          <a:p>
            <a:r>
              <a:rPr lang="en-US"/>
              <a:t>Jonathan Edwards College Paskus Mellon Forum </a:t>
            </a:r>
          </a:p>
        </p:txBody>
      </p:sp>
      <p:sp>
        <p:nvSpPr>
          <p:cNvPr id="6" name="Slide Number Placeholder 5">
            <a:extLst>
              <a:ext uri="{FF2B5EF4-FFF2-40B4-BE49-F238E27FC236}">
                <a16:creationId xmlns:a16="http://schemas.microsoft.com/office/drawing/2014/main" id="{5B9CB2BF-0EF1-37EC-FE63-DADF83F0879C}"/>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3215259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4A081-B0D4-4AE3-C613-006E7532493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68974E9-BBD5-8C88-1949-E0EF702760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216244-1248-BB93-2F1B-3C65421F6D93}"/>
              </a:ext>
            </a:extLst>
          </p:cNvPr>
          <p:cNvSpPr>
            <a:spLocks noGrp="1"/>
          </p:cNvSpPr>
          <p:nvPr>
            <p:ph type="dt" sz="half" idx="10"/>
          </p:nvPr>
        </p:nvSpPr>
        <p:spPr/>
        <p:txBody>
          <a:bodyPr/>
          <a:lstStyle/>
          <a:p>
            <a:fld id="{F746EC83-0FF8-FF4D-8CD0-705B75E5E19F}" type="datetime4">
              <a:rPr lang="en-US" smtClean="0"/>
              <a:t>March 31, 2026</a:t>
            </a:fld>
            <a:endParaRPr lang="en-US"/>
          </a:p>
        </p:txBody>
      </p:sp>
      <p:sp>
        <p:nvSpPr>
          <p:cNvPr id="5" name="Footer Placeholder 4">
            <a:extLst>
              <a:ext uri="{FF2B5EF4-FFF2-40B4-BE49-F238E27FC236}">
                <a16:creationId xmlns:a16="http://schemas.microsoft.com/office/drawing/2014/main" id="{ABEE58BE-019F-4B9F-4836-2278590797B1}"/>
              </a:ext>
            </a:extLst>
          </p:cNvPr>
          <p:cNvSpPr>
            <a:spLocks noGrp="1"/>
          </p:cNvSpPr>
          <p:nvPr>
            <p:ph type="ftr" sz="quarter" idx="11"/>
          </p:nvPr>
        </p:nvSpPr>
        <p:spPr/>
        <p:txBody>
          <a:bodyPr/>
          <a:lstStyle/>
          <a:p>
            <a:r>
              <a:rPr lang="en-US"/>
              <a:t>Jonathan Edwards College Paskus Mellon Forum </a:t>
            </a:r>
          </a:p>
        </p:txBody>
      </p:sp>
      <p:sp>
        <p:nvSpPr>
          <p:cNvPr id="6" name="Slide Number Placeholder 5">
            <a:extLst>
              <a:ext uri="{FF2B5EF4-FFF2-40B4-BE49-F238E27FC236}">
                <a16:creationId xmlns:a16="http://schemas.microsoft.com/office/drawing/2014/main" id="{310BED89-D2B9-82A2-0470-FF29C119D9F2}"/>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201147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CD26-7403-C135-5005-C70BCF4EBF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53F186-F5ED-5500-7BDE-DC675DBE31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6C21EA-6326-F89E-FBBA-A8B689925C6E}"/>
              </a:ext>
            </a:extLst>
          </p:cNvPr>
          <p:cNvSpPr>
            <a:spLocks noGrp="1"/>
          </p:cNvSpPr>
          <p:nvPr>
            <p:ph type="dt" sz="half" idx="10"/>
          </p:nvPr>
        </p:nvSpPr>
        <p:spPr/>
        <p:txBody>
          <a:bodyPr/>
          <a:lstStyle/>
          <a:p>
            <a:fld id="{5D60C28D-57D0-7A4F-94A0-F7B25999ACAC}" type="datetime4">
              <a:rPr lang="en-US" smtClean="0"/>
              <a:t>March 31, 2026</a:t>
            </a:fld>
            <a:endParaRPr lang="en-US"/>
          </a:p>
        </p:txBody>
      </p:sp>
      <p:sp>
        <p:nvSpPr>
          <p:cNvPr id="5" name="Footer Placeholder 4">
            <a:extLst>
              <a:ext uri="{FF2B5EF4-FFF2-40B4-BE49-F238E27FC236}">
                <a16:creationId xmlns:a16="http://schemas.microsoft.com/office/drawing/2014/main" id="{DC85E761-FBE4-344B-7CA2-4D06C55DFED1}"/>
              </a:ext>
            </a:extLst>
          </p:cNvPr>
          <p:cNvSpPr>
            <a:spLocks noGrp="1"/>
          </p:cNvSpPr>
          <p:nvPr>
            <p:ph type="ftr" sz="quarter" idx="11"/>
          </p:nvPr>
        </p:nvSpPr>
        <p:spPr/>
        <p:txBody>
          <a:bodyPr/>
          <a:lstStyle/>
          <a:p>
            <a:r>
              <a:rPr lang="en-US"/>
              <a:t>Jonathan Edwards College Paskus Mellon Forum </a:t>
            </a:r>
          </a:p>
        </p:txBody>
      </p:sp>
      <p:sp>
        <p:nvSpPr>
          <p:cNvPr id="6" name="Slide Number Placeholder 5">
            <a:extLst>
              <a:ext uri="{FF2B5EF4-FFF2-40B4-BE49-F238E27FC236}">
                <a16:creationId xmlns:a16="http://schemas.microsoft.com/office/drawing/2014/main" id="{E75E8511-77D0-A717-4B6B-AFC3DC90A541}"/>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378402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672F-1D34-2FCB-DF41-E39A097280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BF46A-216A-E9A7-C300-D8CE1DB0EC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7B726E-59E1-7C7A-B95C-C959CA6A55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0DAAE8-90AD-9414-3E20-FFF4ABE3DB39}"/>
              </a:ext>
            </a:extLst>
          </p:cNvPr>
          <p:cNvSpPr>
            <a:spLocks noGrp="1"/>
          </p:cNvSpPr>
          <p:nvPr>
            <p:ph type="dt" sz="half" idx="10"/>
          </p:nvPr>
        </p:nvSpPr>
        <p:spPr/>
        <p:txBody>
          <a:bodyPr/>
          <a:lstStyle/>
          <a:p>
            <a:fld id="{81BC083B-75C0-A949-BCC3-16DDCED2E532}" type="datetime4">
              <a:rPr lang="en-US" smtClean="0"/>
              <a:t>March 31, 2026</a:t>
            </a:fld>
            <a:endParaRPr lang="en-US"/>
          </a:p>
        </p:txBody>
      </p:sp>
      <p:sp>
        <p:nvSpPr>
          <p:cNvPr id="6" name="Footer Placeholder 5">
            <a:extLst>
              <a:ext uri="{FF2B5EF4-FFF2-40B4-BE49-F238E27FC236}">
                <a16:creationId xmlns:a16="http://schemas.microsoft.com/office/drawing/2014/main" id="{BC20806C-3FB8-03A4-0A60-F32E5449BFF0}"/>
              </a:ext>
            </a:extLst>
          </p:cNvPr>
          <p:cNvSpPr>
            <a:spLocks noGrp="1"/>
          </p:cNvSpPr>
          <p:nvPr>
            <p:ph type="ftr" sz="quarter" idx="11"/>
          </p:nvPr>
        </p:nvSpPr>
        <p:spPr/>
        <p:txBody>
          <a:bodyPr/>
          <a:lstStyle/>
          <a:p>
            <a:r>
              <a:rPr lang="en-US"/>
              <a:t>Jonathan Edwards College Paskus Mellon Forum </a:t>
            </a:r>
          </a:p>
        </p:txBody>
      </p:sp>
      <p:sp>
        <p:nvSpPr>
          <p:cNvPr id="7" name="Slide Number Placeholder 6">
            <a:extLst>
              <a:ext uri="{FF2B5EF4-FFF2-40B4-BE49-F238E27FC236}">
                <a16:creationId xmlns:a16="http://schemas.microsoft.com/office/drawing/2014/main" id="{775AD441-9A82-9EF1-64A7-BE917F6C52C0}"/>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383164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DAD6-418E-3CC2-30EF-F7AC28CAD7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451D73-0274-9C43-FD09-AD8F4E47AB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3E59F9-8E23-DF32-2270-2C7D79F8E3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8B9DBC-FD5E-D962-73EE-30D935AC9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536E82-E239-35F4-885A-BC65FEA294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8C19D1-E879-68E1-3C76-937C79B70D7B}"/>
              </a:ext>
            </a:extLst>
          </p:cNvPr>
          <p:cNvSpPr>
            <a:spLocks noGrp="1"/>
          </p:cNvSpPr>
          <p:nvPr>
            <p:ph type="dt" sz="half" idx="10"/>
          </p:nvPr>
        </p:nvSpPr>
        <p:spPr/>
        <p:txBody>
          <a:bodyPr/>
          <a:lstStyle/>
          <a:p>
            <a:fld id="{5F20C353-A33D-6E4F-9315-1DFCD5FF5B5B}" type="datetime4">
              <a:rPr lang="en-US" smtClean="0"/>
              <a:t>March 31, 2026</a:t>
            </a:fld>
            <a:endParaRPr lang="en-US"/>
          </a:p>
        </p:txBody>
      </p:sp>
      <p:sp>
        <p:nvSpPr>
          <p:cNvPr id="8" name="Footer Placeholder 7">
            <a:extLst>
              <a:ext uri="{FF2B5EF4-FFF2-40B4-BE49-F238E27FC236}">
                <a16:creationId xmlns:a16="http://schemas.microsoft.com/office/drawing/2014/main" id="{3E441C31-4F8F-E17A-C179-B3E3DC562AF6}"/>
              </a:ext>
            </a:extLst>
          </p:cNvPr>
          <p:cNvSpPr>
            <a:spLocks noGrp="1"/>
          </p:cNvSpPr>
          <p:nvPr>
            <p:ph type="ftr" sz="quarter" idx="11"/>
          </p:nvPr>
        </p:nvSpPr>
        <p:spPr/>
        <p:txBody>
          <a:bodyPr/>
          <a:lstStyle/>
          <a:p>
            <a:r>
              <a:rPr lang="en-US"/>
              <a:t>Jonathan Edwards College Paskus Mellon Forum </a:t>
            </a:r>
          </a:p>
        </p:txBody>
      </p:sp>
      <p:sp>
        <p:nvSpPr>
          <p:cNvPr id="9" name="Slide Number Placeholder 8">
            <a:extLst>
              <a:ext uri="{FF2B5EF4-FFF2-40B4-BE49-F238E27FC236}">
                <a16:creationId xmlns:a16="http://schemas.microsoft.com/office/drawing/2014/main" id="{0657854F-EFCB-A131-B01D-23FD4586A4DE}"/>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404377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3919-5339-E991-03D4-E4C92DAB96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227222-6A02-5188-597A-BA3247DEB442}"/>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B2DB5C4B-B5BE-E138-C683-4835C4D27A9D}"/>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8F5F342E-24E2-3B3D-CD07-D0386BCEA235}"/>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1401063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A4F30D-2D40-B739-878D-5306D5C547F9}"/>
              </a:ext>
            </a:extLst>
          </p:cNvPr>
          <p:cNvSpPr>
            <a:spLocks noGrp="1"/>
          </p:cNvSpPr>
          <p:nvPr>
            <p:ph type="dt" sz="half" idx="10"/>
          </p:nvPr>
        </p:nvSpPr>
        <p:spPr/>
        <p:txBody>
          <a:bodyPr/>
          <a:lstStyle/>
          <a:p>
            <a:fld id="{06C39842-ADA3-7246-AA55-058445FAC03A}" type="datetime4">
              <a:rPr lang="en-US" smtClean="0"/>
              <a:t>March 31, 2026</a:t>
            </a:fld>
            <a:endParaRPr lang="en-US"/>
          </a:p>
        </p:txBody>
      </p:sp>
      <p:sp>
        <p:nvSpPr>
          <p:cNvPr id="3" name="Footer Placeholder 2">
            <a:extLst>
              <a:ext uri="{FF2B5EF4-FFF2-40B4-BE49-F238E27FC236}">
                <a16:creationId xmlns:a16="http://schemas.microsoft.com/office/drawing/2014/main" id="{C2A4CDBD-73CA-6F26-EBF8-E520853EE861}"/>
              </a:ext>
            </a:extLst>
          </p:cNvPr>
          <p:cNvSpPr>
            <a:spLocks noGrp="1"/>
          </p:cNvSpPr>
          <p:nvPr>
            <p:ph type="ftr" sz="quarter" idx="11"/>
          </p:nvPr>
        </p:nvSpPr>
        <p:spPr/>
        <p:txBody>
          <a:bodyPr/>
          <a:lstStyle/>
          <a:p>
            <a:r>
              <a:rPr lang="en-US"/>
              <a:t>Jonathan Edwards College Paskus Mellon Forum </a:t>
            </a:r>
          </a:p>
        </p:txBody>
      </p:sp>
      <p:sp>
        <p:nvSpPr>
          <p:cNvPr id="4" name="Slide Number Placeholder 3">
            <a:extLst>
              <a:ext uri="{FF2B5EF4-FFF2-40B4-BE49-F238E27FC236}">
                <a16:creationId xmlns:a16="http://schemas.microsoft.com/office/drawing/2014/main" id="{159283BA-89DE-0A19-6887-F22FD46A3DA9}"/>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962776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FC8EC-1A23-C381-AC45-4FE343E3F1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24BE75-3F0F-8E33-8C34-AF38F98CA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E36169-BE61-8987-6720-ACB6F2F2C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EA66CA-0834-D459-5286-AD5400297592}"/>
              </a:ext>
            </a:extLst>
          </p:cNvPr>
          <p:cNvSpPr>
            <a:spLocks noGrp="1"/>
          </p:cNvSpPr>
          <p:nvPr>
            <p:ph type="dt" sz="half" idx="10"/>
          </p:nvPr>
        </p:nvSpPr>
        <p:spPr/>
        <p:txBody>
          <a:bodyPr/>
          <a:lstStyle/>
          <a:p>
            <a:fld id="{9BA8B64B-57FD-0A4B-8745-C978AE0E127C}" type="datetime4">
              <a:rPr lang="en-US" smtClean="0"/>
              <a:t>March 31, 2026</a:t>
            </a:fld>
            <a:endParaRPr lang="en-US"/>
          </a:p>
        </p:txBody>
      </p:sp>
      <p:sp>
        <p:nvSpPr>
          <p:cNvPr id="6" name="Footer Placeholder 5">
            <a:extLst>
              <a:ext uri="{FF2B5EF4-FFF2-40B4-BE49-F238E27FC236}">
                <a16:creationId xmlns:a16="http://schemas.microsoft.com/office/drawing/2014/main" id="{2E5041AD-465A-C9DB-5114-B4179F16CB67}"/>
              </a:ext>
            </a:extLst>
          </p:cNvPr>
          <p:cNvSpPr>
            <a:spLocks noGrp="1"/>
          </p:cNvSpPr>
          <p:nvPr>
            <p:ph type="ftr" sz="quarter" idx="11"/>
          </p:nvPr>
        </p:nvSpPr>
        <p:spPr/>
        <p:txBody>
          <a:bodyPr/>
          <a:lstStyle/>
          <a:p>
            <a:r>
              <a:rPr lang="en-US"/>
              <a:t>Jonathan Edwards College Paskus Mellon Forum </a:t>
            </a:r>
          </a:p>
        </p:txBody>
      </p:sp>
      <p:sp>
        <p:nvSpPr>
          <p:cNvPr id="7" name="Slide Number Placeholder 6">
            <a:extLst>
              <a:ext uri="{FF2B5EF4-FFF2-40B4-BE49-F238E27FC236}">
                <a16:creationId xmlns:a16="http://schemas.microsoft.com/office/drawing/2014/main" id="{CB8702C6-D068-F0EC-C189-173896C6D3C2}"/>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818232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3193A-5533-FB22-C8BE-00C50D5AA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76127B-D370-8723-E1BC-BF1E68E8AB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143F66-C02D-BAAA-6B3C-2CB615D56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3E9C34-FFBA-3836-CBE8-5C8ED9A5ED09}"/>
              </a:ext>
            </a:extLst>
          </p:cNvPr>
          <p:cNvSpPr>
            <a:spLocks noGrp="1"/>
          </p:cNvSpPr>
          <p:nvPr>
            <p:ph type="dt" sz="half" idx="10"/>
          </p:nvPr>
        </p:nvSpPr>
        <p:spPr/>
        <p:txBody>
          <a:bodyPr/>
          <a:lstStyle/>
          <a:p>
            <a:fld id="{5FB5CFD0-3250-174F-BB42-641634CAA034}" type="datetime4">
              <a:rPr lang="en-US" smtClean="0"/>
              <a:t>March 31, 2026</a:t>
            </a:fld>
            <a:endParaRPr lang="en-US"/>
          </a:p>
        </p:txBody>
      </p:sp>
      <p:sp>
        <p:nvSpPr>
          <p:cNvPr id="6" name="Footer Placeholder 5">
            <a:extLst>
              <a:ext uri="{FF2B5EF4-FFF2-40B4-BE49-F238E27FC236}">
                <a16:creationId xmlns:a16="http://schemas.microsoft.com/office/drawing/2014/main" id="{74639664-2A76-2A79-0EBF-D00B0C85FBE9}"/>
              </a:ext>
            </a:extLst>
          </p:cNvPr>
          <p:cNvSpPr>
            <a:spLocks noGrp="1"/>
          </p:cNvSpPr>
          <p:nvPr>
            <p:ph type="ftr" sz="quarter" idx="11"/>
          </p:nvPr>
        </p:nvSpPr>
        <p:spPr/>
        <p:txBody>
          <a:bodyPr/>
          <a:lstStyle/>
          <a:p>
            <a:r>
              <a:rPr lang="en-US"/>
              <a:t>Jonathan Edwards College Paskus Mellon Forum </a:t>
            </a:r>
          </a:p>
        </p:txBody>
      </p:sp>
      <p:sp>
        <p:nvSpPr>
          <p:cNvPr id="7" name="Slide Number Placeholder 6">
            <a:extLst>
              <a:ext uri="{FF2B5EF4-FFF2-40B4-BE49-F238E27FC236}">
                <a16:creationId xmlns:a16="http://schemas.microsoft.com/office/drawing/2014/main" id="{C41FF39B-08D3-8314-4EA1-8DF2CEC3BEB4}"/>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386787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E1CE-2618-340E-7C67-BDCC022387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44BB11-5A34-14EA-F5B4-91C1B1DEB8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3CD7BF-2989-D47F-0790-611A437ABA0D}"/>
              </a:ext>
            </a:extLst>
          </p:cNvPr>
          <p:cNvSpPr>
            <a:spLocks noGrp="1"/>
          </p:cNvSpPr>
          <p:nvPr>
            <p:ph type="dt" sz="half" idx="10"/>
          </p:nvPr>
        </p:nvSpPr>
        <p:spPr/>
        <p:txBody>
          <a:bodyPr/>
          <a:lstStyle/>
          <a:p>
            <a:fld id="{FE96CC12-9DFE-BB4E-96E5-D3EB1F27E964}" type="datetime4">
              <a:rPr lang="en-US" smtClean="0"/>
              <a:t>March 31, 2026</a:t>
            </a:fld>
            <a:endParaRPr lang="en-US"/>
          </a:p>
        </p:txBody>
      </p:sp>
      <p:sp>
        <p:nvSpPr>
          <p:cNvPr id="5" name="Footer Placeholder 4">
            <a:extLst>
              <a:ext uri="{FF2B5EF4-FFF2-40B4-BE49-F238E27FC236}">
                <a16:creationId xmlns:a16="http://schemas.microsoft.com/office/drawing/2014/main" id="{C8F730E5-6627-7C04-BE5B-31CCF04A2ED3}"/>
              </a:ext>
            </a:extLst>
          </p:cNvPr>
          <p:cNvSpPr>
            <a:spLocks noGrp="1"/>
          </p:cNvSpPr>
          <p:nvPr>
            <p:ph type="ftr" sz="quarter" idx="11"/>
          </p:nvPr>
        </p:nvSpPr>
        <p:spPr/>
        <p:txBody>
          <a:bodyPr/>
          <a:lstStyle/>
          <a:p>
            <a:r>
              <a:rPr lang="en-US"/>
              <a:t>Jonathan Edwards College Paskus Mellon Forum </a:t>
            </a:r>
          </a:p>
        </p:txBody>
      </p:sp>
      <p:sp>
        <p:nvSpPr>
          <p:cNvPr id="6" name="Slide Number Placeholder 5">
            <a:extLst>
              <a:ext uri="{FF2B5EF4-FFF2-40B4-BE49-F238E27FC236}">
                <a16:creationId xmlns:a16="http://schemas.microsoft.com/office/drawing/2014/main" id="{D0242C86-87F8-BEF1-FEB0-D07300AA653E}"/>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298313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BF2FD1-210D-A432-F69F-4828BE88C0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B05AD6-0576-2E47-A5F7-95B3AF769D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A1DF98-916D-A9E9-67C6-979FC308402C}"/>
              </a:ext>
            </a:extLst>
          </p:cNvPr>
          <p:cNvSpPr>
            <a:spLocks noGrp="1"/>
          </p:cNvSpPr>
          <p:nvPr>
            <p:ph type="dt" sz="half" idx="10"/>
          </p:nvPr>
        </p:nvSpPr>
        <p:spPr/>
        <p:txBody>
          <a:bodyPr/>
          <a:lstStyle/>
          <a:p>
            <a:fld id="{09DA4A0A-C102-EE46-A00E-E832F1ED8EE4}" type="datetime4">
              <a:rPr lang="en-US" smtClean="0"/>
              <a:t>March 31, 2026</a:t>
            </a:fld>
            <a:endParaRPr lang="en-US"/>
          </a:p>
        </p:txBody>
      </p:sp>
      <p:sp>
        <p:nvSpPr>
          <p:cNvPr id="5" name="Footer Placeholder 4">
            <a:extLst>
              <a:ext uri="{FF2B5EF4-FFF2-40B4-BE49-F238E27FC236}">
                <a16:creationId xmlns:a16="http://schemas.microsoft.com/office/drawing/2014/main" id="{CC01E2A8-710E-BF02-8606-1ADCD2FC6FA4}"/>
              </a:ext>
            </a:extLst>
          </p:cNvPr>
          <p:cNvSpPr>
            <a:spLocks noGrp="1"/>
          </p:cNvSpPr>
          <p:nvPr>
            <p:ph type="ftr" sz="quarter" idx="11"/>
          </p:nvPr>
        </p:nvSpPr>
        <p:spPr/>
        <p:txBody>
          <a:bodyPr/>
          <a:lstStyle/>
          <a:p>
            <a:r>
              <a:rPr lang="en-US"/>
              <a:t>Jonathan Edwards College Paskus Mellon Forum </a:t>
            </a:r>
          </a:p>
        </p:txBody>
      </p:sp>
      <p:sp>
        <p:nvSpPr>
          <p:cNvPr id="6" name="Slide Number Placeholder 5">
            <a:extLst>
              <a:ext uri="{FF2B5EF4-FFF2-40B4-BE49-F238E27FC236}">
                <a16:creationId xmlns:a16="http://schemas.microsoft.com/office/drawing/2014/main" id="{32E016CA-588E-D12C-4947-64C2844FC22A}"/>
              </a:ext>
            </a:extLst>
          </p:cNvPr>
          <p:cNvSpPr>
            <a:spLocks noGrp="1"/>
          </p:cNvSpPr>
          <p:nvPr>
            <p:ph type="sldNum" sz="quarter" idx="12"/>
          </p:nvPr>
        </p:nvSpPr>
        <p:spPr/>
        <p:txBody>
          <a:bodyPr/>
          <a:lstStyle/>
          <a:p>
            <a:fld id="{7D3A6E6C-C5AB-5E45-8D34-7FB9A51EE2CA}" type="slidenum">
              <a:rPr lang="en-US" smtClean="0"/>
              <a:t>‹#›</a:t>
            </a:fld>
            <a:endParaRPr lang="en-US"/>
          </a:p>
        </p:txBody>
      </p:sp>
    </p:spTree>
    <p:extLst>
      <p:ext uri="{BB962C8B-B14F-4D97-AF65-F5344CB8AC3E}">
        <p14:creationId xmlns:p14="http://schemas.microsoft.com/office/powerpoint/2010/main" val="84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92CAC4D-6E48-1C28-CB32-569F954E52A4}"/>
              </a:ext>
            </a:extLst>
          </p:cNvPr>
          <p:cNvGraphicFramePr>
            <a:graphicFrameLocks/>
          </p:cNvGraphicFramePr>
          <p:nvPr userDrawn="1">
            <p:custDataLst>
              <p:tags r:id="rId13"/>
            </p:custDataLst>
            <p:extLst>
              <p:ext uri="{D42A27DB-BD31-4B8C-83A1-F6EECF244321}">
                <p14:modId xmlns:p14="http://schemas.microsoft.com/office/powerpoint/2010/main" val="325599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0" name=""/>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91C0752-E79B-37C5-EF84-C4CE217F77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F8DE987-00A0-99ED-56C2-DEAEA62F80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FDA9553-8055-1B4A-B4D5-2CABAF5B0C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Arial" panose="020B0604020202020204" pitchFamily="34" charset="0"/>
                <a:cs typeface="Arial" panose="020B0604020202020204" pitchFamily="34" charset="0"/>
              </a:defRPr>
            </a:lvl1pPr>
          </a:lstStyle>
          <a:p>
            <a:fld id="{4CD7EDF9-CD1A-CF40-B696-F77BC9DDD96D}" type="datetime4">
              <a:rPr lang="en-US" smtClean="0"/>
              <a:pPr/>
              <a:t>March 31, 2026</a:t>
            </a:fld>
            <a:endParaRPr lang="en-US"/>
          </a:p>
        </p:txBody>
      </p:sp>
      <p:sp>
        <p:nvSpPr>
          <p:cNvPr id="5" name="Footer Placeholder 4">
            <a:extLst>
              <a:ext uri="{FF2B5EF4-FFF2-40B4-BE49-F238E27FC236}">
                <a16:creationId xmlns:a16="http://schemas.microsoft.com/office/drawing/2014/main" id="{6D8A8400-8AA9-8E7C-0377-4320730673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Arial" panose="020B0604020202020204" pitchFamily="34" charset="0"/>
                <a:cs typeface="Arial" panose="020B0604020202020204" pitchFamily="34" charset="0"/>
              </a:defRPr>
            </a:lvl1pPr>
          </a:lstStyle>
          <a:p>
            <a:r>
              <a:rPr lang="en-US"/>
              <a:t>Jonathan Edwards College Paskus Mellon Forum </a:t>
            </a:r>
          </a:p>
        </p:txBody>
      </p:sp>
      <p:sp>
        <p:nvSpPr>
          <p:cNvPr id="6" name="Slide Number Placeholder 5">
            <a:extLst>
              <a:ext uri="{FF2B5EF4-FFF2-40B4-BE49-F238E27FC236}">
                <a16:creationId xmlns:a16="http://schemas.microsoft.com/office/drawing/2014/main" id="{8D6B4D70-42F5-FE15-09DC-6019877D23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7D3A6E6C-C5AB-5E45-8D34-7FB9A51EE2CA}" type="slidenum">
              <a:rPr lang="en-US" smtClean="0"/>
              <a:pPr/>
              <a:t>‹#›</a:t>
            </a:fld>
            <a:endParaRPr lang="en-US"/>
          </a:p>
        </p:txBody>
      </p:sp>
    </p:spTree>
    <p:extLst>
      <p:ext uri="{BB962C8B-B14F-4D97-AF65-F5344CB8AC3E}">
        <p14:creationId xmlns:p14="http://schemas.microsoft.com/office/powerpoint/2010/main" val="2374981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2800" b="1"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5.xml"/><Relationship Id="rId7" Type="http://schemas.openxmlformats.org/officeDocument/2006/relationships/oleObject" Target="../embeddings/oleObject3.bin"/><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6.xml"/><Relationship Id="rId11" Type="http://schemas.openxmlformats.org/officeDocument/2006/relationships/slide" Target="slide21.xml"/><Relationship Id="rId5" Type="http://schemas.openxmlformats.org/officeDocument/2006/relationships/tags" Target="../tags/tag7.xml"/><Relationship Id="rId10" Type="http://schemas.openxmlformats.org/officeDocument/2006/relationships/slide" Target="slide11.xml"/><Relationship Id="rId4" Type="http://schemas.openxmlformats.org/officeDocument/2006/relationships/tags" Target="../tags/tag6.xml"/><Relationship Id="rId9" Type="http://schemas.openxmlformats.org/officeDocument/2006/relationships/slide" Target="slide6.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6.xml"/><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oleObject" Target="../embeddings/oleObject4.bin"/><Relationship Id="rId10" Type="http://schemas.openxmlformats.org/officeDocument/2006/relationships/image" Target="../media/image9.png"/><Relationship Id="rId4" Type="http://schemas.openxmlformats.org/officeDocument/2006/relationships/notesSlide" Target="../notesSlides/notesSlide2.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2.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5.emf"/><Relationship Id="rId5" Type="http://schemas.openxmlformats.org/officeDocument/2006/relationships/oleObject" Target="../embeddings/oleObject5.bin"/><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tags" Target="../tags/tag12.xml"/><Relationship Id="rId4" Type="http://schemas.openxmlformats.org/officeDocument/2006/relationships/image" Target="../media/image13.emf"/></Relationships>
</file>

<file path=ppt/slides/_rels/slide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5.xml"/><Relationship Id="rId7" Type="http://schemas.openxmlformats.org/officeDocument/2006/relationships/oleObject" Target="../embeddings/oleObject7.bin"/><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Layout" Target="../slideLayouts/slideLayout6.xml"/><Relationship Id="rId11" Type="http://schemas.openxmlformats.org/officeDocument/2006/relationships/slide" Target="slide21.xml"/><Relationship Id="rId5" Type="http://schemas.openxmlformats.org/officeDocument/2006/relationships/tags" Target="../tags/tag17.xml"/><Relationship Id="rId10" Type="http://schemas.openxmlformats.org/officeDocument/2006/relationships/slide" Target="slide11.xml"/><Relationship Id="rId4" Type="http://schemas.openxmlformats.org/officeDocument/2006/relationships/tags" Target="../tags/tag16.xml"/><Relationship Id="rId9"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6.png"/><Relationship Id="rId2" Type="http://schemas.openxmlformats.org/officeDocument/2006/relationships/slideLayout" Target="../slideLayouts/slideLayout6.xml"/><Relationship Id="rId1" Type="http://schemas.openxmlformats.org/officeDocument/2006/relationships/tags" Target="../tags/tag18.xml"/><Relationship Id="rId6" Type="http://schemas.openxmlformats.org/officeDocument/2006/relationships/image" Target="../media/image15.jpeg"/><Relationship Id="rId5" Type="http://schemas.openxmlformats.org/officeDocument/2006/relationships/image" Target="../media/image14.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tags" Target="../tags/tag19.xml"/><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20.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6.xml"/><Relationship Id="rId7" Type="http://schemas.openxmlformats.org/officeDocument/2006/relationships/image" Target="../media/image20.png"/><Relationship Id="rId2" Type="http://schemas.openxmlformats.org/officeDocument/2006/relationships/slideLayout" Target="../slideLayouts/slideLayout6.xml"/><Relationship Id="rId1" Type="http://schemas.openxmlformats.org/officeDocument/2006/relationships/tags" Target="../tags/tag21.xml"/><Relationship Id="rId6" Type="http://schemas.openxmlformats.org/officeDocument/2006/relationships/image" Target="../media/image19.png"/><Relationship Id="rId5" Type="http://schemas.openxmlformats.org/officeDocument/2006/relationships/image" Target="../media/image17.emf"/><Relationship Id="rId4" Type="http://schemas.openxmlformats.org/officeDocument/2006/relationships/oleObject" Target="../embeddings/oleObject10.bin"/><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24.xml"/><Relationship Id="rId7" Type="http://schemas.openxmlformats.org/officeDocument/2006/relationships/oleObject" Target="../embeddings/oleObject11.bin"/><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6.xml"/><Relationship Id="rId11" Type="http://schemas.openxmlformats.org/officeDocument/2006/relationships/slide" Target="slide21.xml"/><Relationship Id="rId5" Type="http://schemas.openxmlformats.org/officeDocument/2006/relationships/tags" Target="../tags/tag26.xml"/><Relationship Id="rId10" Type="http://schemas.openxmlformats.org/officeDocument/2006/relationships/slide" Target="slide6.xml"/><Relationship Id="rId4" Type="http://schemas.openxmlformats.org/officeDocument/2006/relationships/tags" Target="../tags/tag25.xml"/><Relationship Id="rId9"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tags" Target="../tags/tag27.xml"/><Relationship Id="rId5" Type="http://schemas.openxmlformats.org/officeDocument/2006/relationships/image" Target="../media/image23.png"/><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tags" Target="../tags/tag28.xml"/><Relationship Id="rId5" Type="http://schemas.openxmlformats.org/officeDocument/2006/relationships/image" Target="../media/image23.png"/><Relationship Id="rId4" Type="http://schemas.openxmlformats.org/officeDocument/2006/relationships/image" Target="../media/image5.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29.xml"/><Relationship Id="rId6" Type="http://schemas.openxmlformats.org/officeDocument/2006/relationships/image" Target="../media/image25.png"/><Relationship Id="rId5" Type="http://schemas.openxmlformats.org/officeDocument/2006/relationships/image" Target="../media/image24.emf"/><Relationship Id="rId4"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tags" Target="../tags/tag3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tags" Target="../tags/tag31.xml"/><Relationship Id="rId5" Type="http://schemas.openxmlformats.org/officeDocument/2006/relationships/image" Target="../media/image28.png"/><Relationship Id="rId4" Type="http://schemas.openxmlformats.org/officeDocument/2006/relationships/image" Target="../media/image24.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tags" Target="../tags/tag32.xml"/><Relationship Id="rId5" Type="http://schemas.openxmlformats.org/officeDocument/2006/relationships/image" Target="../media/image23.png"/><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33.xml"/><Relationship Id="rId6" Type="http://schemas.openxmlformats.org/officeDocument/2006/relationships/image" Target="../media/image29.jpeg"/><Relationship Id="rId5" Type="http://schemas.openxmlformats.org/officeDocument/2006/relationships/image" Target="../media/image17.emf"/><Relationship Id="rId4" Type="http://schemas.openxmlformats.org/officeDocument/2006/relationships/oleObject" Target="../embeddings/oleObject14.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tags" Target="../tags/tag34.xml"/><Relationship Id="rId5" Type="http://schemas.openxmlformats.org/officeDocument/2006/relationships/image" Target="../media/image23.png"/><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tags" Target="../tags/tag35.xml"/><Relationship Id="rId5" Type="http://schemas.openxmlformats.org/officeDocument/2006/relationships/image" Target="../media/image30.jpeg"/><Relationship Id="rId4" Type="http://schemas.openxmlformats.org/officeDocument/2006/relationships/image" Target="../media/image17.emf"/></Relationships>
</file>

<file path=ppt/slides/_rels/slide2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38.xml"/><Relationship Id="rId7" Type="http://schemas.openxmlformats.org/officeDocument/2006/relationships/oleObject" Target="../embeddings/oleObject16.bin"/><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Layout" Target="../slideLayouts/slideLayout6.xml"/><Relationship Id="rId11" Type="http://schemas.openxmlformats.org/officeDocument/2006/relationships/slide" Target="slide11.xml"/><Relationship Id="rId5" Type="http://schemas.openxmlformats.org/officeDocument/2006/relationships/tags" Target="../tags/tag40.xml"/><Relationship Id="rId10" Type="http://schemas.openxmlformats.org/officeDocument/2006/relationships/slide" Target="slide6.xml"/><Relationship Id="rId4" Type="http://schemas.openxmlformats.org/officeDocument/2006/relationships/tags" Target="../tags/tag39.xml"/><Relationship Id="rId9" Type="http://schemas.openxmlformats.org/officeDocument/2006/relationships/slide" Target="slide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tags" Target="../tags/tag41.xml"/><Relationship Id="rId5" Type="http://schemas.openxmlformats.org/officeDocument/2006/relationships/image" Target="../media/image32.png"/><Relationship Id="rId4" Type="http://schemas.openxmlformats.org/officeDocument/2006/relationships/image" Target="../media/image3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tags" Target="../tags/tag42.xml"/><Relationship Id="rId5" Type="http://schemas.openxmlformats.org/officeDocument/2006/relationships/image" Target="../media/image34.png"/><Relationship Id="rId4" Type="http://schemas.openxmlformats.org/officeDocument/2006/relationships/image" Target="../media/image33.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43.xml"/><Relationship Id="rId5" Type="http://schemas.openxmlformats.org/officeDocument/2006/relationships/image" Target="../media/image35.emf"/><Relationship Id="rId4" Type="http://schemas.openxmlformats.org/officeDocument/2006/relationships/oleObject" Target="../embeddings/oleObject19.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3.xml"/><Relationship Id="rId1" Type="http://schemas.openxmlformats.org/officeDocument/2006/relationships/tags" Target="../tags/tag44.xml"/><Relationship Id="rId4" Type="http://schemas.openxmlformats.org/officeDocument/2006/relationships/image" Target="../media/image36.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1026" name="Picture 2" descr="San Diego &#10;CA &#10;NIA &#10;rleans &#10;Culf of California &#10;Tam &#10;Gulf of &#10;CALIF &#10;`SUR &#10;America &#10;S &#10;cancún &#10;TANA &#10;COL &#10;Gua ">
            <a:extLst>
              <a:ext uri="{FF2B5EF4-FFF2-40B4-BE49-F238E27FC236}">
                <a16:creationId xmlns:a16="http://schemas.microsoft.com/office/drawing/2014/main" id="{7633B08E-3627-9B3A-B280-D119138B97D4}"/>
              </a:ext>
            </a:extLst>
          </p:cNvPr>
          <p:cNvPicPr>
            <a:picLocks noChangeAspect="1" noChangeArrowheads="1"/>
          </p:cNvPicPr>
          <p:nvPr/>
        </p:nvPicPr>
        <p:blipFill>
          <a:blip r:embed="rId4">
            <a:alphaModFix amt="37000"/>
            <a:extLst>
              <a:ext uri="{28A0092B-C50C-407E-A947-70E740481C1C}">
                <a14:useLocalDpi xmlns:a14="http://schemas.microsoft.com/office/drawing/2010/main" val="0"/>
              </a:ext>
            </a:extLst>
          </a:blip>
          <a:srcRect b="7025"/>
          <a:stretch>
            <a:fillRect/>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BADA66F-B8A2-A2DC-4D6F-698FC2963ACE}"/>
              </a:ext>
            </a:extLst>
          </p:cNvPr>
          <p:cNvSpPr>
            <a:spLocks noGrp="1"/>
          </p:cNvSpPr>
          <p:nvPr>
            <p:ph type="ctrTitle"/>
          </p:nvPr>
        </p:nvSpPr>
        <p:spPr>
          <a:xfrm>
            <a:off x="1198181" y="1122363"/>
            <a:ext cx="9795637" cy="2220775"/>
          </a:xfrm>
        </p:spPr>
        <p:txBody>
          <a:bodyPr vert="horz" rIns="91440">
            <a:normAutofit/>
          </a:bodyPr>
          <a:lstStyle/>
          <a:p>
            <a:r>
              <a:rPr lang="en-US" sz="3600" dirty="0">
                <a:solidFill>
                  <a:srgbClr val="FFFFFF"/>
                </a:solidFill>
              </a:rPr>
              <a:t>Predicting Population Density from Satellite Imagery: Evidence from Mexico</a:t>
            </a:r>
          </a:p>
        </p:txBody>
      </p:sp>
      <p:sp>
        <p:nvSpPr>
          <p:cNvPr id="3" name="Subtitle 2">
            <a:extLst>
              <a:ext uri="{FF2B5EF4-FFF2-40B4-BE49-F238E27FC236}">
                <a16:creationId xmlns:a16="http://schemas.microsoft.com/office/drawing/2014/main" id="{78647DAE-A693-197D-C975-7796FCDCF541}"/>
              </a:ext>
            </a:extLst>
          </p:cNvPr>
          <p:cNvSpPr>
            <a:spLocks noGrp="1"/>
          </p:cNvSpPr>
          <p:nvPr>
            <p:ph type="subTitle" idx="1"/>
          </p:nvPr>
        </p:nvSpPr>
        <p:spPr>
          <a:xfrm>
            <a:off x="1198181" y="3747759"/>
            <a:ext cx="9795637" cy="2705619"/>
          </a:xfrm>
        </p:spPr>
        <p:txBody>
          <a:bodyPr>
            <a:normAutofit/>
          </a:bodyPr>
          <a:lstStyle/>
          <a:p>
            <a:r>
              <a:rPr lang="en-US" sz="1800" dirty="0">
                <a:solidFill>
                  <a:srgbClr val="FFFFFF"/>
                </a:solidFill>
              </a:rPr>
              <a:t>Henry Chen </a:t>
            </a:r>
          </a:p>
          <a:p>
            <a:r>
              <a:rPr lang="en-US" sz="1800" dirty="0">
                <a:solidFill>
                  <a:srgbClr val="FFFFFF"/>
                </a:solidFill>
              </a:rPr>
              <a:t>advised by Luke Sanford</a:t>
            </a:r>
          </a:p>
          <a:p>
            <a:endParaRPr lang="en-US" sz="1800" dirty="0">
              <a:solidFill>
                <a:srgbClr val="FFFFFF"/>
              </a:solidFill>
            </a:endParaRPr>
          </a:p>
          <a:p>
            <a:r>
              <a:rPr lang="en-US" sz="1800" dirty="0">
                <a:solidFill>
                  <a:srgbClr val="FFFFFF"/>
                </a:solidFill>
              </a:rPr>
              <a:t>Paskus Mellon Forum</a:t>
            </a:r>
          </a:p>
          <a:p>
            <a:r>
              <a:rPr lang="en-US" sz="1800" dirty="0">
                <a:solidFill>
                  <a:srgbClr val="FFFFFF"/>
                </a:solidFill>
              </a:rPr>
              <a:t>Jonathan Edwards College</a:t>
            </a:r>
          </a:p>
          <a:p>
            <a:r>
              <a:rPr lang="en-US" sz="1800" dirty="0">
                <a:solidFill>
                  <a:srgbClr val="FFFFFF"/>
                </a:solidFill>
              </a:rPr>
              <a:t>March 31, 2026</a:t>
            </a:r>
          </a:p>
        </p:txBody>
      </p:sp>
      <p:graphicFrame>
        <p:nvGraphicFramePr>
          <p:cNvPr id="4" name="think-cell data - do not delete" hidden="1">
            <a:extLst>
              <a:ext uri="{FF2B5EF4-FFF2-40B4-BE49-F238E27FC236}">
                <a16:creationId xmlns:a16="http://schemas.microsoft.com/office/drawing/2014/main" id="{9335AB6C-8E5F-3810-C491-9193E032182B}"/>
              </a:ext>
            </a:extLst>
          </p:cNvPr>
          <p:cNvGraphicFramePr>
            <a:graphicFrameLocks/>
          </p:cNvGraphicFramePr>
          <p:nvPr>
            <p:custDataLst>
              <p:tags r:id="rId1"/>
            </p:custDataLst>
            <p:extLst>
              <p:ext uri="{D42A27DB-BD31-4B8C-83A1-F6EECF244321}">
                <p14:modId xmlns:p14="http://schemas.microsoft.com/office/powerpoint/2010/main" val="25869815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3206295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AA97586-B581-33BA-DF75-23204DED7985}"/>
              </a:ext>
            </a:extLst>
          </p:cNvPr>
          <p:cNvGraphicFramePr>
            <a:graphicFrameLocks/>
          </p:cNvGraphicFramePr>
          <p:nvPr>
            <p:custDataLst>
              <p:tags r:id="rId1"/>
            </p:custDataLst>
            <p:extLst>
              <p:ext uri="{D42A27DB-BD31-4B8C-83A1-F6EECF244321}">
                <p14:modId xmlns:p14="http://schemas.microsoft.com/office/powerpoint/2010/main" val="17597452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6" name="Text Placeholder 2">
            <a:extLst>
              <a:ext uri="{FF2B5EF4-FFF2-40B4-BE49-F238E27FC236}">
                <a16:creationId xmlns:a16="http://schemas.microsoft.com/office/drawing/2014/main" id="{842C7C16-2D9C-FE28-33E7-C5C76BC1F5FD}"/>
              </a:ext>
            </a:extLst>
          </p:cNvPr>
          <p:cNvSpPr txBox="1">
            <a:spLocks/>
          </p:cNvSpPr>
          <p:nvPr>
            <p:custDataLst>
              <p:tags r:id="rId2"/>
            </p:custDataLst>
          </p:nvPr>
        </p:nvSpPr>
        <p:spPr bwMode="auto">
          <a:xfrm>
            <a:off x="5172075" y="2568575"/>
            <a:ext cx="1847850" cy="430213"/>
          </a:xfrm>
          <a:prstGeom prst="rect">
            <a:avLst/>
          </a:prstGeom>
          <a:solidFill>
            <a:schemeClr val="accent6"/>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b="1" dirty="0">
                <a:effectLst/>
                <a:cs typeface="+mn-cs"/>
              </a:rPr>
              <a:t>Motivation</a:t>
            </a:r>
            <a:endParaRPr lang="en-US" b="1" dirty="0">
              <a:cs typeface="+mn-cs"/>
            </a:endParaRPr>
          </a:p>
        </p:txBody>
      </p:sp>
      <p:sp>
        <p:nvSpPr>
          <p:cNvPr id="14" name="Text Placeholder 2">
            <a:hlinkClick r:id="rId9" action="ppaction://hlinksldjump"/>
            <a:extLst>
              <a:ext uri="{FF2B5EF4-FFF2-40B4-BE49-F238E27FC236}">
                <a16:creationId xmlns:a16="http://schemas.microsoft.com/office/drawing/2014/main" id="{A21D2F9B-1CC5-CDE3-5777-872B28E428DC}"/>
              </a:ext>
            </a:extLst>
          </p:cNvPr>
          <p:cNvSpPr txBox="1">
            <a:spLocks/>
          </p:cNvSpPr>
          <p:nvPr>
            <p:custDataLst>
              <p:tags r:id="rId3"/>
            </p:custDataLst>
          </p:nvPr>
        </p:nvSpPr>
        <p:spPr bwMode="auto">
          <a:xfrm>
            <a:off x="5172075" y="2998788"/>
            <a:ext cx="1847850" cy="430213"/>
          </a:xfrm>
          <a:prstGeom prst="rect">
            <a:avLst/>
          </a:prstGeom>
          <a:solidFill>
            <a:schemeClr val="bg2"/>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a:effectLst/>
                <a:cs typeface="+mn-cs"/>
              </a:rPr>
              <a:t>Intervention</a:t>
            </a:r>
            <a:endParaRPr lang="en-US" dirty="0">
              <a:cs typeface="+mn-cs"/>
            </a:endParaRPr>
          </a:p>
        </p:txBody>
      </p:sp>
      <p:sp>
        <p:nvSpPr>
          <p:cNvPr id="13" name="Text Placeholder 2">
            <a:hlinkClick r:id="rId10" action="ppaction://hlinksldjump"/>
            <a:extLst>
              <a:ext uri="{FF2B5EF4-FFF2-40B4-BE49-F238E27FC236}">
                <a16:creationId xmlns:a16="http://schemas.microsoft.com/office/drawing/2014/main" id="{ACD4CC74-094D-299E-D3BF-8CF792DFA4C4}"/>
              </a:ext>
            </a:extLst>
          </p:cNvPr>
          <p:cNvSpPr txBox="1">
            <a:spLocks/>
          </p:cNvSpPr>
          <p:nvPr>
            <p:custDataLst>
              <p:tags r:id="rId4"/>
            </p:custDataLst>
          </p:nvPr>
        </p:nvSpPr>
        <p:spPr bwMode="auto">
          <a:xfrm>
            <a:off x="5172075" y="3429000"/>
            <a:ext cx="1847850" cy="430213"/>
          </a:xfrm>
          <a:prstGeom prst="rect">
            <a:avLst/>
          </a:prstGeom>
          <a:solidFill>
            <a:schemeClr val="bg2"/>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Methodology</a:t>
            </a:r>
            <a:endParaRPr lang="en-US" dirty="0">
              <a:cs typeface="+mn-cs"/>
            </a:endParaRPr>
          </a:p>
        </p:txBody>
      </p:sp>
      <p:sp>
        <p:nvSpPr>
          <p:cNvPr id="12" name="Text Placeholder 2">
            <a:hlinkClick r:id="rId11" action="ppaction://hlinksldjump"/>
            <a:extLst>
              <a:ext uri="{FF2B5EF4-FFF2-40B4-BE49-F238E27FC236}">
                <a16:creationId xmlns:a16="http://schemas.microsoft.com/office/drawing/2014/main" id="{29DE5E75-6334-003B-09AF-D7EB3A987445}"/>
              </a:ext>
            </a:extLst>
          </p:cNvPr>
          <p:cNvSpPr txBox="1">
            <a:spLocks/>
          </p:cNvSpPr>
          <p:nvPr>
            <p:custDataLst>
              <p:tags r:id="rId5"/>
            </p:custDataLst>
          </p:nvPr>
        </p:nvSpPr>
        <p:spPr bwMode="auto">
          <a:xfrm>
            <a:off x="5172075" y="3859213"/>
            <a:ext cx="1847850" cy="430213"/>
          </a:xfrm>
          <a:prstGeom prst="rect">
            <a:avLst/>
          </a:prstGeom>
          <a:solidFill>
            <a:schemeClr val="bg2"/>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Results</a:t>
            </a:r>
            <a:endParaRPr lang="en-US" dirty="0">
              <a:cs typeface="+mn-cs"/>
            </a:endParaRPr>
          </a:p>
        </p:txBody>
      </p:sp>
      <p:sp>
        <p:nvSpPr>
          <p:cNvPr id="2" name="Title 1">
            <a:extLst>
              <a:ext uri="{FF2B5EF4-FFF2-40B4-BE49-F238E27FC236}">
                <a16:creationId xmlns:a16="http://schemas.microsoft.com/office/drawing/2014/main" id="{94B59405-3D96-A9D6-07C6-B81F2280A27E}"/>
              </a:ext>
            </a:extLst>
          </p:cNvPr>
          <p:cNvSpPr>
            <a:spLocks noGrp="1"/>
          </p:cNvSpPr>
          <p:nvPr>
            <p:ph type="title"/>
          </p:nvPr>
        </p:nvSpPr>
        <p:spPr/>
        <p:txBody>
          <a:bodyPr vert="horz" rIns="91440"/>
          <a:lstStyle/>
          <a:p>
            <a:fld id="{449B17F5-B4D5-40AC-B3C6-47A90E38688C}" type="datetime'Agenda'">
              <a:rPr lang="en-US" altLang="en-US" smtClean="0">
                <a:effectLst/>
              </a:rPr>
              <a:pPr/>
              <a:t>Agenda</a:t>
            </a:fld>
            <a:endParaRPr lang="en-US"/>
          </a:p>
        </p:txBody>
      </p:sp>
      <p:sp>
        <p:nvSpPr>
          <p:cNvPr id="3" name="Date Placeholder 2">
            <a:extLst>
              <a:ext uri="{FF2B5EF4-FFF2-40B4-BE49-F238E27FC236}">
                <a16:creationId xmlns:a16="http://schemas.microsoft.com/office/drawing/2014/main" id="{8509B0DF-B447-2BB4-88AA-415EC17E6D2C}"/>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8BB06B30-C69D-0E31-A79A-375969779445}"/>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42961C89-3C92-53DA-94C7-BF8B5C3BC71B}"/>
              </a:ext>
            </a:extLst>
          </p:cNvPr>
          <p:cNvSpPr>
            <a:spLocks noGrp="1"/>
          </p:cNvSpPr>
          <p:nvPr>
            <p:ph type="sldNum" sz="quarter" idx="12"/>
          </p:nvPr>
        </p:nvSpPr>
        <p:spPr/>
        <p:txBody>
          <a:bodyPr/>
          <a:lstStyle/>
          <a:p>
            <a:fld id="{7D3A6E6C-C5AB-5E45-8D34-7FB9A51EE2CA}" type="slidenum">
              <a:rPr lang="en-US" smtClean="0"/>
              <a:t>2</a:t>
            </a:fld>
            <a:endParaRPr lang="en-US"/>
          </a:p>
        </p:txBody>
      </p:sp>
    </p:spTree>
    <p:extLst>
      <p:ext uri="{BB962C8B-B14F-4D97-AF65-F5344CB8AC3E}">
        <p14:creationId xmlns:p14="http://schemas.microsoft.com/office/powerpoint/2010/main" val="3855780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4E2D5-8F24-E4DE-4509-DDFD72C8F6A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5C20873-D759-1A81-B9B3-853F9D0F0ABF}"/>
              </a:ext>
            </a:extLst>
          </p:cNvPr>
          <p:cNvGraphicFramePr>
            <a:graphicFrameLocks/>
          </p:cNvGraphicFramePr>
          <p:nvPr>
            <p:custDataLst>
              <p:tags r:id="rId1"/>
            </p:custDataLst>
            <p:extLst>
              <p:ext uri="{D42A27DB-BD31-4B8C-83A1-F6EECF244321}">
                <p14:modId xmlns:p14="http://schemas.microsoft.com/office/powerpoint/2010/main" val="30513385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3" name="think-cell data - do not delete" hidden="1">
                        <a:extLst>
                          <a:ext uri="{FF2B5EF4-FFF2-40B4-BE49-F238E27FC236}">
                            <a16:creationId xmlns:a16="http://schemas.microsoft.com/office/drawing/2014/main" id="{6A648FC5-1782-DFEF-9525-153B53FF9E7C}"/>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FAE7CC-4BD6-1FD5-805C-A636F3903A5F}"/>
              </a:ext>
            </a:extLst>
          </p:cNvPr>
          <p:cNvSpPr>
            <a:spLocks noGrp="1"/>
          </p:cNvSpPr>
          <p:nvPr>
            <p:ph type="title"/>
          </p:nvPr>
        </p:nvSpPr>
        <p:spPr>
          <a:xfrm>
            <a:off x="785622" y="365125"/>
            <a:ext cx="10620756" cy="1325563"/>
          </a:xfrm>
        </p:spPr>
        <p:txBody>
          <a:bodyPr vert="horz" rIns="91440">
            <a:normAutofit/>
          </a:bodyPr>
          <a:lstStyle/>
          <a:p>
            <a:r>
              <a:rPr lang="en-US" b="1"/>
              <a:t>Population data underlies </a:t>
            </a:r>
            <a:r>
              <a:rPr lang="en-US"/>
              <a:t>many </a:t>
            </a:r>
            <a:r>
              <a:rPr lang="en-US" b="1"/>
              <a:t>critical decisions in public life…</a:t>
            </a:r>
            <a:endParaRPr lang="en-US" b="1" dirty="0"/>
          </a:p>
        </p:txBody>
      </p:sp>
      <p:sp>
        <p:nvSpPr>
          <p:cNvPr id="4" name="Date Placeholder 3">
            <a:extLst>
              <a:ext uri="{FF2B5EF4-FFF2-40B4-BE49-F238E27FC236}">
                <a16:creationId xmlns:a16="http://schemas.microsoft.com/office/drawing/2014/main" id="{CEA244F5-055B-BC89-68DB-CBA8F8EE1DCA}"/>
              </a:ext>
            </a:extLst>
          </p:cNvPr>
          <p:cNvSpPr>
            <a:spLocks noGrp="1"/>
          </p:cNvSpPr>
          <p:nvPr>
            <p:ph type="dt" sz="half" idx="10"/>
          </p:nvPr>
        </p:nvSpPr>
        <p:spPr/>
        <p:txBody>
          <a:bodyPr/>
          <a:lstStyle/>
          <a:p>
            <a:fld id="{BC27EDE2-6E51-EE41-A436-6F979CE5A64B}" type="datetime4">
              <a:rPr lang="en-US" smtClean="0"/>
              <a:t>March 31, 2026</a:t>
            </a:fld>
            <a:endParaRPr lang="en-US" dirty="0"/>
          </a:p>
        </p:txBody>
      </p:sp>
      <p:sp>
        <p:nvSpPr>
          <p:cNvPr id="5" name="Footer Placeholder 4">
            <a:extLst>
              <a:ext uri="{FF2B5EF4-FFF2-40B4-BE49-F238E27FC236}">
                <a16:creationId xmlns:a16="http://schemas.microsoft.com/office/drawing/2014/main" id="{281E17E7-87F8-F65B-6F8C-2304DCAA2E74}"/>
              </a:ext>
            </a:extLst>
          </p:cNvPr>
          <p:cNvSpPr>
            <a:spLocks noGrp="1"/>
          </p:cNvSpPr>
          <p:nvPr>
            <p:ph type="ftr" sz="quarter" idx="11"/>
          </p:nvPr>
        </p:nvSpPr>
        <p:spPr/>
        <p:txBody>
          <a:bodyPr/>
          <a:lstStyle/>
          <a:p>
            <a:r>
              <a:rPr lang="en-US"/>
              <a:t>Jonathan Edwards College Paskus Mellon Forum </a:t>
            </a:r>
            <a:endParaRPr lang="en-US" dirty="0"/>
          </a:p>
        </p:txBody>
      </p:sp>
      <p:sp>
        <p:nvSpPr>
          <p:cNvPr id="6" name="Slide Number Placeholder 5">
            <a:extLst>
              <a:ext uri="{FF2B5EF4-FFF2-40B4-BE49-F238E27FC236}">
                <a16:creationId xmlns:a16="http://schemas.microsoft.com/office/drawing/2014/main" id="{803600DE-DDFD-2D64-F2B2-F1AA02D58081}"/>
              </a:ext>
            </a:extLst>
          </p:cNvPr>
          <p:cNvSpPr>
            <a:spLocks noGrp="1"/>
          </p:cNvSpPr>
          <p:nvPr>
            <p:ph type="sldNum" sz="quarter" idx="12"/>
          </p:nvPr>
        </p:nvSpPr>
        <p:spPr/>
        <p:txBody>
          <a:bodyPr/>
          <a:lstStyle/>
          <a:p>
            <a:fld id="{7D3A6E6C-C5AB-5E45-8D34-7FB9A51EE2CA}" type="slidenum">
              <a:rPr lang="en-US" smtClean="0"/>
              <a:t>3</a:t>
            </a:fld>
            <a:endParaRPr lang="en-US"/>
          </a:p>
        </p:txBody>
      </p:sp>
      <p:sp>
        <p:nvSpPr>
          <p:cNvPr id="31" name="TextBox 30">
            <a:extLst>
              <a:ext uri="{FF2B5EF4-FFF2-40B4-BE49-F238E27FC236}">
                <a16:creationId xmlns:a16="http://schemas.microsoft.com/office/drawing/2014/main" id="{7DA6543D-7429-349E-BE13-E83D22DE5B73}"/>
              </a:ext>
            </a:extLst>
          </p:cNvPr>
          <p:cNvSpPr txBox="1"/>
          <p:nvPr/>
        </p:nvSpPr>
        <p:spPr>
          <a:xfrm>
            <a:off x="-731520" y="-1211163"/>
            <a:ext cx="11510395" cy="923330"/>
          </a:xfrm>
          <a:prstGeom prst="rect">
            <a:avLst/>
          </a:prstGeom>
          <a:solidFill>
            <a:srgbClr val="FFFF00"/>
          </a:solidFill>
        </p:spPr>
        <p:txBody>
          <a:bodyPr wrap="none" rtlCol="0">
            <a:spAutoFit/>
          </a:bodyPr>
          <a:lstStyle/>
          <a:p>
            <a:r>
              <a:rPr lang="en-US"/>
              <a:t>More questions abt how it applies to policy making?</a:t>
            </a:r>
          </a:p>
          <a:p>
            <a:pPr marL="285750" indent="-285750">
              <a:buFontTx/>
              <a:buChar char="-"/>
            </a:pPr>
            <a:r>
              <a:rPr lang="en-US"/>
              <a:t>Example of world cup in Mexico was good</a:t>
            </a:r>
          </a:p>
          <a:p>
            <a:pPr marL="285750" indent="-285750">
              <a:buFontTx/>
              <a:buChar char="-"/>
            </a:pPr>
            <a:r>
              <a:rPr lang="en-US"/>
              <a:t>More concrete examples of how it can be used and the larger socioeconomic implications of those applications </a:t>
            </a:r>
            <a:endParaRPr lang="en-US" dirty="0"/>
          </a:p>
        </p:txBody>
      </p:sp>
      <p:pic>
        <p:nvPicPr>
          <p:cNvPr id="16" name="Picture 15">
            <a:extLst>
              <a:ext uri="{FF2B5EF4-FFF2-40B4-BE49-F238E27FC236}">
                <a16:creationId xmlns:a16="http://schemas.microsoft.com/office/drawing/2014/main" id="{3D6D9040-8990-418F-BD04-F475027DE9F9}"/>
              </a:ext>
            </a:extLst>
          </p:cNvPr>
          <p:cNvPicPr>
            <a:picLocks noChangeAspect="1"/>
          </p:cNvPicPr>
          <p:nvPr/>
        </p:nvPicPr>
        <p:blipFill>
          <a:blip r:embed="rId7"/>
          <a:stretch>
            <a:fillRect/>
          </a:stretch>
        </p:blipFill>
        <p:spPr>
          <a:xfrm>
            <a:off x="785622" y="1796615"/>
            <a:ext cx="2120766" cy="1993338"/>
          </a:xfrm>
          <a:prstGeom prst="rect">
            <a:avLst/>
          </a:prstGeom>
        </p:spPr>
      </p:pic>
      <p:pic>
        <p:nvPicPr>
          <p:cNvPr id="22" name="Picture 21">
            <a:extLst>
              <a:ext uri="{FF2B5EF4-FFF2-40B4-BE49-F238E27FC236}">
                <a16:creationId xmlns:a16="http://schemas.microsoft.com/office/drawing/2014/main" id="{DF3395D5-A93C-0A11-3B1C-73D4932D3C14}"/>
              </a:ext>
            </a:extLst>
          </p:cNvPr>
          <p:cNvPicPr>
            <a:picLocks noChangeAspect="1"/>
          </p:cNvPicPr>
          <p:nvPr/>
        </p:nvPicPr>
        <p:blipFill>
          <a:blip r:embed="rId8"/>
          <a:stretch>
            <a:fillRect/>
          </a:stretch>
        </p:blipFill>
        <p:spPr>
          <a:xfrm>
            <a:off x="3225663" y="1809610"/>
            <a:ext cx="2120766" cy="1967348"/>
          </a:xfrm>
          <a:prstGeom prst="rect">
            <a:avLst/>
          </a:prstGeom>
        </p:spPr>
      </p:pic>
      <p:pic>
        <p:nvPicPr>
          <p:cNvPr id="23" name="Picture 22">
            <a:extLst>
              <a:ext uri="{FF2B5EF4-FFF2-40B4-BE49-F238E27FC236}">
                <a16:creationId xmlns:a16="http://schemas.microsoft.com/office/drawing/2014/main" id="{F983F42B-7A6E-6F38-51AC-75BD725182AE}"/>
              </a:ext>
            </a:extLst>
          </p:cNvPr>
          <p:cNvPicPr>
            <a:picLocks noChangeAspect="1"/>
          </p:cNvPicPr>
          <p:nvPr/>
        </p:nvPicPr>
        <p:blipFill>
          <a:blip r:embed="rId9"/>
          <a:stretch>
            <a:fillRect/>
          </a:stretch>
        </p:blipFill>
        <p:spPr>
          <a:xfrm>
            <a:off x="5657991" y="1814819"/>
            <a:ext cx="2120766" cy="1956929"/>
          </a:xfrm>
          <a:prstGeom prst="rect">
            <a:avLst/>
          </a:prstGeom>
        </p:spPr>
      </p:pic>
      <p:pic>
        <p:nvPicPr>
          <p:cNvPr id="24" name="Picture 23">
            <a:extLst>
              <a:ext uri="{FF2B5EF4-FFF2-40B4-BE49-F238E27FC236}">
                <a16:creationId xmlns:a16="http://schemas.microsoft.com/office/drawing/2014/main" id="{41BCF66F-93F7-4C59-E2F6-25195C06E460}"/>
              </a:ext>
            </a:extLst>
          </p:cNvPr>
          <p:cNvPicPr>
            <a:picLocks noChangeAspect="1"/>
          </p:cNvPicPr>
          <p:nvPr/>
        </p:nvPicPr>
        <p:blipFill>
          <a:blip r:embed="rId10"/>
          <a:stretch>
            <a:fillRect/>
          </a:stretch>
        </p:blipFill>
        <p:spPr>
          <a:xfrm>
            <a:off x="793335" y="3890995"/>
            <a:ext cx="2120766" cy="1946932"/>
          </a:xfrm>
          <a:prstGeom prst="rect">
            <a:avLst/>
          </a:prstGeom>
        </p:spPr>
      </p:pic>
      <p:pic>
        <p:nvPicPr>
          <p:cNvPr id="25" name="Picture 24">
            <a:extLst>
              <a:ext uri="{FF2B5EF4-FFF2-40B4-BE49-F238E27FC236}">
                <a16:creationId xmlns:a16="http://schemas.microsoft.com/office/drawing/2014/main" id="{78594DAE-7AD8-71C2-2055-DBF394745031}"/>
              </a:ext>
            </a:extLst>
          </p:cNvPr>
          <p:cNvPicPr>
            <a:picLocks noChangeAspect="1"/>
          </p:cNvPicPr>
          <p:nvPr/>
        </p:nvPicPr>
        <p:blipFill>
          <a:blip r:embed="rId11"/>
          <a:stretch>
            <a:fillRect/>
          </a:stretch>
        </p:blipFill>
        <p:spPr>
          <a:xfrm>
            <a:off x="3233376" y="3904443"/>
            <a:ext cx="2120766" cy="1920035"/>
          </a:xfrm>
          <a:prstGeom prst="rect">
            <a:avLst/>
          </a:prstGeom>
        </p:spPr>
      </p:pic>
      <p:pic>
        <p:nvPicPr>
          <p:cNvPr id="26" name="Picture 25">
            <a:extLst>
              <a:ext uri="{FF2B5EF4-FFF2-40B4-BE49-F238E27FC236}">
                <a16:creationId xmlns:a16="http://schemas.microsoft.com/office/drawing/2014/main" id="{12933B05-5341-6B8E-579E-D57696CAFBC4}"/>
              </a:ext>
            </a:extLst>
          </p:cNvPr>
          <p:cNvPicPr>
            <a:picLocks noChangeAspect="1"/>
          </p:cNvPicPr>
          <p:nvPr/>
        </p:nvPicPr>
        <p:blipFill>
          <a:blip r:embed="rId12"/>
          <a:stretch>
            <a:fillRect/>
          </a:stretch>
        </p:blipFill>
        <p:spPr>
          <a:xfrm>
            <a:off x="5665704" y="3905276"/>
            <a:ext cx="2120766" cy="1918369"/>
          </a:xfrm>
          <a:prstGeom prst="rect">
            <a:avLst/>
          </a:prstGeom>
        </p:spPr>
      </p:pic>
      <p:sp>
        <p:nvSpPr>
          <p:cNvPr id="27" name="Text Placeholder 2">
            <a:extLst>
              <a:ext uri="{FF2B5EF4-FFF2-40B4-BE49-F238E27FC236}">
                <a16:creationId xmlns:a16="http://schemas.microsoft.com/office/drawing/2014/main" id="{E9B22717-932F-07D8-7B77-0916EF278E05}"/>
              </a:ext>
            </a:extLst>
          </p:cNvPr>
          <p:cNvSpPr txBox="1">
            <a:spLocks/>
          </p:cNvSpPr>
          <p:nvPr>
            <p:custDataLst>
              <p:tags r:id="rId2"/>
            </p:custDataLst>
          </p:nvPr>
        </p:nvSpPr>
        <p:spPr bwMode="auto">
          <a:xfrm>
            <a:off x="8193088" y="1814513"/>
            <a:ext cx="3213100" cy="4022725"/>
          </a:xfrm>
          <a:prstGeom prst="roundRect">
            <a:avLst>
              <a:gd name="adj" fmla="val 5583"/>
            </a:avLst>
          </a:prstGeom>
          <a:solidFill>
            <a:srgbClr val="BCD8FF"/>
          </a:solidFill>
          <a:ln w="9525" cmpd="sng">
            <a:noFill/>
          </a:ln>
          <a:effectLst/>
        </p:spPr>
        <p:txBody>
          <a:bodyPr vert="horz" wrap="square" lIns="150813" tIns="1154113" rIns="61913" bIns="115252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dirty="0"/>
              <a:t>$2.8T+ </a:t>
            </a:r>
          </a:p>
          <a:p>
            <a:pPr marL="0" indent="0">
              <a:buNone/>
            </a:pPr>
            <a:r>
              <a:rPr lang="en-US" dirty="0"/>
              <a:t>in federal spending allocated annually using census-derived formulas</a:t>
            </a:r>
            <a:r>
              <a:rPr lang="en-US" baseline="30000" dirty="0"/>
              <a:t>1</a:t>
            </a:r>
            <a:endParaRPr lang="en-US" dirty="0"/>
          </a:p>
          <a:p>
            <a:pPr marL="0" indent="0">
              <a:spcBef>
                <a:spcPct val="0"/>
              </a:spcBef>
              <a:spcAft>
                <a:spcPct val="0"/>
              </a:spcAft>
              <a:buNone/>
            </a:pPr>
            <a:endParaRPr lang="en-US" sz="1400" dirty="0">
              <a:cs typeface="+mn-cs"/>
            </a:endParaRPr>
          </a:p>
        </p:txBody>
      </p:sp>
      <p:sp>
        <p:nvSpPr>
          <p:cNvPr id="28" name="TextBox 27">
            <a:extLst>
              <a:ext uri="{FF2B5EF4-FFF2-40B4-BE49-F238E27FC236}">
                <a16:creationId xmlns:a16="http://schemas.microsoft.com/office/drawing/2014/main" id="{7A949656-B849-1ABB-CBC7-7F0FF0570DAA}"/>
              </a:ext>
            </a:extLst>
          </p:cNvPr>
          <p:cNvSpPr txBox="1"/>
          <p:nvPr/>
        </p:nvSpPr>
        <p:spPr>
          <a:xfrm>
            <a:off x="785622" y="6057121"/>
            <a:ext cx="3773790"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1. US Census Bureau press release CB23-102, June 14, 2023. </a:t>
            </a:r>
          </a:p>
        </p:txBody>
      </p:sp>
    </p:spTree>
    <p:extLst>
      <p:ext uri="{BB962C8B-B14F-4D97-AF65-F5344CB8AC3E}">
        <p14:creationId xmlns:p14="http://schemas.microsoft.com/office/powerpoint/2010/main" val="2750641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1F4F5-3D99-278D-589A-BF69FEC0699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82B6BA6-268A-A3B4-A7CE-F027935E7F29}"/>
              </a:ext>
            </a:extLst>
          </p:cNvPr>
          <p:cNvGraphicFramePr>
            <a:graphicFrameLocks/>
          </p:cNvGraphicFramePr>
          <p:nvPr>
            <p:custDataLst>
              <p:tags r:id="rId1"/>
            </p:custDataLst>
            <p:extLst>
              <p:ext uri="{D42A27DB-BD31-4B8C-83A1-F6EECF244321}">
                <p14:modId xmlns:p14="http://schemas.microsoft.com/office/powerpoint/2010/main" val="133268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3" name="think-cell data - do not delete" hidden="1">
                        <a:extLst>
                          <a:ext uri="{FF2B5EF4-FFF2-40B4-BE49-F238E27FC236}">
                            <a16:creationId xmlns:a16="http://schemas.microsoft.com/office/drawing/2014/main" id="{0A9C5B4D-1D0A-874E-9510-3465ED52150D}"/>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D7BBDDF-7091-988F-057D-CBF9667B86E0}"/>
              </a:ext>
            </a:extLst>
          </p:cNvPr>
          <p:cNvSpPr>
            <a:spLocks noGrp="1"/>
          </p:cNvSpPr>
          <p:nvPr>
            <p:ph type="title"/>
          </p:nvPr>
        </p:nvSpPr>
        <p:spPr>
          <a:xfrm>
            <a:off x="785622" y="365125"/>
            <a:ext cx="10620756" cy="1325563"/>
          </a:xfrm>
        </p:spPr>
        <p:txBody>
          <a:bodyPr vert="horz" rIns="91440">
            <a:normAutofit/>
          </a:bodyPr>
          <a:lstStyle/>
          <a:p>
            <a:r>
              <a:rPr lang="en-US" dirty="0"/>
              <a:t>… yet</a:t>
            </a:r>
            <a:r>
              <a:rPr lang="en-US" b="1" dirty="0"/>
              <a:t> population data is often not frequently collected or updated.</a:t>
            </a:r>
          </a:p>
        </p:txBody>
      </p:sp>
      <p:sp>
        <p:nvSpPr>
          <p:cNvPr id="4" name="Date Placeholder 3">
            <a:extLst>
              <a:ext uri="{FF2B5EF4-FFF2-40B4-BE49-F238E27FC236}">
                <a16:creationId xmlns:a16="http://schemas.microsoft.com/office/drawing/2014/main" id="{1442E6D1-4624-D5B4-69D9-CE7DB02E4221}"/>
              </a:ext>
            </a:extLst>
          </p:cNvPr>
          <p:cNvSpPr>
            <a:spLocks noGrp="1"/>
          </p:cNvSpPr>
          <p:nvPr>
            <p:ph type="dt" sz="half" idx="10"/>
          </p:nvPr>
        </p:nvSpPr>
        <p:spPr/>
        <p:txBody>
          <a:bodyPr/>
          <a:lstStyle/>
          <a:p>
            <a:fld id="{BC27EDE2-6E51-EE41-A436-6F979CE5A64B}" type="datetime4">
              <a:rPr lang="en-US" smtClean="0"/>
              <a:t>March 31, 2026</a:t>
            </a:fld>
            <a:endParaRPr lang="en-US" dirty="0"/>
          </a:p>
        </p:txBody>
      </p:sp>
      <p:sp>
        <p:nvSpPr>
          <p:cNvPr id="5" name="Footer Placeholder 4">
            <a:extLst>
              <a:ext uri="{FF2B5EF4-FFF2-40B4-BE49-F238E27FC236}">
                <a16:creationId xmlns:a16="http://schemas.microsoft.com/office/drawing/2014/main" id="{B123AACE-0D2A-8779-0BA9-EC5D8F083C15}"/>
              </a:ext>
            </a:extLst>
          </p:cNvPr>
          <p:cNvSpPr>
            <a:spLocks noGrp="1"/>
          </p:cNvSpPr>
          <p:nvPr>
            <p:ph type="ftr" sz="quarter" idx="11"/>
          </p:nvPr>
        </p:nvSpPr>
        <p:spPr/>
        <p:txBody>
          <a:bodyPr/>
          <a:lstStyle/>
          <a:p>
            <a:r>
              <a:rPr lang="en-US" dirty="0"/>
              <a:t>Jonathan Edwards College Paskus Mellon Forum </a:t>
            </a:r>
          </a:p>
        </p:txBody>
      </p:sp>
      <p:sp>
        <p:nvSpPr>
          <p:cNvPr id="6" name="Slide Number Placeholder 5">
            <a:extLst>
              <a:ext uri="{FF2B5EF4-FFF2-40B4-BE49-F238E27FC236}">
                <a16:creationId xmlns:a16="http://schemas.microsoft.com/office/drawing/2014/main" id="{69549485-5839-AFBB-2BBA-31BB8E520623}"/>
              </a:ext>
            </a:extLst>
          </p:cNvPr>
          <p:cNvSpPr>
            <a:spLocks noGrp="1"/>
          </p:cNvSpPr>
          <p:nvPr>
            <p:ph type="sldNum" sz="quarter" idx="12"/>
          </p:nvPr>
        </p:nvSpPr>
        <p:spPr/>
        <p:txBody>
          <a:bodyPr/>
          <a:lstStyle/>
          <a:p>
            <a:fld id="{7D3A6E6C-C5AB-5E45-8D34-7FB9A51EE2CA}" type="slidenum">
              <a:rPr lang="en-US" smtClean="0"/>
              <a:t>4</a:t>
            </a:fld>
            <a:endParaRPr lang="en-US" dirty="0"/>
          </a:p>
        </p:txBody>
      </p:sp>
      <p:sp>
        <p:nvSpPr>
          <p:cNvPr id="25" name="Text Placeholder 2">
            <a:extLst>
              <a:ext uri="{FF2B5EF4-FFF2-40B4-BE49-F238E27FC236}">
                <a16:creationId xmlns:a16="http://schemas.microsoft.com/office/drawing/2014/main" id="{D20B61E7-8169-1560-AECC-4CC55A561A40}"/>
              </a:ext>
            </a:extLst>
          </p:cNvPr>
          <p:cNvSpPr txBox="1">
            <a:spLocks/>
          </p:cNvSpPr>
          <p:nvPr>
            <p:custDataLst>
              <p:tags r:id="rId2"/>
            </p:custDataLst>
          </p:nvPr>
        </p:nvSpPr>
        <p:spPr bwMode="auto">
          <a:xfrm>
            <a:off x="838200" y="4362450"/>
            <a:ext cx="10247313" cy="1116013"/>
          </a:xfrm>
          <a:prstGeom prst="roundRect">
            <a:avLst>
              <a:gd name="adj" fmla="val 16074"/>
            </a:avLst>
          </a:prstGeom>
          <a:solidFill>
            <a:srgbClr val="BCD8FF"/>
          </a:solidFill>
          <a:ln w="9525" cmpd="sng">
            <a:noFill/>
          </a:ln>
          <a:effectLst/>
        </p:spPr>
        <p:txBody>
          <a:bodyPr vert="horz" wrap="none" lIns="34925" tIns="231775" rIns="0" bIns="2301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spcAft>
                <a:spcPct val="0"/>
              </a:spcAft>
              <a:buNone/>
            </a:pPr>
            <a:r>
              <a:rPr lang="en-US" sz="2400" dirty="0">
                <a:sym typeface="Wingdings" pitchFamily="2" charset="2"/>
              </a:rPr>
              <a:t>This means </a:t>
            </a:r>
            <a:r>
              <a:rPr lang="en-US" sz="2400" dirty="0"/>
              <a:t>researchers often rely on incomplete </a:t>
            </a:r>
            <a:r>
              <a:rPr lang="en-US" sz="2400" b="1" dirty="0"/>
              <a:t>data up to a decade old</a:t>
            </a:r>
            <a:endParaRPr lang="en-US" sz="2400" dirty="0"/>
          </a:p>
        </p:txBody>
      </p:sp>
      <p:sp>
        <p:nvSpPr>
          <p:cNvPr id="31" name="TextBox 30">
            <a:extLst>
              <a:ext uri="{FF2B5EF4-FFF2-40B4-BE49-F238E27FC236}">
                <a16:creationId xmlns:a16="http://schemas.microsoft.com/office/drawing/2014/main" id="{554AA1F5-664C-CD8C-FC0E-3A72CC6E0D77}"/>
              </a:ext>
            </a:extLst>
          </p:cNvPr>
          <p:cNvSpPr txBox="1"/>
          <p:nvPr/>
        </p:nvSpPr>
        <p:spPr>
          <a:xfrm>
            <a:off x="-638530" y="-1667867"/>
            <a:ext cx="11510395" cy="923330"/>
          </a:xfrm>
          <a:prstGeom prst="rect">
            <a:avLst/>
          </a:prstGeom>
          <a:solidFill>
            <a:srgbClr val="FFFF00"/>
          </a:solidFill>
        </p:spPr>
        <p:txBody>
          <a:bodyPr wrap="none" rtlCol="0">
            <a:spAutoFit/>
          </a:bodyPr>
          <a:lstStyle/>
          <a:p>
            <a:r>
              <a:rPr lang="en-US" dirty="0"/>
              <a:t>More questions </a:t>
            </a:r>
            <a:r>
              <a:rPr lang="en-US" dirty="0" err="1"/>
              <a:t>abt</a:t>
            </a:r>
            <a:r>
              <a:rPr lang="en-US" dirty="0"/>
              <a:t> how it applies to policy making?</a:t>
            </a:r>
          </a:p>
          <a:p>
            <a:pPr marL="285750" indent="-285750">
              <a:buFontTx/>
              <a:buChar char="-"/>
            </a:pPr>
            <a:r>
              <a:rPr lang="en-US" dirty="0"/>
              <a:t>Example of world cup in Mexico was good</a:t>
            </a:r>
          </a:p>
          <a:p>
            <a:pPr marL="285750" indent="-285750">
              <a:buFontTx/>
              <a:buChar char="-"/>
            </a:pPr>
            <a:r>
              <a:rPr lang="en-US" dirty="0"/>
              <a:t>More concrete examples of how it can be used and the larger socioeconomic implications of those applications </a:t>
            </a:r>
          </a:p>
        </p:txBody>
      </p:sp>
      <p:pic>
        <p:nvPicPr>
          <p:cNvPr id="1026" name="Picture 2" descr="Census Bureau Data and Maps">
            <a:extLst>
              <a:ext uri="{FF2B5EF4-FFF2-40B4-BE49-F238E27FC236}">
                <a16:creationId xmlns:a16="http://schemas.microsoft.com/office/drawing/2014/main" id="{CDA9B7D7-4098-0639-D932-BB4CC150C5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199" y="1981219"/>
            <a:ext cx="3418103" cy="17927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226365F-B043-2959-5821-66E0B45B5BC3}"/>
              </a:ext>
            </a:extLst>
          </p:cNvPr>
          <p:cNvSpPr txBox="1"/>
          <p:nvPr/>
        </p:nvSpPr>
        <p:spPr>
          <a:xfrm>
            <a:off x="4532243" y="1821753"/>
            <a:ext cx="6553558" cy="830997"/>
          </a:xfrm>
          <a:prstGeom prst="rect">
            <a:avLst/>
          </a:prstGeom>
          <a:noFill/>
        </p:spPr>
        <p:txBody>
          <a:bodyPr wrap="square" rtlCol="0">
            <a:spAutoFit/>
          </a:bodyPr>
          <a:lstStyle/>
          <a:p>
            <a:r>
              <a:rPr lang="en-US" sz="2400" u="sng" dirty="0">
                <a:latin typeface="Arial" panose="020B0604020202020204" pitchFamily="34" charset="0"/>
                <a:cs typeface="Arial" panose="020B0604020202020204" pitchFamily="34" charset="0"/>
              </a:rPr>
              <a:t>Latency problem</a:t>
            </a:r>
            <a:r>
              <a:rPr lang="en-US" sz="2400" dirty="0">
                <a:latin typeface="Arial" panose="020B0604020202020204" pitchFamily="34" charset="0"/>
                <a:cs typeface="Arial" panose="020B0604020202020204" pitchFamily="34" charset="0"/>
              </a:rPr>
              <a:t>: Robust census data only collected </a:t>
            </a:r>
            <a:r>
              <a:rPr lang="en-US" sz="2400" b="1" dirty="0">
                <a:latin typeface="Arial" panose="020B0604020202020204" pitchFamily="34" charset="0"/>
                <a:cs typeface="Arial" panose="020B0604020202020204" pitchFamily="34" charset="0"/>
              </a:rPr>
              <a:t>every 10 years</a:t>
            </a:r>
            <a:endParaRPr lang="en-US" sz="2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569DA3B-C1AF-8C77-8743-71706779ADD4}"/>
              </a:ext>
            </a:extLst>
          </p:cNvPr>
          <p:cNvSpPr txBox="1"/>
          <p:nvPr/>
        </p:nvSpPr>
        <p:spPr>
          <a:xfrm>
            <a:off x="4532243" y="2871590"/>
            <a:ext cx="6553558" cy="1200329"/>
          </a:xfrm>
          <a:prstGeom prst="rect">
            <a:avLst/>
          </a:prstGeom>
          <a:noFill/>
        </p:spPr>
        <p:txBody>
          <a:bodyPr wrap="square" rtlCol="0">
            <a:spAutoFit/>
          </a:bodyPr>
          <a:lstStyle/>
          <a:p>
            <a:pPr>
              <a:spcBef>
                <a:spcPct val="0"/>
              </a:spcBef>
              <a:spcAft>
                <a:spcPct val="0"/>
              </a:spcAft>
            </a:pPr>
            <a:r>
              <a:rPr lang="en-US" sz="2400" u="sng" dirty="0">
                <a:latin typeface="Arial" panose="020B0604020202020204" pitchFamily="34" charset="0"/>
                <a:cs typeface="Arial" panose="020B0604020202020204" pitchFamily="34" charset="0"/>
              </a:rPr>
              <a:t>Granularity problem</a:t>
            </a:r>
            <a:r>
              <a:rPr lang="en-US" sz="2400" dirty="0">
                <a:latin typeface="Arial" panose="020B0604020202020204" pitchFamily="34" charset="0"/>
                <a:cs typeface="Arial" panose="020B0604020202020204" pitchFamily="34" charset="0"/>
              </a:rPr>
              <a:t>: Between censuses, there is often </a:t>
            </a:r>
            <a:r>
              <a:rPr lang="en-US" sz="2400" b="1" dirty="0">
                <a:latin typeface="Arial" panose="020B0604020202020204" pitchFamily="34" charset="0"/>
                <a:cs typeface="Arial" panose="020B0604020202020204" pitchFamily="34" charset="0"/>
              </a:rPr>
              <a:t>no high-frequency full count </a:t>
            </a:r>
            <a:r>
              <a:rPr lang="en-US" sz="2400" dirty="0">
                <a:latin typeface="Arial" panose="020B0604020202020204" pitchFamily="34" charset="0"/>
                <a:cs typeface="Arial" panose="020B0604020202020204" pitchFamily="34" charset="0"/>
              </a:rPr>
              <a:t>at the neighborhood/block levels</a:t>
            </a:r>
          </a:p>
        </p:txBody>
      </p:sp>
    </p:spTree>
    <p:extLst>
      <p:ext uri="{BB962C8B-B14F-4D97-AF65-F5344CB8AC3E}">
        <p14:creationId xmlns:p14="http://schemas.microsoft.com/office/powerpoint/2010/main" val="1459756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BF97E99-CEBD-C7C3-B47C-5F9ABF36D0C1}"/>
              </a:ext>
            </a:extLst>
          </p:cNvPr>
          <p:cNvGraphicFramePr>
            <a:graphicFrameLocks/>
          </p:cNvGraphicFramePr>
          <p:nvPr>
            <p:custDataLst>
              <p:tags r:id="rId1"/>
            </p:custDataLst>
            <p:extLst>
              <p:ext uri="{D42A27DB-BD31-4B8C-83A1-F6EECF244321}">
                <p14:modId xmlns:p14="http://schemas.microsoft.com/office/powerpoint/2010/main" val="23075704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2F6DCCA-E60B-EF02-049C-685B1FCA8682}"/>
              </a:ext>
            </a:extLst>
          </p:cNvPr>
          <p:cNvSpPr>
            <a:spLocks noGrp="1"/>
          </p:cNvSpPr>
          <p:nvPr>
            <p:ph type="title"/>
          </p:nvPr>
        </p:nvSpPr>
        <p:spPr>
          <a:xfrm>
            <a:off x="838200" y="2610355"/>
            <a:ext cx="10515600" cy="2226688"/>
          </a:xfrm>
        </p:spPr>
        <p:txBody>
          <a:bodyPr vert="horz" rIns="91440">
            <a:normAutofit/>
          </a:bodyPr>
          <a:lstStyle/>
          <a:p>
            <a:r>
              <a:rPr lang="en-US" dirty="0">
                <a:cs typeface="Arial" panose="020B0604020202020204" pitchFamily="34" charset="0"/>
              </a:rPr>
              <a:t>Motivating question:</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r>
              <a:rPr lang="en-US" b="0" dirty="0">
                <a:latin typeface="Arial" panose="020B0604020202020204" pitchFamily="34" charset="0"/>
                <a:cs typeface="Arial" panose="020B0604020202020204" pitchFamily="34" charset="0"/>
              </a:rPr>
              <a:t>How can we address temporal sparsity and spatial granularity to make population data more accurate/usable?</a:t>
            </a:r>
          </a:p>
        </p:txBody>
      </p:sp>
      <p:sp>
        <p:nvSpPr>
          <p:cNvPr id="3" name="Date Placeholder 2">
            <a:extLst>
              <a:ext uri="{FF2B5EF4-FFF2-40B4-BE49-F238E27FC236}">
                <a16:creationId xmlns:a16="http://schemas.microsoft.com/office/drawing/2014/main" id="{07EFAE4B-A9D3-0044-7EDB-802FB02EFB18}"/>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62265E97-A1A0-7E07-F526-6DA13FAB0590}"/>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39A7D168-80A0-AFB0-6B34-D0FE307130D9}"/>
              </a:ext>
            </a:extLst>
          </p:cNvPr>
          <p:cNvSpPr>
            <a:spLocks noGrp="1"/>
          </p:cNvSpPr>
          <p:nvPr>
            <p:ph type="sldNum" sz="quarter" idx="12"/>
          </p:nvPr>
        </p:nvSpPr>
        <p:spPr/>
        <p:txBody>
          <a:bodyPr/>
          <a:lstStyle/>
          <a:p>
            <a:fld id="{7D3A6E6C-C5AB-5E45-8D34-7FB9A51EE2CA}" type="slidenum">
              <a:rPr lang="en-US" smtClean="0"/>
              <a:t>5</a:t>
            </a:fld>
            <a:endParaRPr lang="en-US"/>
          </a:p>
        </p:txBody>
      </p:sp>
    </p:spTree>
    <p:extLst>
      <p:ext uri="{BB962C8B-B14F-4D97-AF65-F5344CB8AC3E}">
        <p14:creationId xmlns:p14="http://schemas.microsoft.com/office/powerpoint/2010/main" val="4022008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259B0-9FDA-C271-24A8-F2766460A1E6}"/>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148CF-FAC4-8E3D-5B99-3990DCFD5146}"/>
              </a:ext>
            </a:extLst>
          </p:cNvPr>
          <p:cNvGraphicFramePr>
            <a:graphicFrameLocks/>
          </p:cNvGraphicFramePr>
          <p:nvPr>
            <p:custDataLst>
              <p:tags r:id="rId1"/>
            </p:custDataLst>
            <p:extLst>
              <p:ext uri="{D42A27DB-BD31-4B8C-83A1-F6EECF244321}">
                <p14:modId xmlns:p14="http://schemas.microsoft.com/office/powerpoint/2010/main" val="26473063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7" name="think-cell data - do not delete" hidden="1">
                        <a:extLst>
                          <a:ext uri="{FF2B5EF4-FFF2-40B4-BE49-F238E27FC236}">
                            <a16:creationId xmlns:a16="http://schemas.microsoft.com/office/drawing/2014/main" id="{6AA97586-B581-33BA-DF75-23204DED7985}"/>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8" name="Text Placeholder 2">
            <a:hlinkClick r:id="rId9" action="ppaction://hlinksldjump"/>
            <a:extLst>
              <a:ext uri="{FF2B5EF4-FFF2-40B4-BE49-F238E27FC236}">
                <a16:creationId xmlns:a16="http://schemas.microsoft.com/office/drawing/2014/main" id="{72543D4F-57C5-0288-6FD3-965460ED3217}"/>
              </a:ext>
            </a:extLst>
          </p:cNvPr>
          <p:cNvSpPr txBox="1">
            <a:spLocks/>
          </p:cNvSpPr>
          <p:nvPr>
            <p:custDataLst>
              <p:tags r:id="rId2"/>
            </p:custDataLst>
          </p:nvPr>
        </p:nvSpPr>
        <p:spPr bwMode="auto">
          <a:xfrm>
            <a:off x="5172075" y="2568575"/>
            <a:ext cx="1847850" cy="430213"/>
          </a:xfrm>
          <a:prstGeom prst="rect">
            <a:avLst/>
          </a:prstGeom>
          <a:solidFill>
            <a:schemeClr val="bg2"/>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Motivation</a:t>
            </a:r>
            <a:endParaRPr lang="en-US" dirty="0">
              <a:cs typeface="+mn-cs"/>
            </a:endParaRPr>
          </a:p>
        </p:txBody>
      </p:sp>
      <p:sp>
        <p:nvSpPr>
          <p:cNvPr id="13" name="Text Placeholder 2">
            <a:extLst>
              <a:ext uri="{FF2B5EF4-FFF2-40B4-BE49-F238E27FC236}">
                <a16:creationId xmlns:a16="http://schemas.microsoft.com/office/drawing/2014/main" id="{E177BA0B-3E02-FC1B-8995-13A0C5C00486}"/>
              </a:ext>
            </a:extLst>
          </p:cNvPr>
          <p:cNvSpPr txBox="1">
            <a:spLocks/>
          </p:cNvSpPr>
          <p:nvPr>
            <p:custDataLst>
              <p:tags r:id="rId3"/>
            </p:custDataLst>
          </p:nvPr>
        </p:nvSpPr>
        <p:spPr bwMode="auto">
          <a:xfrm>
            <a:off x="5172075" y="2998788"/>
            <a:ext cx="1847850" cy="430213"/>
          </a:xfrm>
          <a:prstGeom prst="rect">
            <a:avLst/>
          </a:prstGeom>
          <a:solidFill>
            <a:schemeClr val="accent6"/>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b="1">
                <a:effectLst/>
                <a:cs typeface="+mn-cs"/>
              </a:rPr>
              <a:t>Intervention</a:t>
            </a:r>
            <a:endParaRPr lang="en-US" b="1" dirty="0">
              <a:cs typeface="+mn-cs"/>
            </a:endParaRPr>
          </a:p>
        </p:txBody>
      </p:sp>
      <p:sp>
        <p:nvSpPr>
          <p:cNvPr id="12" name="Text Placeholder 2">
            <a:hlinkClick r:id="rId10" action="ppaction://hlinksldjump"/>
            <a:extLst>
              <a:ext uri="{FF2B5EF4-FFF2-40B4-BE49-F238E27FC236}">
                <a16:creationId xmlns:a16="http://schemas.microsoft.com/office/drawing/2014/main" id="{E40D0CAB-58F2-EBD7-1E6E-DB047CD0E199}"/>
              </a:ext>
            </a:extLst>
          </p:cNvPr>
          <p:cNvSpPr txBox="1">
            <a:spLocks/>
          </p:cNvSpPr>
          <p:nvPr>
            <p:custDataLst>
              <p:tags r:id="rId4"/>
            </p:custDataLst>
          </p:nvPr>
        </p:nvSpPr>
        <p:spPr bwMode="auto">
          <a:xfrm>
            <a:off x="5172075" y="3429000"/>
            <a:ext cx="1847850" cy="430213"/>
          </a:xfrm>
          <a:prstGeom prst="rect">
            <a:avLst/>
          </a:prstGeom>
          <a:solidFill>
            <a:schemeClr val="bg2"/>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Methodology</a:t>
            </a:r>
            <a:endParaRPr lang="en-US" dirty="0">
              <a:cs typeface="+mn-cs"/>
            </a:endParaRPr>
          </a:p>
        </p:txBody>
      </p:sp>
      <p:sp>
        <p:nvSpPr>
          <p:cNvPr id="11" name="Text Placeholder 2">
            <a:hlinkClick r:id="rId11" action="ppaction://hlinksldjump"/>
            <a:extLst>
              <a:ext uri="{FF2B5EF4-FFF2-40B4-BE49-F238E27FC236}">
                <a16:creationId xmlns:a16="http://schemas.microsoft.com/office/drawing/2014/main" id="{40209A5F-50FD-5006-816D-4D5D58BA0573}"/>
              </a:ext>
            </a:extLst>
          </p:cNvPr>
          <p:cNvSpPr txBox="1">
            <a:spLocks/>
          </p:cNvSpPr>
          <p:nvPr>
            <p:custDataLst>
              <p:tags r:id="rId5"/>
            </p:custDataLst>
          </p:nvPr>
        </p:nvSpPr>
        <p:spPr bwMode="auto">
          <a:xfrm>
            <a:off x="5172075" y="3859213"/>
            <a:ext cx="1847850" cy="430213"/>
          </a:xfrm>
          <a:prstGeom prst="rect">
            <a:avLst/>
          </a:prstGeom>
          <a:solidFill>
            <a:schemeClr val="bg2"/>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Results</a:t>
            </a:r>
            <a:endParaRPr lang="en-US" dirty="0">
              <a:cs typeface="+mn-cs"/>
            </a:endParaRPr>
          </a:p>
        </p:txBody>
      </p:sp>
      <p:sp>
        <p:nvSpPr>
          <p:cNvPr id="2" name="Title 1">
            <a:extLst>
              <a:ext uri="{FF2B5EF4-FFF2-40B4-BE49-F238E27FC236}">
                <a16:creationId xmlns:a16="http://schemas.microsoft.com/office/drawing/2014/main" id="{835031B9-8B10-6D03-037A-5DEEB5EFEB02}"/>
              </a:ext>
            </a:extLst>
          </p:cNvPr>
          <p:cNvSpPr>
            <a:spLocks noGrp="1"/>
          </p:cNvSpPr>
          <p:nvPr>
            <p:ph type="title"/>
          </p:nvPr>
        </p:nvSpPr>
        <p:spPr/>
        <p:txBody>
          <a:bodyPr vert="horz" rIns="91440"/>
          <a:lstStyle/>
          <a:p>
            <a:fld id="{449B17F5-B4D5-40AC-B3C6-47A90E38688C}" type="datetime'Agenda'">
              <a:rPr lang="en-US" altLang="en-US" smtClean="0">
                <a:effectLst/>
              </a:rPr>
              <a:pPr/>
              <a:t>Agenda</a:t>
            </a:fld>
            <a:endParaRPr lang="en-US"/>
          </a:p>
        </p:txBody>
      </p:sp>
      <p:sp>
        <p:nvSpPr>
          <p:cNvPr id="3" name="Date Placeholder 2">
            <a:extLst>
              <a:ext uri="{FF2B5EF4-FFF2-40B4-BE49-F238E27FC236}">
                <a16:creationId xmlns:a16="http://schemas.microsoft.com/office/drawing/2014/main" id="{54D92332-4949-E2E7-E8F3-0DBA1A3028B5}"/>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AB635985-0542-52EE-C803-4757C29EAFE0}"/>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41203F48-7E3C-6012-85EB-4980D0324D33}"/>
              </a:ext>
            </a:extLst>
          </p:cNvPr>
          <p:cNvSpPr>
            <a:spLocks noGrp="1"/>
          </p:cNvSpPr>
          <p:nvPr>
            <p:ph type="sldNum" sz="quarter" idx="12"/>
          </p:nvPr>
        </p:nvSpPr>
        <p:spPr/>
        <p:txBody>
          <a:bodyPr/>
          <a:lstStyle/>
          <a:p>
            <a:fld id="{7D3A6E6C-C5AB-5E45-8D34-7FB9A51EE2CA}" type="slidenum">
              <a:rPr lang="en-US" smtClean="0"/>
              <a:t>6</a:t>
            </a:fld>
            <a:endParaRPr lang="en-US"/>
          </a:p>
        </p:txBody>
      </p:sp>
    </p:spTree>
    <p:extLst>
      <p:ext uri="{BB962C8B-B14F-4D97-AF65-F5344CB8AC3E}">
        <p14:creationId xmlns:p14="http://schemas.microsoft.com/office/powerpoint/2010/main" val="458354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D4C3B-8C26-B364-2BF5-E96E21C0BC3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4413DCF-5CF2-EF0E-5BF3-803B6C5BCD15}"/>
              </a:ext>
            </a:extLst>
          </p:cNvPr>
          <p:cNvGraphicFramePr>
            <a:graphicFrameLocks/>
          </p:cNvGraphicFramePr>
          <p:nvPr>
            <p:custDataLst>
              <p:tags r:id="rId1"/>
            </p:custDataLst>
            <p:extLst>
              <p:ext uri="{D42A27DB-BD31-4B8C-83A1-F6EECF244321}">
                <p14:modId xmlns:p14="http://schemas.microsoft.com/office/powerpoint/2010/main" val="18523142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id="{1ACFB8B2-7CA8-C6E6-EF8B-01F94A0C18C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CB1C606-68CD-E62C-FD15-1B75DA8C24B4}"/>
              </a:ext>
            </a:extLst>
          </p:cNvPr>
          <p:cNvSpPr>
            <a:spLocks noGrp="1"/>
          </p:cNvSpPr>
          <p:nvPr>
            <p:ph type="title"/>
          </p:nvPr>
        </p:nvSpPr>
        <p:spPr/>
        <p:txBody>
          <a:bodyPr vert="horz" rIns="91440"/>
          <a:lstStyle/>
          <a:p>
            <a:r>
              <a:rPr lang="en-US" dirty="0"/>
              <a:t>Satellite imagery can solve both problems</a:t>
            </a:r>
          </a:p>
        </p:txBody>
      </p:sp>
      <p:sp>
        <p:nvSpPr>
          <p:cNvPr id="3" name="Date Placeholder 2">
            <a:extLst>
              <a:ext uri="{FF2B5EF4-FFF2-40B4-BE49-F238E27FC236}">
                <a16:creationId xmlns:a16="http://schemas.microsoft.com/office/drawing/2014/main" id="{6D242883-E1F7-2A08-FD9C-882D01BE379A}"/>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4EC616C5-6B22-AA13-738E-642AE00174F1}"/>
              </a:ext>
            </a:extLst>
          </p:cNvPr>
          <p:cNvSpPr>
            <a:spLocks noGrp="1"/>
          </p:cNvSpPr>
          <p:nvPr>
            <p:ph type="ftr" sz="quarter" idx="11"/>
          </p:nvPr>
        </p:nvSpPr>
        <p:spPr/>
        <p:txBody>
          <a:bodyPr/>
          <a:lstStyle/>
          <a:p>
            <a:r>
              <a:rPr lang="en-US" dirty="0"/>
              <a:t>Jonathan Edwards College Paskus Mellon Forum </a:t>
            </a:r>
          </a:p>
        </p:txBody>
      </p:sp>
      <p:sp>
        <p:nvSpPr>
          <p:cNvPr id="5" name="Slide Number Placeholder 4">
            <a:extLst>
              <a:ext uri="{FF2B5EF4-FFF2-40B4-BE49-F238E27FC236}">
                <a16:creationId xmlns:a16="http://schemas.microsoft.com/office/drawing/2014/main" id="{051A6434-65D3-C2BF-A181-E5313DD58764}"/>
              </a:ext>
            </a:extLst>
          </p:cNvPr>
          <p:cNvSpPr>
            <a:spLocks noGrp="1"/>
          </p:cNvSpPr>
          <p:nvPr>
            <p:ph type="sldNum" sz="quarter" idx="12"/>
          </p:nvPr>
        </p:nvSpPr>
        <p:spPr/>
        <p:txBody>
          <a:bodyPr/>
          <a:lstStyle/>
          <a:p>
            <a:fld id="{7D3A6E6C-C5AB-5E45-8D34-7FB9A51EE2CA}" type="slidenum">
              <a:rPr lang="en-US" smtClean="0"/>
              <a:t>7</a:t>
            </a:fld>
            <a:endParaRPr lang="en-US"/>
          </a:p>
        </p:txBody>
      </p:sp>
      <p:pic>
        <p:nvPicPr>
          <p:cNvPr id="2050" name="Picture 2" descr="Sentinel-2 | Copernicus Data Space Ecosystem">
            <a:extLst>
              <a:ext uri="{FF2B5EF4-FFF2-40B4-BE49-F238E27FC236}">
                <a16:creationId xmlns:a16="http://schemas.microsoft.com/office/drawing/2014/main" id="{A79F4546-A818-F5A0-C550-E844863B50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3528" y="2244336"/>
            <a:ext cx="4978857" cy="260547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44B9C746-1CED-F9FC-436F-9481CF819F16}"/>
              </a:ext>
            </a:extLst>
          </p:cNvPr>
          <p:cNvSpPr txBox="1"/>
          <p:nvPr/>
        </p:nvSpPr>
        <p:spPr>
          <a:xfrm>
            <a:off x="1862391" y="1979996"/>
            <a:ext cx="2747868"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Sentinel-2 satellite (launched in 2015)</a:t>
            </a:r>
          </a:p>
        </p:txBody>
      </p:sp>
      <p:sp>
        <p:nvSpPr>
          <p:cNvPr id="8" name="TextBox 7">
            <a:extLst>
              <a:ext uri="{FF2B5EF4-FFF2-40B4-BE49-F238E27FC236}">
                <a16:creationId xmlns:a16="http://schemas.microsoft.com/office/drawing/2014/main" id="{DA8B6593-C84E-41EF-4BBB-0A38C7FFE542}"/>
              </a:ext>
            </a:extLst>
          </p:cNvPr>
          <p:cNvSpPr txBox="1"/>
          <p:nvPr/>
        </p:nvSpPr>
        <p:spPr>
          <a:xfrm>
            <a:off x="838200" y="1330632"/>
            <a:ext cx="971967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It’s </a:t>
            </a:r>
            <a:r>
              <a:rPr lang="en-US" b="1" dirty="0">
                <a:latin typeface="Arial" panose="020B0604020202020204" pitchFamily="34" charset="0"/>
                <a:cs typeface="Arial" panose="020B0604020202020204" pitchFamily="34" charset="0"/>
              </a:rPr>
              <a:t>global</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continuously updated</a:t>
            </a:r>
            <a:r>
              <a:rPr lang="en-US" dirty="0">
                <a:latin typeface="Arial" panose="020B0604020202020204" pitchFamily="34" charset="0"/>
                <a:cs typeface="Arial" panose="020B0604020202020204" pitchFamily="34" charset="0"/>
              </a:rPr>
              <a:t>, and available at </a:t>
            </a:r>
            <a:r>
              <a:rPr lang="en-US" b="1" dirty="0">
                <a:latin typeface="Arial" panose="020B0604020202020204" pitchFamily="34" charset="0"/>
                <a:cs typeface="Arial" panose="020B0604020202020204" pitchFamily="34" charset="0"/>
              </a:rPr>
              <a:t>fine resolutions</a:t>
            </a:r>
          </a:p>
        </p:txBody>
      </p:sp>
      <p:grpSp>
        <p:nvGrpSpPr>
          <p:cNvPr id="13" name="Group 12">
            <a:extLst>
              <a:ext uri="{FF2B5EF4-FFF2-40B4-BE49-F238E27FC236}">
                <a16:creationId xmlns:a16="http://schemas.microsoft.com/office/drawing/2014/main" id="{5B735BF7-8C9A-764D-7111-B160F302D17F}"/>
              </a:ext>
            </a:extLst>
          </p:cNvPr>
          <p:cNvGrpSpPr/>
          <p:nvPr/>
        </p:nvGrpSpPr>
        <p:grpSpPr>
          <a:xfrm>
            <a:off x="6096000" y="3148765"/>
            <a:ext cx="552450" cy="552450"/>
            <a:chOff x="180975" y="180975"/>
            <a:chExt cx="552450" cy="552450"/>
          </a:xfrm>
          <a:solidFill>
            <a:schemeClr val="accent1"/>
          </a:solidFill>
        </p:grpSpPr>
        <p:sp>
          <p:nvSpPr>
            <p:cNvPr id="14" name="Free-form: Shape 5">
              <a:extLst>
                <a:ext uri="{FF2B5EF4-FFF2-40B4-BE49-F238E27FC236}">
                  <a16:creationId xmlns:a16="http://schemas.microsoft.com/office/drawing/2014/main" id="{6136C291-3B14-2792-A27B-E70E5DCE4F1D}"/>
                </a:ext>
              </a:extLst>
            </p:cNvPr>
            <p:cNvSpPr/>
            <p:nvPr/>
          </p:nvSpPr>
          <p:spPr>
            <a:xfrm>
              <a:off x="180975" y="180975"/>
              <a:ext cx="552450" cy="552450"/>
            </a:xfrm>
            <a:custGeom>
              <a:avLst/>
              <a:gdLst>
                <a:gd name="connsiteX0" fmla="*/ 552450 w 552450"/>
                <a:gd name="connsiteY0" fmla="*/ 276225 h 552450"/>
                <a:gd name="connsiteX1" fmla="*/ 276225 w 552450"/>
                <a:gd name="connsiteY1" fmla="*/ 552450 h 552450"/>
                <a:gd name="connsiteX2" fmla="*/ 0 w 552450"/>
                <a:gd name="connsiteY2" fmla="*/ 276225 h 552450"/>
                <a:gd name="connsiteX3" fmla="*/ 276225 w 552450"/>
                <a:gd name="connsiteY3" fmla="*/ 0 h 552450"/>
                <a:gd name="connsiteX4" fmla="*/ 552450 w 552450"/>
                <a:gd name="connsiteY4" fmla="*/ 276225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552450" y="276225"/>
                  </a:moveTo>
                  <a:cubicBezTo>
                    <a:pt x="552450" y="428780"/>
                    <a:pt x="428780" y="552450"/>
                    <a:pt x="276225" y="552450"/>
                  </a:cubicBezTo>
                  <a:cubicBezTo>
                    <a:pt x="123670" y="552450"/>
                    <a:pt x="0" y="428780"/>
                    <a:pt x="0" y="276225"/>
                  </a:cubicBezTo>
                  <a:cubicBezTo>
                    <a:pt x="0" y="123670"/>
                    <a:pt x="123670" y="0"/>
                    <a:pt x="276225" y="0"/>
                  </a:cubicBezTo>
                  <a:cubicBezTo>
                    <a:pt x="428780" y="0"/>
                    <a:pt x="552450" y="123670"/>
                    <a:pt x="552450" y="276225"/>
                  </a:cubicBezTo>
                  <a:close/>
                </a:path>
              </a:pathLst>
            </a:custGeom>
            <a:solidFill>
              <a:schemeClr val="tx1">
                <a:lumMod val="50000"/>
                <a:lumOff val="50000"/>
              </a:schemeClr>
            </a:solidFill>
            <a:ln w="9525" cap="flat">
              <a:solidFill>
                <a:schemeClr val="bg1"/>
              </a:solidFill>
              <a:prstDash val="solid"/>
              <a:miter/>
            </a:ln>
          </p:spPr>
          <p:txBody>
            <a:bodyPr rtlCol="0" anchor="ctr"/>
            <a:lstStyle/>
            <a:p>
              <a:endParaRPr lang="en-US">
                <a:solidFill>
                  <a:schemeClr val="bg1"/>
                </a:solidFill>
              </a:endParaRPr>
            </a:p>
          </p:txBody>
        </p:sp>
        <p:sp>
          <p:nvSpPr>
            <p:cNvPr id="15" name="Free-form: Shape 7">
              <a:extLst>
                <a:ext uri="{FF2B5EF4-FFF2-40B4-BE49-F238E27FC236}">
                  <a16:creationId xmlns:a16="http://schemas.microsoft.com/office/drawing/2014/main" id="{E93BF004-2BE5-302F-3F5C-425B2B9FDAAA}"/>
                </a:ext>
              </a:extLst>
            </p:cNvPr>
            <p:cNvSpPr/>
            <p:nvPr/>
          </p:nvSpPr>
          <p:spPr>
            <a:xfrm>
              <a:off x="278764" y="282283"/>
              <a:ext cx="356873" cy="349834"/>
            </a:xfrm>
            <a:custGeom>
              <a:avLst/>
              <a:gdLst>
                <a:gd name="connsiteX0" fmla="*/ 234467 w 356873"/>
                <a:gd name="connsiteY0" fmla="*/ 139284 h 349834"/>
                <a:gd name="connsiteX1" fmla="*/ 27222 w 356873"/>
                <a:gd name="connsiteY1" fmla="*/ 139284 h 349834"/>
                <a:gd name="connsiteX2" fmla="*/ 7963 w 356873"/>
                <a:gd name="connsiteY2" fmla="*/ 147104 h 349834"/>
                <a:gd name="connsiteX3" fmla="*/ 0 w 356873"/>
                <a:gd name="connsiteY3" fmla="*/ 166040 h 349834"/>
                <a:gd name="connsiteX4" fmla="*/ 0 w 356873"/>
                <a:gd name="connsiteY4" fmla="*/ 183794 h 349834"/>
                <a:gd name="connsiteX5" fmla="*/ 7963 w 356873"/>
                <a:gd name="connsiteY5" fmla="*/ 202730 h 349834"/>
                <a:gd name="connsiteX6" fmla="*/ 27222 w 356873"/>
                <a:gd name="connsiteY6" fmla="*/ 210560 h 349834"/>
                <a:gd name="connsiteX7" fmla="*/ 234467 w 356873"/>
                <a:gd name="connsiteY7" fmla="*/ 210560 h 349834"/>
                <a:gd name="connsiteX8" fmla="*/ 148428 w 356873"/>
                <a:gd name="connsiteY8" fmla="*/ 290713 h 349834"/>
                <a:gd name="connsiteX9" fmla="*/ 140465 w 356873"/>
                <a:gd name="connsiteY9" fmla="*/ 310229 h 349834"/>
                <a:gd name="connsiteX10" fmla="*/ 148428 w 356873"/>
                <a:gd name="connsiteY10" fmla="*/ 329736 h 349834"/>
                <a:gd name="connsiteX11" fmla="*/ 160906 w 356873"/>
                <a:gd name="connsiteY11" fmla="*/ 342005 h 349834"/>
                <a:gd name="connsiteX12" fmla="*/ 180156 w 356873"/>
                <a:gd name="connsiteY12" fmla="*/ 349834 h 349834"/>
                <a:gd name="connsiteX13" fmla="*/ 199415 w 356873"/>
                <a:gd name="connsiteY13" fmla="*/ 342005 h 349834"/>
                <a:gd name="connsiteX14" fmla="*/ 348910 w 356873"/>
                <a:gd name="connsiteY14" fmla="*/ 193843 h 349834"/>
                <a:gd name="connsiteX15" fmla="*/ 356873 w 356873"/>
                <a:gd name="connsiteY15" fmla="*/ 174917 h 349834"/>
                <a:gd name="connsiteX16" fmla="*/ 348910 w 356873"/>
                <a:gd name="connsiteY16" fmla="*/ 155991 h 349834"/>
                <a:gd name="connsiteX17" fmla="*/ 199415 w 356873"/>
                <a:gd name="connsiteY17" fmla="*/ 7830 h 349834"/>
                <a:gd name="connsiteX18" fmla="*/ 180156 w 356873"/>
                <a:gd name="connsiteY18" fmla="*/ 0 h 349834"/>
                <a:gd name="connsiteX19" fmla="*/ 160906 w 356873"/>
                <a:gd name="connsiteY19" fmla="*/ 7830 h 349834"/>
                <a:gd name="connsiteX20" fmla="*/ 148428 w 356873"/>
                <a:gd name="connsiteY20" fmla="*/ 20098 h 349834"/>
                <a:gd name="connsiteX21" fmla="*/ 140465 w 356873"/>
                <a:gd name="connsiteY21" fmla="*/ 39605 h 349834"/>
                <a:gd name="connsiteX22" fmla="*/ 148428 w 356873"/>
                <a:gd name="connsiteY22" fmla="*/ 59007 h 349834"/>
                <a:gd name="connsiteX23" fmla="*/ 234467 w 356873"/>
                <a:gd name="connsiteY23" fmla="*/ 139284 h 34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6873" h="349834">
                  <a:moveTo>
                    <a:pt x="234467" y="139284"/>
                  </a:moveTo>
                  <a:lnTo>
                    <a:pt x="27222" y="139284"/>
                  </a:lnTo>
                  <a:cubicBezTo>
                    <a:pt x="19612" y="139284"/>
                    <a:pt x="13192" y="141846"/>
                    <a:pt x="7963" y="147104"/>
                  </a:cubicBezTo>
                  <a:cubicBezTo>
                    <a:pt x="2619" y="152248"/>
                    <a:pt x="0" y="158563"/>
                    <a:pt x="0" y="166040"/>
                  </a:cubicBezTo>
                  <a:lnTo>
                    <a:pt x="0" y="183794"/>
                  </a:lnTo>
                  <a:cubicBezTo>
                    <a:pt x="0" y="191272"/>
                    <a:pt x="2619" y="197587"/>
                    <a:pt x="7963" y="202730"/>
                  </a:cubicBezTo>
                  <a:cubicBezTo>
                    <a:pt x="13192" y="207988"/>
                    <a:pt x="19612" y="210560"/>
                    <a:pt x="27222" y="210560"/>
                  </a:cubicBezTo>
                  <a:lnTo>
                    <a:pt x="234467" y="210560"/>
                  </a:lnTo>
                  <a:lnTo>
                    <a:pt x="148428" y="290713"/>
                  </a:lnTo>
                  <a:cubicBezTo>
                    <a:pt x="143085" y="295970"/>
                    <a:pt x="140465" y="302400"/>
                    <a:pt x="140465" y="310229"/>
                  </a:cubicBezTo>
                  <a:cubicBezTo>
                    <a:pt x="140465" y="318059"/>
                    <a:pt x="143085" y="324479"/>
                    <a:pt x="148428" y="329736"/>
                  </a:cubicBezTo>
                  <a:lnTo>
                    <a:pt x="160906" y="342005"/>
                  </a:lnTo>
                  <a:cubicBezTo>
                    <a:pt x="166135" y="347148"/>
                    <a:pt x="172555" y="349834"/>
                    <a:pt x="180156" y="349834"/>
                  </a:cubicBezTo>
                  <a:cubicBezTo>
                    <a:pt x="187643" y="349720"/>
                    <a:pt x="194062" y="347148"/>
                    <a:pt x="199415" y="342005"/>
                  </a:cubicBezTo>
                  <a:cubicBezTo>
                    <a:pt x="348910" y="193843"/>
                    <a:pt x="348910" y="193843"/>
                    <a:pt x="348910" y="193843"/>
                  </a:cubicBezTo>
                  <a:cubicBezTo>
                    <a:pt x="354254" y="188585"/>
                    <a:pt x="356873" y="182280"/>
                    <a:pt x="356873" y="174917"/>
                  </a:cubicBezTo>
                  <a:cubicBezTo>
                    <a:pt x="356873" y="167440"/>
                    <a:pt x="354254" y="161134"/>
                    <a:pt x="348910" y="155991"/>
                  </a:cubicBezTo>
                  <a:cubicBezTo>
                    <a:pt x="199415" y="7830"/>
                    <a:pt x="199415" y="7830"/>
                    <a:pt x="199415" y="7830"/>
                  </a:cubicBezTo>
                  <a:cubicBezTo>
                    <a:pt x="194062" y="2572"/>
                    <a:pt x="187643" y="0"/>
                    <a:pt x="180156" y="0"/>
                  </a:cubicBezTo>
                  <a:cubicBezTo>
                    <a:pt x="172555" y="0"/>
                    <a:pt x="166135" y="2572"/>
                    <a:pt x="160906" y="7830"/>
                  </a:cubicBezTo>
                  <a:lnTo>
                    <a:pt x="148428" y="20098"/>
                  </a:lnTo>
                  <a:cubicBezTo>
                    <a:pt x="143085" y="25241"/>
                    <a:pt x="140465" y="31785"/>
                    <a:pt x="140465" y="39605"/>
                  </a:cubicBezTo>
                  <a:cubicBezTo>
                    <a:pt x="140465" y="47320"/>
                    <a:pt x="143085" y="53864"/>
                    <a:pt x="148428" y="59007"/>
                  </a:cubicBezTo>
                  <a:lnTo>
                    <a:pt x="234467" y="139284"/>
                  </a:lnTo>
                  <a:close/>
                </a:path>
              </a:pathLst>
            </a:custGeom>
            <a:solidFill>
              <a:schemeClr val="bg1"/>
            </a:solidFill>
            <a:ln w="9525" cap="flat">
              <a:solidFill>
                <a:schemeClr val="bg1"/>
              </a:solidFill>
              <a:prstDash val="solid"/>
              <a:miter/>
            </a:ln>
          </p:spPr>
          <p:txBody>
            <a:bodyPr rtlCol="0" anchor="ctr"/>
            <a:lstStyle/>
            <a:p>
              <a:endParaRPr lang="en-US">
                <a:solidFill>
                  <a:schemeClr val="bg1"/>
                </a:solidFill>
              </a:endParaRPr>
            </a:p>
          </p:txBody>
        </p:sp>
      </p:grpSp>
      <p:sp>
        <p:nvSpPr>
          <p:cNvPr id="16" name="Oval 15">
            <a:extLst>
              <a:ext uri="{FF2B5EF4-FFF2-40B4-BE49-F238E27FC236}">
                <a16:creationId xmlns:a16="http://schemas.microsoft.com/office/drawing/2014/main" id="{BFC66670-4FCF-28CE-53A8-440BCACEEEB4}"/>
              </a:ext>
            </a:extLst>
          </p:cNvPr>
          <p:cNvSpPr/>
          <p:nvPr/>
        </p:nvSpPr>
        <p:spPr>
          <a:xfrm>
            <a:off x="1905362" y="3148765"/>
            <a:ext cx="1676038" cy="9957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4CE45D4F-9D5B-E893-62A7-571C1C5FD869}"/>
              </a:ext>
            </a:extLst>
          </p:cNvPr>
          <p:cNvCxnSpPr>
            <a:cxnSpLocks/>
          </p:cNvCxnSpPr>
          <p:nvPr/>
        </p:nvCxnSpPr>
        <p:spPr>
          <a:xfrm flipV="1">
            <a:off x="2209800" y="4275117"/>
            <a:ext cx="343395" cy="926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FEE2DEAF-C638-1DC0-9E28-BECD597F8912}"/>
              </a:ext>
            </a:extLst>
          </p:cNvPr>
          <p:cNvSpPr txBox="1"/>
          <p:nvPr/>
        </p:nvSpPr>
        <p:spPr>
          <a:xfrm>
            <a:off x="838200" y="5179014"/>
            <a:ext cx="4371829"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camera + sensors capture high resolution photos and infrared, radar, thermal, multispectral signals of Earth</a:t>
            </a:r>
          </a:p>
        </p:txBody>
      </p:sp>
      <p:pic>
        <p:nvPicPr>
          <p:cNvPr id="28" name="Picture 27">
            <a:extLst>
              <a:ext uri="{FF2B5EF4-FFF2-40B4-BE49-F238E27FC236}">
                <a16:creationId xmlns:a16="http://schemas.microsoft.com/office/drawing/2014/main" id="{1B3D89FB-D915-1B6D-29BB-933F4545D7F3}"/>
              </a:ext>
            </a:extLst>
          </p:cNvPr>
          <p:cNvPicPr>
            <a:picLocks noChangeAspect="1"/>
          </p:cNvPicPr>
          <p:nvPr/>
        </p:nvPicPr>
        <p:blipFill>
          <a:blip r:embed="rId7"/>
          <a:stretch>
            <a:fillRect/>
          </a:stretch>
        </p:blipFill>
        <p:spPr>
          <a:xfrm>
            <a:off x="6981973" y="2461780"/>
            <a:ext cx="4607356" cy="3338533"/>
          </a:xfrm>
          <a:prstGeom prst="rect">
            <a:avLst/>
          </a:prstGeom>
        </p:spPr>
      </p:pic>
      <p:sp>
        <p:nvSpPr>
          <p:cNvPr id="29" name="TextBox 28">
            <a:extLst>
              <a:ext uri="{FF2B5EF4-FFF2-40B4-BE49-F238E27FC236}">
                <a16:creationId xmlns:a16="http://schemas.microsoft.com/office/drawing/2014/main" id="{28DF18A2-3A8B-BBF3-88DC-ACFD6BBA75BD}"/>
              </a:ext>
            </a:extLst>
          </p:cNvPr>
          <p:cNvSpPr txBox="1"/>
          <p:nvPr/>
        </p:nvSpPr>
        <p:spPr>
          <a:xfrm>
            <a:off x="6775289" y="1964891"/>
            <a:ext cx="481404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Census survey data vs. satellite imagery</a:t>
            </a:r>
          </a:p>
        </p:txBody>
      </p:sp>
      <p:cxnSp>
        <p:nvCxnSpPr>
          <p:cNvPr id="30" name="Straight Connector 29">
            <a:extLst>
              <a:ext uri="{FF2B5EF4-FFF2-40B4-BE49-F238E27FC236}">
                <a16:creationId xmlns:a16="http://schemas.microsoft.com/office/drawing/2014/main" id="{F912FDFD-A36F-9DCA-3376-455FEAC0DC17}"/>
              </a:ext>
            </a:extLst>
          </p:cNvPr>
          <p:cNvCxnSpPr>
            <a:cxnSpLocks/>
          </p:cNvCxnSpPr>
          <p:nvPr/>
        </p:nvCxnSpPr>
        <p:spPr>
          <a:xfrm flipH="1">
            <a:off x="6775289" y="2303445"/>
            <a:ext cx="3782581"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2881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F22EF-42DC-5C54-B3EF-ECC0E191E68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7AAA7E7-A2FB-C255-FB87-A402460CAA01}"/>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3BF97E99-CEBD-C7C3-B47C-5F9ABF36D0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D5F2297-F736-3089-715C-637FDFE94E59}"/>
              </a:ext>
            </a:extLst>
          </p:cNvPr>
          <p:cNvSpPr>
            <a:spLocks noGrp="1"/>
          </p:cNvSpPr>
          <p:nvPr>
            <p:ph type="title"/>
          </p:nvPr>
        </p:nvSpPr>
        <p:spPr>
          <a:xfrm>
            <a:off x="838200" y="2610355"/>
            <a:ext cx="10515600" cy="1814165"/>
          </a:xfrm>
        </p:spPr>
        <p:txBody>
          <a:bodyPr vert="horz" rIns="91440">
            <a:normAutofit/>
          </a:bodyPr>
          <a:lstStyle/>
          <a:p>
            <a:r>
              <a:rPr lang="en-US" dirty="0"/>
              <a:t>Research question:</a:t>
            </a:r>
            <a:br>
              <a:rPr lang="en-US" dirty="0"/>
            </a:br>
            <a:br>
              <a:rPr lang="en-US" b="0" dirty="0"/>
            </a:br>
            <a:r>
              <a:rPr lang="en-US" b="0" dirty="0">
                <a:latin typeface="Arial" panose="020B0604020202020204" pitchFamily="34" charset="0"/>
                <a:cs typeface="Arial" panose="020B0604020202020204" pitchFamily="34" charset="0"/>
              </a:rPr>
              <a:t>Does satellite imagery contain enough signal about human settlement patterns to support accurate population estimates?</a:t>
            </a:r>
          </a:p>
        </p:txBody>
      </p:sp>
      <p:sp>
        <p:nvSpPr>
          <p:cNvPr id="3" name="Date Placeholder 2">
            <a:extLst>
              <a:ext uri="{FF2B5EF4-FFF2-40B4-BE49-F238E27FC236}">
                <a16:creationId xmlns:a16="http://schemas.microsoft.com/office/drawing/2014/main" id="{6C1F5ED5-E038-74C7-7AE9-3A5F5822D5CC}"/>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94D56112-7870-3C47-318E-72E2158AD868}"/>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736E0339-45A5-FC26-6AFB-8D89C4CB6156}"/>
              </a:ext>
            </a:extLst>
          </p:cNvPr>
          <p:cNvSpPr>
            <a:spLocks noGrp="1"/>
          </p:cNvSpPr>
          <p:nvPr>
            <p:ph type="sldNum" sz="quarter" idx="12"/>
          </p:nvPr>
        </p:nvSpPr>
        <p:spPr/>
        <p:txBody>
          <a:bodyPr/>
          <a:lstStyle/>
          <a:p>
            <a:fld id="{7D3A6E6C-C5AB-5E45-8D34-7FB9A51EE2CA}" type="slidenum">
              <a:rPr lang="en-US" smtClean="0"/>
              <a:t>8</a:t>
            </a:fld>
            <a:endParaRPr lang="en-US"/>
          </a:p>
        </p:txBody>
      </p:sp>
    </p:spTree>
    <p:extLst>
      <p:ext uri="{BB962C8B-B14F-4D97-AF65-F5344CB8AC3E}">
        <p14:creationId xmlns:p14="http://schemas.microsoft.com/office/powerpoint/2010/main" val="3060937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88E8-A785-F92A-D432-BB89AC6842B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EA6831C-210D-4E0E-91F0-C7B468C059EF}"/>
              </a:ext>
            </a:extLst>
          </p:cNvPr>
          <p:cNvGraphicFramePr>
            <a:graphicFrameLocks/>
          </p:cNvGraphicFramePr>
          <p:nvPr>
            <p:custDataLst>
              <p:tags r:id="rId1"/>
            </p:custDataLst>
            <p:extLst>
              <p:ext uri="{D42A27DB-BD31-4B8C-83A1-F6EECF244321}">
                <p14:modId xmlns:p14="http://schemas.microsoft.com/office/powerpoint/2010/main" val="11400783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id="{12D5214A-C74D-A3AC-332F-B1ADA9A7C25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2E13A9C-22EA-462B-EE31-13B5F7BE0676}"/>
              </a:ext>
            </a:extLst>
          </p:cNvPr>
          <p:cNvSpPr>
            <a:spLocks noGrp="1"/>
          </p:cNvSpPr>
          <p:nvPr>
            <p:ph type="title"/>
          </p:nvPr>
        </p:nvSpPr>
        <p:spPr/>
        <p:txBody>
          <a:bodyPr vert="horz" rIns="91440"/>
          <a:lstStyle/>
          <a:p>
            <a:r>
              <a:rPr lang="en-US" dirty="0"/>
              <a:t>Previous studies of this question predict population density using </a:t>
            </a:r>
            <a:r>
              <a:rPr lang="en-US" u="sng" dirty="0"/>
              <a:t>task-specific</a:t>
            </a:r>
            <a:r>
              <a:rPr lang="en-US" dirty="0"/>
              <a:t> trained models</a:t>
            </a:r>
          </a:p>
        </p:txBody>
      </p:sp>
      <p:sp>
        <p:nvSpPr>
          <p:cNvPr id="3" name="Date Placeholder 2">
            <a:extLst>
              <a:ext uri="{FF2B5EF4-FFF2-40B4-BE49-F238E27FC236}">
                <a16:creationId xmlns:a16="http://schemas.microsoft.com/office/drawing/2014/main" id="{A5F0CC01-ADB2-9423-8DA4-A5518F2F653C}"/>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3B9D9747-7C61-4B81-1875-BA15DFFE58F6}"/>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B25A75CF-23AA-6DF8-D5B1-44DBD8F43FBE}"/>
              </a:ext>
            </a:extLst>
          </p:cNvPr>
          <p:cNvSpPr>
            <a:spLocks noGrp="1"/>
          </p:cNvSpPr>
          <p:nvPr>
            <p:ph type="sldNum" sz="quarter" idx="12"/>
          </p:nvPr>
        </p:nvSpPr>
        <p:spPr/>
        <p:txBody>
          <a:bodyPr/>
          <a:lstStyle/>
          <a:p>
            <a:fld id="{7D3A6E6C-C5AB-5E45-8D34-7FB9A51EE2CA}" type="slidenum">
              <a:rPr lang="en-US" smtClean="0"/>
              <a:t>9</a:t>
            </a:fld>
            <a:endParaRPr lang="en-US"/>
          </a:p>
        </p:txBody>
      </p:sp>
      <p:sp>
        <p:nvSpPr>
          <p:cNvPr id="10" name="TextBox 9">
            <a:extLst>
              <a:ext uri="{FF2B5EF4-FFF2-40B4-BE49-F238E27FC236}">
                <a16:creationId xmlns:a16="http://schemas.microsoft.com/office/drawing/2014/main" id="{BF61191B-FDF0-F347-3AA6-4F5E8A2147E1}"/>
              </a:ext>
            </a:extLst>
          </p:cNvPr>
          <p:cNvSpPr txBox="1"/>
          <p:nvPr/>
        </p:nvSpPr>
        <p:spPr>
          <a:xfrm>
            <a:off x="838199" y="1657906"/>
            <a:ext cx="8234859" cy="400110"/>
          </a:xfrm>
          <a:prstGeom prst="rect">
            <a:avLst/>
          </a:prstGeom>
          <a:noFill/>
        </p:spPr>
        <p:txBody>
          <a:bodyPr wrap="square" rtlCol="0">
            <a:spAutoFit/>
          </a:bodyPr>
          <a:lstStyle/>
          <a:p>
            <a:r>
              <a:rPr lang="en-US" sz="2000" b="1" i="1" dirty="0">
                <a:latin typeface="Arial" panose="020B0604020202020204" pitchFamily="34" charset="0"/>
                <a:cs typeface="Arial" panose="020B0604020202020204" pitchFamily="34" charset="0"/>
              </a:rPr>
              <a:t>How does a task-specific trained model work?</a:t>
            </a:r>
          </a:p>
        </p:txBody>
      </p:sp>
      <p:cxnSp>
        <p:nvCxnSpPr>
          <p:cNvPr id="12" name="Straight Connector 11">
            <a:extLst>
              <a:ext uri="{FF2B5EF4-FFF2-40B4-BE49-F238E27FC236}">
                <a16:creationId xmlns:a16="http://schemas.microsoft.com/office/drawing/2014/main" id="{20FA96C1-4C33-A260-061F-1558DE7BAE1E}"/>
              </a:ext>
            </a:extLst>
          </p:cNvPr>
          <p:cNvCxnSpPr>
            <a:cxnSpLocks/>
          </p:cNvCxnSpPr>
          <p:nvPr/>
        </p:nvCxnSpPr>
        <p:spPr>
          <a:xfrm>
            <a:off x="7022481" y="1690688"/>
            <a:ext cx="0" cy="432911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6152562-7D23-1336-A0E3-CC4F63202166}"/>
              </a:ext>
            </a:extLst>
          </p:cNvPr>
          <p:cNvSpPr txBox="1"/>
          <p:nvPr/>
        </p:nvSpPr>
        <p:spPr>
          <a:xfrm>
            <a:off x="7426582" y="1657906"/>
            <a:ext cx="2007349" cy="400110"/>
          </a:xfrm>
          <a:prstGeom prst="rect">
            <a:avLst/>
          </a:prstGeom>
          <a:noFill/>
        </p:spPr>
        <p:txBody>
          <a:bodyPr wrap="square" rtlCol="0">
            <a:spAutoFit/>
          </a:bodyPr>
          <a:lstStyle/>
          <a:p>
            <a:r>
              <a:rPr lang="en-US" sz="2000" b="1" i="1" dirty="0">
                <a:latin typeface="Arial" panose="020B0604020202020204" pitchFamily="34" charset="0"/>
                <a:cs typeface="Arial" panose="020B0604020202020204" pitchFamily="34" charset="0"/>
              </a:rPr>
              <a:t>Limitations</a:t>
            </a:r>
          </a:p>
        </p:txBody>
      </p:sp>
      <p:sp>
        <p:nvSpPr>
          <p:cNvPr id="16" name="TextBox 15">
            <a:extLst>
              <a:ext uri="{FF2B5EF4-FFF2-40B4-BE49-F238E27FC236}">
                <a16:creationId xmlns:a16="http://schemas.microsoft.com/office/drawing/2014/main" id="{4EC3F8FB-D1FB-9EA7-E1C3-AA77CE12CFA0}"/>
              </a:ext>
            </a:extLst>
          </p:cNvPr>
          <p:cNvSpPr txBox="1"/>
          <p:nvPr/>
        </p:nvSpPr>
        <p:spPr>
          <a:xfrm>
            <a:off x="1242302" y="4587031"/>
            <a:ext cx="5355654"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Using geospatial data, traditional task-specific models capture </a:t>
            </a:r>
            <a:r>
              <a:rPr lang="en-US" b="1" dirty="0">
                <a:latin typeface="Arial" panose="020B0604020202020204" pitchFamily="34" charset="0"/>
                <a:cs typeface="Arial" panose="020B0604020202020204" pitchFamily="34" charset="0"/>
              </a:rPr>
              <a:t>60–75%</a:t>
            </a:r>
            <a:r>
              <a:rPr lang="en-US" dirty="0">
                <a:latin typeface="Arial" panose="020B0604020202020204" pitchFamily="34" charset="0"/>
                <a:cs typeface="Arial" panose="020B0604020202020204" pitchFamily="34" charset="0"/>
              </a:rPr>
              <a:t> of the variation in population density in the real world.</a:t>
            </a:r>
            <a:r>
              <a:rPr lang="en-US" baseline="30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61D5610C-447C-9436-010A-204CBF7B9387}"/>
              </a:ext>
            </a:extLst>
          </p:cNvPr>
          <p:cNvPicPr>
            <a:picLocks noChangeAspect="1"/>
          </p:cNvPicPr>
          <p:nvPr/>
        </p:nvPicPr>
        <p:blipFill>
          <a:blip r:embed="rId6"/>
          <a:stretch>
            <a:fillRect/>
          </a:stretch>
        </p:blipFill>
        <p:spPr>
          <a:xfrm>
            <a:off x="1479243" y="2275344"/>
            <a:ext cx="5118713" cy="1325563"/>
          </a:xfrm>
          <a:prstGeom prst="rect">
            <a:avLst/>
          </a:prstGeom>
        </p:spPr>
      </p:pic>
      <p:sp>
        <p:nvSpPr>
          <p:cNvPr id="20" name="TextBox 19">
            <a:extLst>
              <a:ext uri="{FF2B5EF4-FFF2-40B4-BE49-F238E27FC236}">
                <a16:creationId xmlns:a16="http://schemas.microsoft.com/office/drawing/2014/main" id="{AA5E5053-E358-0D0F-FB5F-80DD1A232B6C}"/>
              </a:ext>
            </a:extLst>
          </p:cNvPr>
          <p:cNvSpPr txBox="1"/>
          <p:nvPr/>
        </p:nvSpPr>
        <p:spPr>
          <a:xfrm>
            <a:off x="838199" y="4080599"/>
            <a:ext cx="7593501" cy="400110"/>
          </a:xfrm>
          <a:prstGeom prst="rect">
            <a:avLst/>
          </a:prstGeom>
          <a:noFill/>
        </p:spPr>
        <p:txBody>
          <a:bodyPr wrap="square" rtlCol="0">
            <a:spAutoFit/>
          </a:bodyPr>
          <a:lstStyle/>
          <a:p>
            <a:r>
              <a:rPr lang="en-US" sz="2000" b="1" i="1" dirty="0">
                <a:latin typeface="Arial" panose="020B0604020202020204" pitchFamily="34" charset="0"/>
                <a:cs typeface="Arial" panose="020B0604020202020204" pitchFamily="34" charset="0"/>
              </a:rPr>
              <a:t>Results in the literature</a:t>
            </a:r>
            <a:endParaRPr lang="en-US" sz="2000" i="1"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75D75404-FEDC-D716-C99C-409FA3ACD561}"/>
              </a:ext>
            </a:extLst>
          </p:cNvPr>
          <p:cNvSpPr txBox="1"/>
          <p:nvPr/>
        </p:nvSpPr>
        <p:spPr>
          <a:xfrm>
            <a:off x="7667887" y="2238043"/>
            <a:ext cx="3438723"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Doesn’t scale to new regions / doesn’t generalize</a:t>
            </a:r>
          </a:p>
        </p:txBody>
      </p:sp>
      <p:sp>
        <p:nvSpPr>
          <p:cNvPr id="22" name="TextBox 21">
            <a:extLst>
              <a:ext uri="{FF2B5EF4-FFF2-40B4-BE49-F238E27FC236}">
                <a16:creationId xmlns:a16="http://schemas.microsoft.com/office/drawing/2014/main" id="{99085060-251E-1A77-6D32-CD657828ACFC}"/>
              </a:ext>
            </a:extLst>
          </p:cNvPr>
          <p:cNvSpPr txBox="1"/>
          <p:nvPr/>
        </p:nvSpPr>
        <p:spPr>
          <a:xfrm>
            <a:off x="7667986" y="3463420"/>
            <a:ext cx="3438525" cy="923330"/>
          </a:xfrm>
          <a:prstGeom prst="rect">
            <a:avLst/>
          </a:prstGeom>
          <a:noFill/>
        </p:spPr>
        <p:txBody>
          <a:bodyPr wrap="square" rtlCol="0">
            <a:noAutofit/>
          </a:bodyPr>
          <a:lstStyle/>
          <a:p>
            <a:r>
              <a:rPr lang="en-US" dirty="0">
                <a:latin typeface="Arial" panose="020B0604020202020204" pitchFamily="34" charset="0"/>
                <a:cs typeface="Arial" panose="020B0604020202020204" pitchFamily="34" charset="0"/>
              </a:rPr>
              <a:t>Requires expensive re-training of model for each new task / geography</a:t>
            </a:r>
          </a:p>
        </p:txBody>
      </p:sp>
      <p:sp>
        <p:nvSpPr>
          <p:cNvPr id="23" name="TextBox 22">
            <a:extLst>
              <a:ext uri="{FF2B5EF4-FFF2-40B4-BE49-F238E27FC236}">
                <a16:creationId xmlns:a16="http://schemas.microsoft.com/office/drawing/2014/main" id="{747E8B93-242A-7976-796E-C4463E3730DD}"/>
              </a:ext>
            </a:extLst>
          </p:cNvPr>
          <p:cNvSpPr txBox="1"/>
          <p:nvPr/>
        </p:nvSpPr>
        <p:spPr>
          <a:xfrm>
            <a:off x="7667986" y="4965795"/>
            <a:ext cx="3438525" cy="646331"/>
          </a:xfrm>
          <a:prstGeom prst="rect">
            <a:avLst/>
          </a:prstGeom>
          <a:noFill/>
        </p:spPr>
        <p:txBody>
          <a:bodyPr wrap="square" rtlCol="0">
            <a:noAutofit/>
          </a:bodyPr>
          <a:lstStyle/>
          <a:p>
            <a:r>
              <a:rPr lang="en-US" dirty="0">
                <a:latin typeface="Arial" panose="020B0604020202020204" pitchFamily="34" charset="0"/>
                <a:cs typeface="Arial" panose="020B0604020202020204" pitchFamily="34" charset="0"/>
              </a:rPr>
              <a:t>Limited by the data it was trained on</a:t>
            </a:r>
          </a:p>
        </p:txBody>
      </p:sp>
      <p:sp>
        <p:nvSpPr>
          <p:cNvPr id="24" name="TextBox 23">
            <a:extLst>
              <a:ext uri="{FF2B5EF4-FFF2-40B4-BE49-F238E27FC236}">
                <a16:creationId xmlns:a16="http://schemas.microsoft.com/office/drawing/2014/main" id="{21D2985A-AAC2-4809-9967-B0ECA41C67CF}"/>
              </a:ext>
            </a:extLst>
          </p:cNvPr>
          <p:cNvSpPr txBox="1"/>
          <p:nvPr/>
        </p:nvSpPr>
        <p:spPr>
          <a:xfrm>
            <a:off x="785622" y="6110129"/>
            <a:ext cx="702147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1. Stevens et al. (2015), </a:t>
            </a:r>
            <a:r>
              <a:rPr lang="en-US" sz="1000" dirty="0" err="1">
                <a:latin typeface="Arial" panose="020B0604020202020204" pitchFamily="34" charset="0"/>
                <a:cs typeface="Arial" panose="020B0604020202020204" pitchFamily="34" charset="0"/>
              </a:rPr>
              <a:t>WorldPop</a:t>
            </a:r>
            <a:r>
              <a:rPr lang="en-US" sz="1000" dirty="0">
                <a:latin typeface="Arial" panose="020B0604020202020204" pitchFamily="34" charset="0"/>
                <a:cs typeface="Arial" panose="020B0604020202020204" pitchFamily="34" charset="0"/>
              </a:rPr>
              <a:t> project, various studies on deep learning (CNN) approaches to the geospatial problems</a:t>
            </a:r>
          </a:p>
        </p:txBody>
      </p:sp>
    </p:spTree>
    <p:extLst>
      <p:ext uri="{BB962C8B-B14F-4D97-AF65-F5344CB8AC3E}">
        <p14:creationId xmlns:p14="http://schemas.microsoft.com/office/powerpoint/2010/main" val="614113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A2BC2-EBEB-D973-1C3C-7BCF0F7174D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6E90186-3CFD-98E4-7450-47BAE4C4276B}"/>
              </a:ext>
            </a:extLst>
          </p:cNvPr>
          <p:cNvGraphicFramePr>
            <a:graphicFrameLocks/>
          </p:cNvGraphicFramePr>
          <p:nvPr>
            <p:custDataLst>
              <p:tags r:id="rId1"/>
            </p:custDataLst>
            <p:extLst>
              <p:ext uri="{D42A27DB-BD31-4B8C-83A1-F6EECF244321}">
                <p14:modId xmlns:p14="http://schemas.microsoft.com/office/powerpoint/2010/main" val="2180255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id="{12D5214A-C74D-A3AC-332F-B1ADA9A7C25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8D1FFD9-F07E-E4D0-0A5B-D8912B652AD2}"/>
              </a:ext>
            </a:extLst>
          </p:cNvPr>
          <p:cNvSpPr>
            <a:spLocks noGrp="1"/>
          </p:cNvSpPr>
          <p:nvPr>
            <p:ph type="title"/>
          </p:nvPr>
        </p:nvSpPr>
        <p:spPr/>
        <p:txBody>
          <a:bodyPr vert="horz" rIns="91440"/>
          <a:lstStyle/>
          <a:p>
            <a:r>
              <a:rPr lang="en-US" dirty="0"/>
              <a:t>My project asks whether </a:t>
            </a:r>
            <a:r>
              <a:rPr lang="en-US" u="sng" dirty="0"/>
              <a:t>task-agnostic</a:t>
            </a:r>
            <a:r>
              <a:rPr lang="en-US" dirty="0"/>
              <a:t> models can perform just as well. </a:t>
            </a:r>
          </a:p>
        </p:txBody>
      </p:sp>
      <p:sp>
        <p:nvSpPr>
          <p:cNvPr id="3" name="Date Placeholder 2">
            <a:extLst>
              <a:ext uri="{FF2B5EF4-FFF2-40B4-BE49-F238E27FC236}">
                <a16:creationId xmlns:a16="http://schemas.microsoft.com/office/drawing/2014/main" id="{6CF352AA-5CEC-E176-12F8-E49988A148F2}"/>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BFD954A1-132E-E306-62B9-A8BC1CCD8721}"/>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23A310F2-0920-154C-6C9C-5AD277511F3D}"/>
              </a:ext>
            </a:extLst>
          </p:cNvPr>
          <p:cNvSpPr>
            <a:spLocks noGrp="1"/>
          </p:cNvSpPr>
          <p:nvPr>
            <p:ph type="sldNum" sz="quarter" idx="12"/>
          </p:nvPr>
        </p:nvSpPr>
        <p:spPr/>
        <p:txBody>
          <a:bodyPr/>
          <a:lstStyle/>
          <a:p>
            <a:fld id="{7D3A6E6C-C5AB-5E45-8D34-7FB9A51EE2CA}" type="slidenum">
              <a:rPr lang="en-US" smtClean="0"/>
              <a:t>10</a:t>
            </a:fld>
            <a:endParaRPr lang="en-US"/>
          </a:p>
        </p:txBody>
      </p:sp>
      <p:pic>
        <p:nvPicPr>
          <p:cNvPr id="7" name="Picture 6">
            <a:extLst>
              <a:ext uri="{FF2B5EF4-FFF2-40B4-BE49-F238E27FC236}">
                <a16:creationId xmlns:a16="http://schemas.microsoft.com/office/drawing/2014/main" id="{179F5B23-3B2C-EF65-747E-C474E23BBC22}"/>
              </a:ext>
            </a:extLst>
          </p:cNvPr>
          <p:cNvPicPr>
            <a:picLocks noChangeAspect="1"/>
          </p:cNvPicPr>
          <p:nvPr/>
        </p:nvPicPr>
        <p:blipFill>
          <a:blip r:embed="rId6"/>
          <a:stretch>
            <a:fillRect/>
          </a:stretch>
        </p:blipFill>
        <p:spPr>
          <a:xfrm>
            <a:off x="13523843" y="-362290"/>
            <a:ext cx="9776083" cy="4105955"/>
          </a:xfrm>
          <a:prstGeom prst="rect">
            <a:avLst/>
          </a:prstGeom>
        </p:spPr>
      </p:pic>
      <p:sp>
        <p:nvSpPr>
          <p:cNvPr id="10" name="TextBox 9">
            <a:extLst>
              <a:ext uri="{FF2B5EF4-FFF2-40B4-BE49-F238E27FC236}">
                <a16:creationId xmlns:a16="http://schemas.microsoft.com/office/drawing/2014/main" id="{E1CA22E7-073C-B99F-4D79-18FD1CC36B2E}"/>
              </a:ext>
            </a:extLst>
          </p:cNvPr>
          <p:cNvSpPr txBox="1"/>
          <p:nvPr/>
        </p:nvSpPr>
        <p:spPr>
          <a:xfrm>
            <a:off x="-8972030" y="2211184"/>
            <a:ext cx="7394389" cy="646331"/>
          </a:xfrm>
          <a:prstGeom prst="rect">
            <a:avLst/>
          </a:prstGeom>
          <a:noFill/>
        </p:spPr>
        <p:txBody>
          <a:bodyPr wrap="square" rtlCol="0">
            <a:spAutoFit/>
          </a:bodyPr>
          <a:lstStyle/>
          <a:p>
            <a:r>
              <a:rPr lang="en-US" dirty="0"/>
              <a:t>Rather than trained for the specific task of population density prediction, task-agnostic “foundation” models are trained on massive, diverse data</a:t>
            </a:r>
          </a:p>
        </p:txBody>
      </p:sp>
      <p:sp>
        <p:nvSpPr>
          <p:cNvPr id="11" name="TextBox 10">
            <a:extLst>
              <a:ext uri="{FF2B5EF4-FFF2-40B4-BE49-F238E27FC236}">
                <a16:creationId xmlns:a16="http://schemas.microsoft.com/office/drawing/2014/main" id="{1AA570CE-213E-BE0E-EDA9-CC5B2CBF093E}"/>
              </a:ext>
            </a:extLst>
          </p:cNvPr>
          <p:cNvSpPr txBox="1"/>
          <p:nvPr/>
        </p:nvSpPr>
        <p:spPr>
          <a:xfrm>
            <a:off x="-8972030" y="3429000"/>
            <a:ext cx="7394389" cy="646331"/>
          </a:xfrm>
          <a:prstGeom prst="rect">
            <a:avLst/>
          </a:prstGeom>
          <a:noFill/>
        </p:spPr>
        <p:txBody>
          <a:bodyPr wrap="square" rtlCol="0">
            <a:spAutoFit/>
          </a:bodyPr>
          <a:lstStyle/>
          <a:p>
            <a:r>
              <a:rPr lang="en-US" dirty="0"/>
              <a:t>They produce reusable embeddings applicable to many downstream tasks without retraining</a:t>
            </a:r>
          </a:p>
        </p:txBody>
      </p:sp>
      <p:pic>
        <p:nvPicPr>
          <p:cNvPr id="12" name="Picture 11">
            <a:extLst>
              <a:ext uri="{FF2B5EF4-FFF2-40B4-BE49-F238E27FC236}">
                <a16:creationId xmlns:a16="http://schemas.microsoft.com/office/drawing/2014/main" id="{775ECC77-F033-AAC1-039F-82FD327F3E7F}"/>
              </a:ext>
            </a:extLst>
          </p:cNvPr>
          <p:cNvPicPr>
            <a:picLocks noChangeAspect="1"/>
          </p:cNvPicPr>
          <p:nvPr/>
        </p:nvPicPr>
        <p:blipFill>
          <a:blip r:embed="rId7"/>
          <a:stretch>
            <a:fillRect/>
          </a:stretch>
        </p:blipFill>
        <p:spPr>
          <a:xfrm>
            <a:off x="14206728" y="7155111"/>
            <a:ext cx="7772400" cy="2203842"/>
          </a:xfrm>
          <a:prstGeom prst="rect">
            <a:avLst/>
          </a:prstGeom>
        </p:spPr>
      </p:pic>
      <p:pic>
        <p:nvPicPr>
          <p:cNvPr id="13" name="Picture 12">
            <a:extLst>
              <a:ext uri="{FF2B5EF4-FFF2-40B4-BE49-F238E27FC236}">
                <a16:creationId xmlns:a16="http://schemas.microsoft.com/office/drawing/2014/main" id="{55DDA1DB-AC29-70A3-9493-80535652AB1D}"/>
              </a:ext>
            </a:extLst>
          </p:cNvPr>
          <p:cNvPicPr>
            <a:picLocks noChangeAspect="1"/>
          </p:cNvPicPr>
          <p:nvPr/>
        </p:nvPicPr>
        <p:blipFill>
          <a:blip r:embed="rId8"/>
          <a:stretch>
            <a:fillRect/>
          </a:stretch>
        </p:blipFill>
        <p:spPr>
          <a:xfrm>
            <a:off x="7021443" y="8409327"/>
            <a:ext cx="6502400" cy="3835400"/>
          </a:xfrm>
          <a:prstGeom prst="rect">
            <a:avLst/>
          </a:prstGeom>
        </p:spPr>
      </p:pic>
      <p:pic>
        <p:nvPicPr>
          <p:cNvPr id="14" name="Picture 13">
            <a:extLst>
              <a:ext uri="{FF2B5EF4-FFF2-40B4-BE49-F238E27FC236}">
                <a16:creationId xmlns:a16="http://schemas.microsoft.com/office/drawing/2014/main" id="{3963810D-94D0-4C0B-AE94-329954C8BE71}"/>
              </a:ext>
            </a:extLst>
          </p:cNvPr>
          <p:cNvPicPr>
            <a:picLocks noChangeAspect="1"/>
          </p:cNvPicPr>
          <p:nvPr/>
        </p:nvPicPr>
        <p:blipFill>
          <a:blip r:embed="rId9"/>
          <a:stretch>
            <a:fillRect/>
          </a:stretch>
        </p:blipFill>
        <p:spPr>
          <a:xfrm>
            <a:off x="723072" y="1690687"/>
            <a:ext cx="8760753" cy="2384644"/>
          </a:xfrm>
          <a:prstGeom prst="rect">
            <a:avLst/>
          </a:prstGeom>
        </p:spPr>
      </p:pic>
      <p:sp>
        <p:nvSpPr>
          <p:cNvPr id="18" name="TextBox 17">
            <a:extLst>
              <a:ext uri="{FF2B5EF4-FFF2-40B4-BE49-F238E27FC236}">
                <a16:creationId xmlns:a16="http://schemas.microsoft.com/office/drawing/2014/main" id="{5650163A-B4E1-256C-119B-A28DB4EBAD50}"/>
              </a:ext>
            </a:extLst>
          </p:cNvPr>
          <p:cNvSpPr txBox="1"/>
          <p:nvPr/>
        </p:nvSpPr>
        <p:spPr>
          <a:xfrm>
            <a:off x="723072" y="3971707"/>
            <a:ext cx="318303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on the order of petabytes (1000 terabytes)</a:t>
            </a:r>
          </a:p>
        </p:txBody>
      </p:sp>
    </p:spTree>
    <p:extLst>
      <p:ext uri="{BB962C8B-B14F-4D97-AF65-F5344CB8AC3E}">
        <p14:creationId xmlns:p14="http://schemas.microsoft.com/office/powerpoint/2010/main" val="3861379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E9502-E7E9-FD56-A07E-CC4D3B9DA4CA}"/>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808D33A-B912-4859-C52E-E234CC9DC2F7}"/>
              </a:ext>
            </a:extLst>
          </p:cNvPr>
          <p:cNvGraphicFramePr>
            <a:graphicFrameLocks/>
          </p:cNvGraphicFramePr>
          <p:nvPr>
            <p:custDataLst>
              <p:tags r:id="rId1"/>
            </p:custDataLst>
            <p:extLst>
              <p:ext uri="{D42A27DB-BD31-4B8C-83A1-F6EECF244321}">
                <p14:modId xmlns:p14="http://schemas.microsoft.com/office/powerpoint/2010/main" val="22641004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7" name="think-cell data - do not delete" hidden="1">
                        <a:extLst>
                          <a:ext uri="{FF2B5EF4-FFF2-40B4-BE49-F238E27FC236}">
                            <a16:creationId xmlns:a16="http://schemas.microsoft.com/office/drawing/2014/main" id="{9C3148CF-FAC4-8E3D-5B99-3990DCFD5146}"/>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9" name="Text Placeholder 2">
            <a:hlinkClick r:id="rId9" action="ppaction://hlinksldjump"/>
            <a:extLst>
              <a:ext uri="{FF2B5EF4-FFF2-40B4-BE49-F238E27FC236}">
                <a16:creationId xmlns:a16="http://schemas.microsoft.com/office/drawing/2014/main" id="{A12B8EF2-7ACD-831C-798E-87EF12872D48}"/>
              </a:ext>
            </a:extLst>
          </p:cNvPr>
          <p:cNvSpPr txBox="1">
            <a:spLocks/>
          </p:cNvSpPr>
          <p:nvPr>
            <p:custDataLst>
              <p:tags r:id="rId2"/>
            </p:custDataLst>
          </p:nvPr>
        </p:nvSpPr>
        <p:spPr bwMode="auto">
          <a:xfrm>
            <a:off x="5172075" y="2568575"/>
            <a:ext cx="1847850" cy="430213"/>
          </a:xfrm>
          <a:prstGeom prst="rect">
            <a:avLst/>
          </a:prstGeom>
          <a:solidFill>
            <a:schemeClr val="bg2"/>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Motivation</a:t>
            </a:r>
            <a:endParaRPr lang="en-US" dirty="0">
              <a:cs typeface="+mn-cs"/>
            </a:endParaRPr>
          </a:p>
        </p:txBody>
      </p:sp>
      <p:sp>
        <p:nvSpPr>
          <p:cNvPr id="10" name="Text Placeholder 2">
            <a:hlinkClick r:id="rId10" action="ppaction://hlinksldjump"/>
            <a:extLst>
              <a:ext uri="{FF2B5EF4-FFF2-40B4-BE49-F238E27FC236}">
                <a16:creationId xmlns:a16="http://schemas.microsoft.com/office/drawing/2014/main" id="{F21BACF8-5CF8-5FE2-1D9F-16D2D94F0665}"/>
              </a:ext>
            </a:extLst>
          </p:cNvPr>
          <p:cNvSpPr txBox="1">
            <a:spLocks/>
          </p:cNvSpPr>
          <p:nvPr>
            <p:custDataLst>
              <p:tags r:id="rId3"/>
            </p:custDataLst>
          </p:nvPr>
        </p:nvSpPr>
        <p:spPr bwMode="auto">
          <a:xfrm>
            <a:off x="5172075" y="2998788"/>
            <a:ext cx="1847850" cy="430213"/>
          </a:xfrm>
          <a:prstGeom prst="rect">
            <a:avLst/>
          </a:prstGeom>
          <a:solidFill>
            <a:schemeClr val="bg2"/>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Intervention</a:t>
            </a:r>
            <a:endParaRPr lang="en-US" dirty="0">
              <a:cs typeface="+mn-cs"/>
            </a:endParaRPr>
          </a:p>
        </p:txBody>
      </p:sp>
      <p:sp>
        <p:nvSpPr>
          <p:cNvPr id="6" name="Text Placeholder 2">
            <a:extLst>
              <a:ext uri="{FF2B5EF4-FFF2-40B4-BE49-F238E27FC236}">
                <a16:creationId xmlns:a16="http://schemas.microsoft.com/office/drawing/2014/main" id="{AAD02735-1081-B06D-E05A-631CA25BE89B}"/>
              </a:ext>
            </a:extLst>
          </p:cNvPr>
          <p:cNvSpPr txBox="1">
            <a:spLocks/>
          </p:cNvSpPr>
          <p:nvPr>
            <p:custDataLst>
              <p:tags r:id="rId4"/>
            </p:custDataLst>
          </p:nvPr>
        </p:nvSpPr>
        <p:spPr bwMode="auto">
          <a:xfrm>
            <a:off x="5172075" y="3429000"/>
            <a:ext cx="1847850" cy="430213"/>
          </a:xfrm>
          <a:prstGeom prst="rect">
            <a:avLst/>
          </a:prstGeom>
          <a:solidFill>
            <a:schemeClr val="accent6"/>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b="1" dirty="0">
                <a:effectLst/>
                <a:cs typeface="+mn-cs"/>
              </a:rPr>
              <a:t>Methodology</a:t>
            </a:r>
            <a:endParaRPr lang="en-US" b="1" dirty="0">
              <a:cs typeface="+mn-cs"/>
            </a:endParaRPr>
          </a:p>
        </p:txBody>
      </p:sp>
      <p:sp>
        <p:nvSpPr>
          <p:cNvPr id="12" name="Text Placeholder 2">
            <a:hlinkClick r:id="rId11" action="ppaction://hlinksldjump"/>
            <a:extLst>
              <a:ext uri="{FF2B5EF4-FFF2-40B4-BE49-F238E27FC236}">
                <a16:creationId xmlns:a16="http://schemas.microsoft.com/office/drawing/2014/main" id="{FC58EF7D-6B5B-EBFA-02F7-24920E6435C8}"/>
              </a:ext>
            </a:extLst>
          </p:cNvPr>
          <p:cNvSpPr txBox="1">
            <a:spLocks/>
          </p:cNvSpPr>
          <p:nvPr>
            <p:custDataLst>
              <p:tags r:id="rId5"/>
            </p:custDataLst>
          </p:nvPr>
        </p:nvSpPr>
        <p:spPr bwMode="auto">
          <a:xfrm>
            <a:off x="5172075" y="3859213"/>
            <a:ext cx="1847850" cy="430213"/>
          </a:xfrm>
          <a:prstGeom prst="rect">
            <a:avLst/>
          </a:prstGeom>
          <a:solidFill>
            <a:schemeClr val="bg2"/>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Results</a:t>
            </a:r>
            <a:endParaRPr lang="en-US" dirty="0">
              <a:cs typeface="+mn-cs"/>
            </a:endParaRPr>
          </a:p>
        </p:txBody>
      </p:sp>
      <p:sp>
        <p:nvSpPr>
          <p:cNvPr id="2" name="Title 1">
            <a:extLst>
              <a:ext uri="{FF2B5EF4-FFF2-40B4-BE49-F238E27FC236}">
                <a16:creationId xmlns:a16="http://schemas.microsoft.com/office/drawing/2014/main" id="{535AE431-A5F1-63F1-E2D7-7F372975C98C}"/>
              </a:ext>
            </a:extLst>
          </p:cNvPr>
          <p:cNvSpPr>
            <a:spLocks noGrp="1"/>
          </p:cNvSpPr>
          <p:nvPr>
            <p:ph type="title"/>
          </p:nvPr>
        </p:nvSpPr>
        <p:spPr/>
        <p:txBody>
          <a:bodyPr vert="horz" rIns="91440"/>
          <a:lstStyle/>
          <a:p>
            <a:fld id="{449B17F5-B4D5-40AC-B3C6-47A90E38688C}" type="datetime'Agenda'">
              <a:rPr lang="en-US" altLang="en-US" smtClean="0">
                <a:effectLst/>
              </a:rPr>
              <a:pPr/>
              <a:t>Agenda</a:t>
            </a:fld>
            <a:endParaRPr lang="en-US"/>
          </a:p>
        </p:txBody>
      </p:sp>
      <p:sp>
        <p:nvSpPr>
          <p:cNvPr id="3" name="Date Placeholder 2">
            <a:extLst>
              <a:ext uri="{FF2B5EF4-FFF2-40B4-BE49-F238E27FC236}">
                <a16:creationId xmlns:a16="http://schemas.microsoft.com/office/drawing/2014/main" id="{0743D9C6-2BED-0ECC-6E24-813E783BE230}"/>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4657FB0C-0B6C-1385-AC6C-85C29C7CDFC0}"/>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22F120FF-9C33-25AF-1A19-9CF0FE7EDA88}"/>
              </a:ext>
            </a:extLst>
          </p:cNvPr>
          <p:cNvSpPr>
            <a:spLocks noGrp="1"/>
          </p:cNvSpPr>
          <p:nvPr>
            <p:ph type="sldNum" sz="quarter" idx="12"/>
          </p:nvPr>
        </p:nvSpPr>
        <p:spPr/>
        <p:txBody>
          <a:bodyPr/>
          <a:lstStyle/>
          <a:p>
            <a:fld id="{7D3A6E6C-C5AB-5E45-8D34-7FB9A51EE2CA}" type="slidenum">
              <a:rPr lang="en-US" smtClean="0"/>
              <a:t>11</a:t>
            </a:fld>
            <a:endParaRPr lang="en-US"/>
          </a:p>
        </p:txBody>
      </p:sp>
    </p:spTree>
    <p:extLst>
      <p:ext uri="{BB962C8B-B14F-4D97-AF65-F5344CB8AC3E}">
        <p14:creationId xmlns:p14="http://schemas.microsoft.com/office/powerpoint/2010/main" val="4257195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AD19F-133B-F100-63B4-F1C295BEBAC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7FAA403-C7CF-1FD6-F13F-1E4D21B4C368}"/>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think-cell data - do not delete" hidden="1">
                        <a:extLst>
                          <a:ext uri="{FF2B5EF4-FFF2-40B4-BE49-F238E27FC236}">
                            <a16:creationId xmlns:a16="http://schemas.microsoft.com/office/drawing/2014/main" id="{33D04170-27C7-826A-D7B1-8CCF1474B43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28D9F06-3BF8-A570-0563-8A5A5388391B}"/>
              </a:ext>
            </a:extLst>
          </p:cNvPr>
          <p:cNvSpPr>
            <a:spLocks noGrp="1"/>
          </p:cNvSpPr>
          <p:nvPr>
            <p:ph type="title"/>
          </p:nvPr>
        </p:nvSpPr>
        <p:spPr/>
        <p:txBody>
          <a:bodyPr vert="horz" rIns="91440">
            <a:normAutofit/>
          </a:bodyPr>
          <a:lstStyle/>
          <a:p>
            <a:r>
              <a:rPr lang="en-US" dirty="0"/>
              <a:t>My approach has four key stages:</a:t>
            </a:r>
          </a:p>
        </p:txBody>
      </p:sp>
      <p:sp>
        <p:nvSpPr>
          <p:cNvPr id="4" name="Date Placeholder 3">
            <a:extLst>
              <a:ext uri="{FF2B5EF4-FFF2-40B4-BE49-F238E27FC236}">
                <a16:creationId xmlns:a16="http://schemas.microsoft.com/office/drawing/2014/main" id="{520C1739-5A95-F8F6-444A-137BE896BA15}"/>
              </a:ext>
            </a:extLst>
          </p:cNvPr>
          <p:cNvSpPr>
            <a:spLocks noGrp="1"/>
          </p:cNvSpPr>
          <p:nvPr>
            <p:ph type="dt" sz="half" idx="10"/>
          </p:nvPr>
        </p:nvSpPr>
        <p:spPr/>
        <p:txBody>
          <a:bodyPr/>
          <a:lstStyle/>
          <a:p>
            <a:fld id="{BC27EDE2-6E51-EE41-A436-6F979CE5A64B}" type="datetime4">
              <a:rPr lang="en-US" smtClean="0"/>
              <a:t>March 31, 2026</a:t>
            </a:fld>
            <a:endParaRPr lang="en-US" dirty="0"/>
          </a:p>
        </p:txBody>
      </p:sp>
      <p:sp>
        <p:nvSpPr>
          <p:cNvPr id="5" name="Footer Placeholder 4">
            <a:extLst>
              <a:ext uri="{FF2B5EF4-FFF2-40B4-BE49-F238E27FC236}">
                <a16:creationId xmlns:a16="http://schemas.microsoft.com/office/drawing/2014/main" id="{4E5D5F52-C8E2-EA20-ABF6-4ACEA44DEEB1}"/>
              </a:ext>
            </a:extLst>
          </p:cNvPr>
          <p:cNvSpPr>
            <a:spLocks noGrp="1"/>
          </p:cNvSpPr>
          <p:nvPr>
            <p:ph type="ftr" sz="quarter" idx="11"/>
          </p:nvPr>
        </p:nvSpPr>
        <p:spPr/>
        <p:txBody>
          <a:bodyPr/>
          <a:lstStyle/>
          <a:p>
            <a:r>
              <a:rPr lang="en-US" dirty="0"/>
              <a:t>Jonathan Edwards College Paskus Mellon Forum </a:t>
            </a:r>
          </a:p>
        </p:txBody>
      </p:sp>
      <p:sp>
        <p:nvSpPr>
          <p:cNvPr id="6" name="Slide Number Placeholder 5">
            <a:extLst>
              <a:ext uri="{FF2B5EF4-FFF2-40B4-BE49-F238E27FC236}">
                <a16:creationId xmlns:a16="http://schemas.microsoft.com/office/drawing/2014/main" id="{6A9E92F2-3AEE-CA52-805F-B12032A8DAA3}"/>
              </a:ext>
            </a:extLst>
          </p:cNvPr>
          <p:cNvSpPr>
            <a:spLocks noGrp="1"/>
          </p:cNvSpPr>
          <p:nvPr>
            <p:ph type="sldNum" sz="quarter" idx="12"/>
          </p:nvPr>
        </p:nvSpPr>
        <p:spPr/>
        <p:txBody>
          <a:bodyPr/>
          <a:lstStyle/>
          <a:p>
            <a:fld id="{7D3A6E6C-C5AB-5E45-8D34-7FB9A51EE2CA}" type="slidenum">
              <a:rPr lang="en-US" smtClean="0"/>
              <a:t>12</a:t>
            </a:fld>
            <a:endParaRPr lang="en-US"/>
          </a:p>
        </p:txBody>
      </p:sp>
      <p:pic>
        <p:nvPicPr>
          <p:cNvPr id="7" name="Picture 6">
            <a:extLst>
              <a:ext uri="{FF2B5EF4-FFF2-40B4-BE49-F238E27FC236}">
                <a16:creationId xmlns:a16="http://schemas.microsoft.com/office/drawing/2014/main" id="{CFB8259F-0539-A2DF-1108-DBAFCB2F78DB}"/>
              </a:ext>
            </a:extLst>
          </p:cNvPr>
          <p:cNvPicPr>
            <a:picLocks noChangeAspect="1"/>
          </p:cNvPicPr>
          <p:nvPr/>
        </p:nvPicPr>
        <p:blipFill>
          <a:blip r:embed="rId5"/>
          <a:stretch>
            <a:fillRect/>
          </a:stretch>
        </p:blipFill>
        <p:spPr>
          <a:xfrm>
            <a:off x="767240" y="2081786"/>
            <a:ext cx="10586560" cy="2438017"/>
          </a:xfrm>
          <a:prstGeom prst="rect">
            <a:avLst/>
          </a:prstGeom>
        </p:spPr>
      </p:pic>
      <p:sp>
        <p:nvSpPr>
          <p:cNvPr id="8" name="TextBox 7">
            <a:extLst>
              <a:ext uri="{FF2B5EF4-FFF2-40B4-BE49-F238E27FC236}">
                <a16:creationId xmlns:a16="http://schemas.microsoft.com/office/drawing/2014/main" id="{1ABB4B60-B9EF-7670-BBDE-B656B07D9C97}"/>
              </a:ext>
            </a:extLst>
          </p:cNvPr>
          <p:cNvSpPr txBox="1"/>
          <p:nvPr/>
        </p:nvSpPr>
        <p:spPr>
          <a:xfrm>
            <a:off x="6701425" y="4541569"/>
            <a:ext cx="2599751" cy="369332"/>
          </a:xfrm>
          <a:prstGeom prst="rect">
            <a:avLst/>
          </a:prstGeom>
          <a:solidFill>
            <a:schemeClr val="accent2">
              <a:lumMod val="40000"/>
              <a:lumOff val="60000"/>
            </a:schemeClr>
          </a:solidFill>
        </p:spPr>
        <p:txBody>
          <a:bodyPr wrap="none" rtlCol="0">
            <a:spAutoFit/>
          </a:bodyPr>
          <a:lstStyle/>
          <a:p>
            <a:r>
              <a:rPr lang="en-US" dirty="0"/>
              <a:t>109,000 x 64 data points</a:t>
            </a:r>
          </a:p>
        </p:txBody>
      </p:sp>
      <p:sp>
        <p:nvSpPr>
          <p:cNvPr id="9" name="TextBox 8">
            <a:extLst>
              <a:ext uri="{FF2B5EF4-FFF2-40B4-BE49-F238E27FC236}">
                <a16:creationId xmlns:a16="http://schemas.microsoft.com/office/drawing/2014/main" id="{3187E676-FD27-9EEB-431F-37405FA7266C}"/>
              </a:ext>
            </a:extLst>
          </p:cNvPr>
          <p:cNvSpPr txBox="1"/>
          <p:nvPr/>
        </p:nvSpPr>
        <p:spPr>
          <a:xfrm>
            <a:off x="9223754" y="2081786"/>
            <a:ext cx="2130046" cy="646331"/>
          </a:xfrm>
          <a:prstGeom prst="rect">
            <a:avLst/>
          </a:prstGeom>
          <a:solidFill>
            <a:schemeClr val="accent2">
              <a:lumMod val="40000"/>
              <a:lumOff val="60000"/>
            </a:schemeClr>
          </a:solidFill>
        </p:spPr>
        <p:txBody>
          <a:bodyPr wrap="square" rtlCol="0">
            <a:spAutoFit/>
          </a:bodyPr>
          <a:lstStyle/>
          <a:p>
            <a:r>
              <a:rPr lang="en-US" dirty="0"/>
              <a:t>Downstream prediction model</a:t>
            </a:r>
          </a:p>
        </p:txBody>
      </p:sp>
      <p:sp>
        <p:nvSpPr>
          <p:cNvPr id="10" name="TextBox 9">
            <a:extLst>
              <a:ext uri="{FF2B5EF4-FFF2-40B4-BE49-F238E27FC236}">
                <a16:creationId xmlns:a16="http://schemas.microsoft.com/office/drawing/2014/main" id="{B97AB060-735F-DE79-E6CE-1EE1CDE54C99}"/>
              </a:ext>
            </a:extLst>
          </p:cNvPr>
          <p:cNvSpPr txBox="1"/>
          <p:nvPr/>
        </p:nvSpPr>
        <p:spPr>
          <a:xfrm>
            <a:off x="4194554" y="1758620"/>
            <a:ext cx="2130046" cy="646331"/>
          </a:xfrm>
          <a:prstGeom prst="rect">
            <a:avLst/>
          </a:prstGeom>
          <a:solidFill>
            <a:schemeClr val="accent2">
              <a:lumMod val="40000"/>
              <a:lumOff val="60000"/>
            </a:schemeClr>
          </a:solidFill>
        </p:spPr>
        <p:txBody>
          <a:bodyPr wrap="square" rtlCol="0">
            <a:spAutoFit/>
          </a:bodyPr>
          <a:lstStyle/>
          <a:p>
            <a:r>
              <a:rPr lang="en-US" dirty="0"/>
              <a:t>General, task-agnostic model</a:t>
            </a:r>
          </a:p>
        </p:txBody>
      </p:sp>
      <p:sp>
        <p:nvSpPr>
          <p:cNvPr id="11" name="TextBox 10">
            <a:extLst>
              <a:ext uri="{FF2B5EF4-FFF2-40B4-BE49-F238E27FC236}">
                <a16:creationId xmlns:a16="http://schemas.microsoft.com/office/drawing/2014/main" id="{115CD1B8-2C43-455F-1F2B-0BF343FE5DB8}"/>
              </a:ext>
            </a:extLst>
          </p:cNvPr>
          <p:cNvSpPr txBox="1"/>
          <p:nvPr/>
        </p:nvSpPr>
        <p:spPr>
          <a:xfrm>
            <a:off x="1451354" y="4403069"/>
            <a:ext cx="2130046" cy="369332"/>
          </a:xfrm>
          <a:prstGeom prst="rect">
            <a:avLst/>
          </a:prstGeom>
          <a:solidFill>
            <a:schemeClr val="accent2">
              <a:lumMod val="40000"/>
              <a:lumOff val="60000"/>
            </a:schemeClr>
          </a:solidFill>
        </p:spPr>
        <p:txBody>
          <a:bodyPr wrap="square" rtlCol="0">
            <a:spAutoFit/>
          </a:bodyPr>
          <a:lstStyle/>
          <a:p>
            <a:r>
              <a:rPr lang="en-US" dirty="0"/>
              <a:t>Custom dataset</a:t>
            </a:r>
          </a:p>
        </p:txBody>
      </p:sp>
      <p:sp>
        <p:nvSpPr>
          <p:cNvPr id="12" name="TextBox 11">
            <a:extLst>
              <a:ext uri="{FF2B5EF4-FFF2-40B4-BE49-F238E27FC236}">
                <a16:creationId xmlns:a16="http://schemas.microsoft.com/office/drawing/2014/main" id="{210C2458-DBEC-2D71-9FC3-8BCDDE63356A}"/>
              </a:ext>
            </a:extLst>
          </p:cNvPr>
          <p:cNvSpPr txBox="1"/>
          <p:nvPr/>
        </p:nvSpPr>
        <p:spPr>
          <a:xfrm>
            <a:off x="838200" y="1875354"/>
            <a:ext cx="3090783" cy="369332"/>
          </a:xfrm>
          <a:prstGeom prst="rect">
            <a:avLst/>
          </a:prstGeom>
          <a:noFill/>
        </p:spPr>
        <p:txBody>
          <a:bodyPr wrap="none" rtlCol="0">
            <a:spAutoFit/>
          </a:bodyPr>
          <a:lstStyle/>
          <a:p>
            <a:r>
              <a:rPr lang="en-US" b="1" i="1" dirty="0"/>
              <a:t>High-level project approach</a:t>
            </a:r>
          </a:p>
        </p:txBody>
      </p:sp>
    </p:spTree>
    <p:extLst>
      <p:ext uri="{BB962C8B-B14F-4D97-AF65-F5344CB8AC3E}">
        <p14:creationId xmlns:p14="http://schemas.microsoft.com/office/powerpoint/2010/main" val="390188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D1364-4F96-1975-1A06-0FE01B7B980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B4841A-5251-0C86-DF80-A6B441C7F24B}"/>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think-cell data - do not delete" hidden="1">
                        <a:extLst>
                          <a:ext uri="{FF2B5EF4-FFF2-40B4-BE49-F238E27FC236}">
                            <a16:creationId xmlns:a16="http://schemas.microsoft.com/office/drawing/2014/main" id="{57FAA403-C7CF-1FD6-F13F-1E4D21B4C36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E860C5A-95C3-4272-6547-534BEA727B32}"/>
              </a:ext>
            </a:extLst>
          </p:cNvPr>
          <p:cNvSpPr>
            <a:spLocks noGrp="1"/>
          </p:cNvSpPr>
          <p:nvPr>
            <p:ph type="title"/>
          </p:nvPr>
        </p:nvSpPr>
        <p:spPr/>
        <p:txBody>
          <a:bodyPr vert="horz" rIns="91440">
            <a:normAutofit/>
          </a:bodyPr>
          <a:lstStyle/>
          <a:p>
            <a:r>
              <a:rPr lang="en-US" dirty="0"/>
              <a:t>Step 1: constructing census polygon</a:t>
            </a:r>
          </a:p>
        </p:txBody>
      </p:sp>
      <p:sp>
        <p:nvSpPr>
          <p:cNvPr id="4" name="Date Placeholder 3">
            <a:extLst>
              <a:ext uri="{FF2B5EF4-FFF2-40B4-BE49-F238E27FC236}">
                <a16:creationId xmlns:a16="http://schemas.microsoft.com/office/drawing/2014/main" id="{1A677E7A-A7B9-9EBD-F8B7-E2D2F227E129}"/>
              </a:ext>
            </a:extLst>
          </p:cNvPr>
          <p:cNvSpPr>
            <a:spLocks noGrp="1"/>
          </p:cNvSpPr>
          <p:nvPr>
            <p:ph type="dt" sz="half" idx="10"/>
          </p:nvPr>
        </p:nvSpPr>
        <p:spPr/>
        <p:txBody>
          <a:bodyPr/>
          <a:lstStyle/>
          <a:p>
            <a:fld id="{BC27EDE2-6E51-EE41-A436-6F979CE5A64B}" type="datetime4">
              <a:rPr lang="en-US" smtClean="0"/>
              <a:t>March 31, 2026</a:t>
            </a:fld>
            <a:endParaRPr lang="en-US" dirty="0"/>
          </a:p>
        </p:txBody>
      </p:sp>
      <p:sp>
        <p:nvSpPr>
          <p:cNvPr id="5" name="Footer Placeholder 4">
            <a:extLst>
              <a:ext uri="{FF2B5EF4-FFF2-40B4-BE49-F238E27FC236}">
                <a16:creationId xmlns:a16="http://schemas.microsoft.com/office/drawing/2014/main" id="{2D12534D-EE58-D84A-547E-D45D119F5C43}"/>
              </a:ext>
            </a:extLst>
          </p:cNvPr>
          <p:cNvSpPr>
            <a:spLocks noGrp="1"/>
          </p:cNvSpPr>
          <p:nvPr>
            <p:ph type="ftr" sz="quarter" idx="11"/>
          </p:nvPr>
        </p:nvSpPr>
        <p:spPr/>
        <p:txBody>
          <a:bodyPr/>
          <a:lstStyle/>
          <a:p>
            <a:r>
              <a:rPr lang="en-US" dirty="0"/>
              <a:t>Jonathan Edwards College Paskus Mellon Forum </a:t>
            </a:r>
          </a:p>
        </p:txBody>
      </p:sp>
      <p:sp>
        <p:nvSpPr>
          <p:cNvPr id="6" name="Slide Number Placeholder 5">
            <a:extLst>
              <a:ext uri="{FF2B5EF4-FFF2-40B4-BE49-F238E27FC236}">
                <a16:creationId xmlns:a16="http://schemas.microsoft.com/office/drawing/2014/main" id="{847D916F-D332-AB90-76AD-877233C0E47F}"/>
              </a:ext>
            </a:extLst>
          </p:cNvPr>
          <p:cNvSpPr>
            <a:spLocks noGrp="1"/>
          </p:cNvSpPr>
          <p:nvPr>
            <p:ph type="sldNum" sz="quarter" idx="12"/>
          </p:nvPr>
        </p:nvSpPr>
        <p:spPr/>
        <p:txBody>
          <a:bodyPr/>
          <a:lstStyle/>
          <a:p>
            <a:fld id="{7D3A6E6C-C5AB-5E45-8D34-7FB9A51EE2CA}" type="slidenum">
              <a:rPr lang="en-US" smtClean="0"/>
              <a:t>13</a:t>
            </a:fld>
            <a:endParaRPr lang="en-US"/>
          </a:p>
        </p:txBody>
      </p:sp>
      <p:pic>
        <p:nvPicPr>
          <p:cNvPr id="7" name="Picture 6">
            <a:extLst>
              <a:ext uri="{FF2B5EF4-FFF2-40B4-BE49-F238E27FC236}">
                <a16:creationId xmlns:a16="http://schemas.microsoft.com/office/drawing/2014/main" id="{5A493195-5D94-D81F-DFD2-5B960FD4E555}"/>
              </a:ext>
            </a:extLst>
          </p:cNvPr>
          <p:cNvPicPr>
            <a:picLocks noChangeAspect="1"/>
          </p:cNvPicPr>
          <p:nvPr/>
        </p:nvPicPr>
        <p:blipFill>
          <a:blip r:embed="rId5"/>
          <a:stretch>
            <a:fillRect/>
          </a:stretch>
        </p:blipFill>
        <p:spPr>
          <a:xfrm>
            <a:off x="767240" y="2081786"/>
            <a:ext cx="10586560" cy="2438017"/>
          </a:xfrm>
          <a:prstGeom prst="rect">
            <a:avLst/>
          </a:prstGeom>
        </p:spPr>
      </p:pic>
      <p:sp>
        <p:nvSpPr>
          <p:cNvPr id="12" name="Rounded Rectangle 11">
            <a:extLst>
              <a:ext uri="{FF2B5EF4-FFF2-40B4-BE49-F238E27FC236}">
                <a16:creationId xmlns:a16="http://schemas.microsoft.com/office/drawing/2014/main" id="{7EC0E36C-D9F1-5FD4-BA8D-E4E13A4DB480}"/>
              </a:ext>
            </a:extLst>
          </p:cNvPr>
          <p:cNvSpPr/>
          <p:nvPr/>
        </p:nvSpPr>
        <p:spPr>
          <a:xfrm>
            <a:off x="1087099" y="2041180"/>
            <a:ext cx="2862943" cy="2972110"/>
          </a:xfrm>
          <a:prstGeom prst="roundRect">
            <a:avLst/>
          </a:prstGeom>
          <a:solidFill>
            <a:schemeClr val="accent1">
              <a:alpha val="36098"/>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54A34CA-E420-83B0-F94C-FF8977C41F44}"/>
              </a:ext>
            </a:extLst>
          </p:cNvPr>
          <p:cNvSpPr txBox="1"/>
          <p:nvPr/>
        </p:nvSpPr>
        <p:spPr>
          <a:xfrm>
            <a:off x="838200" y="1403633"/>
            <a:ext cx="3090783" cy="369332"/>
          </a:xfrm>
          <a:prstGeom prst="rect">
            <a:avLst/>
          </a:prstGeom>
          <a:noFill/>
        </p:spPr>
        <p:txBody>
          <a:bodyPr wrap="none" rtlCol="0">
            <a:spAutoFit/>
          </a:bodyPr>
          <a:lstStyle/>
          <a:p>
            <a:r>
              <a:rPr lang="en-US" b="1" i="1" dirty="0"/>
              <a:t>High-level project approach</a:t>
            </a:r>
          </a:p>
        </p:txBody>
      </p:sp>
    </p:spTree>
    <p:extLst>
      <p:ext uri="{BB962C8B-B14F-4D97-AF65-F5344CB8AC3E}">
        <p14:creationId xmlns:p14="http://schemas.microsoft.com/office/powerpoint/2010/main" val="305167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1ED1B-47AC-4EC3-8781-53D462BF801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43ED161-CDFF-5704-3AA4-B24C2B425844}"/>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id="{6C6C0D3D-8646-7E9C-6F59-AAB193EC7044}"/>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B7A48B9-C0A7-4A1F-F958-8919A3827E0C}"/>
              </a:ext>
            </a:extLst>
          </p:cNvPr>
          <p:cNvSpPr>
            <a:spLocks noGrp="1"/>
          </p:cNvSpPr>
          <p:nvPr>
            <p:ph type="title"/>
          </p:nvPr>
        </p:nvSpPr>
        <p:spPr/>
        <p:txBody>
          <a:bodyPr vert="horz" rIns="91440">
            <a:noAutofit/>
          </a:bodyPr>
          <a:lstStyle/>
          <a:p>
            <a:r>
              <a:rPr lang="en-US" dirty="0"/>
              <a:t>I chose to study Mexico because it has great data availability and documentation.</a:t>
            </a:r>
          </a:p>
        </p:txBody>
      </p:sp>
      <p:sp>
        <p:nvSpPr>
          <p:cNvPr id="3" name="Date Placeholder 2">
            <a:extLst>
              <a:ext uri="{FF2B5EF4-FFF2-40B4-BE49-F238E27FC236}">
                <a16:creationId xmlns:a16="http://schemas.microsoft.com/office/drawing/2014/main" id="{7F0DBBFB-1533-8C7A-1515-91B43D0A2CFA}"/>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8FDFDF0F-3736-7301-BC3A-2D74083E3CDE}"/>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F7586DF2-3EEF-5779-F660-14C73D6F91C7}"/>
              </a:ext>
            </a:extLst>
          </p:cNvPr>
          <p:cNvSpPr>
            <a:spLocks noGrp="1"/>
          </p:cNvSpPr>
          <p:nvPr>
            <p:ph type="sldNum" sz="quarter" idx="12"/>
          </p:nvPr>
        </p:nvSpPr>
        <p:spPr/>
        <p:txBody>
          <a:bodyPr/>
          <a:lstStyle/>
          <a:p>
            <a:fld id="{7D3A6E6C-C5AB-5E45-8D34-7FB9A51EE2CA}" type="slidenum">
              <a:rPr lang="en-US" smtClean="0"/>
              <a:t>14</a:t>
            </a:fld>
            <a:endParaRPr lang="en-US"/>
          </a:p>
        </p:txBody>
      </p:sp>
      <p:sp>
        <p:nvSpPr>
          <p:cNvPr id="11" name="TextBox 10">
            <a:extLst>
              <a:ext uri="{FF2B5EF4-FFF2-40B4-BE49-F238E27FC236}">
                <a16:creationId xmlns:a16="http://schemas.microsoft.com/office/drawing/2014/main" id="{2A813AB3-BA3D-D9AA-F237-8F14EB7ED582}"/>
              </a:ext>
            </a:extLst>
          </p:cNvPr>
          <p:cNvSpPr txBox="1"/>
          <p:nvPr/>
        </p:nvSpPr>
        <p:spPr>
          <a:xfrm>
            <a:off x="4120243" y="2136021"/>
            <a:ext cx="7295844"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Data is available for censuses ranging from </a:t>
            </a:r>
            <a:r>
              <a:rPr lang="en-US" sz="2000" b="1" dirty="0">
                <a:latin typeface="Arial" panose="020B0604020202020204" pitchFamily="34" charset="0"/>
                <a:cs typeface="Arial" panose="020B0604020202020204" pitchFamily="34" charset="0"/>
              </a:rPr>
              <a:t>1895–2020</a:t>
            </a:r>
          </a:p>
        </p:txBody>
      </p:sp>
      <p:pic>
        <p:nvPicPr>
          <p:cNvPr id="2050" name="Picture 2" descr="About - INEGI - The National Institute of Statistics and Geography of  Mexico - Organizations - OasisHUB">
            <a:extLst>
              <a:ext uri="{FF2B5EF4-FFF2-40B4-BE49-F238E27FC236}">
                <a16:creationId xmlns:a16="http://schemas.microsoft.com/office/drawing/2014/main" id="{E142EA7C-7A3E-CA88-6AC5-D9B681B040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1843378"/>
            <a:ext cx="3039762" cy="18009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1056CFA-82A7-5B46-D589-6803FD60EFF0}"/>
              </a:ext>
            </a:extLst>
          </p:cNvPr>
          <p:cNvSpPr txBox="1"/>
          <p:nvPr/>
        </p:nvSpPr>
        <p:spPr>
          <a:xfrm>
            <a:off x="4120243" y="2897979"/>
            <a:ext cx="7295844"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Population data reported at </a:t>
            </a:r>
            <a:r>
              <a:rPr lang="en-US" sz="2000" b="1" dirty="0">
                <a:latin typeface="Arial" panose="020B0604020202020204" pitchFamily="34" charset="0"/>
                <a:cs typeface="Arial" panose="020B0604020202020204" pitchFamily="34" charset="0"/>
              </a:rPr>
              <a:t>locality</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AGEB</a:t>
            </a:r>
            <a:r>
              <a:rPr lang="en-US" sz="2000" dirty="0">
                <a:latin typeface="Arial" panose="020B0604020202020204" pitchFamily="34" charset="0"/>
                <a:cs typeface="Arial" panose="020B0604020202020204" pitchFamily="34" charset="0"/>
              </a:rPr>
              <a:t> levels</a:t>
            </a:r>
          </a:p>
        </p:txBody>
      </p:sp>
      <p:sp>
        <p:nvSpPr>
          <p:cNvPr id="13" name="TextBox 12">
            <a:extLst>
              <a:ext uri="{FF2B5EF4-FFF2-40B4-BE49-F238E27FC236}">
                <a16:creationId xmlns:a16="http://schemas.microsoft.com/office/drawing/2014/main" id="{F4B92A00-0A63-366C-0115-4D9EB09408B5}"/>
              </a:ext>
            </a:extLst>
          </p:cNvPr>
          <p:cNvSpPr txBox="1"/>
          <p:nvPr/>
        </p:nvSpPr>
        <p:spPr>
          <a:xfrm>
            <a:off x="1915886" y="4075718"/>
            <a:ext cx="4408714" cy="163121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Locality represent human settlement. It’s any place inhabited with one or more dwellings that is known by a specific name (given by law or custom).</a:t>
            </a:r>
          </a:p>
        </p:txBody>
      </p:sp>
      <p:sp>
        <p:nvSpPr>
          <p:cNvPr id="14" name="TextBox 13">
            <a:extLst>
              <a:ext uri="{FF2B5EF4-FFF2-40B4-BE49-F238E27FC236}">
                <a16:creationId xmlns:a16="http://schemas.microsoft.com/office/drawing/2014/main" id="{B108D5F8-2682-EE8B-5DEC-F5A70F0D8BFE}"/>
              </a:ext>
            </a:extLst>
          </p:cNvPr>
          <p:cNvSpPr txBox="1"/>
          <p:nvPr/>
        </p:nvSpPr>
        <p:spPr>
          <a:xfrm>
            <a:off x="7304090" y="4075718"/>
            <a:ext cx="4408714" cy="132343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AGEBs are the fundamental geographic unit used for statistical data collection (similar to a </a:t>
            </a:r>
            <a:r>
              <a:rPr lang="en-US" sz="2000" b="1" dirty="0">
                <a:latin typeface="Arial" panose="020B0604020202020204" pitchFamily="34" charset="0"/>
                <a:cs typeface="Arial" panose="020B0604020202020204" pitchFamily="34" charset="0"/>
              </a:rPr>
              <a:t>Census Tract</a:t>
            </a:r>
            <a:r>
              <a:rPr lang="en-US" sz="2000" dirty="0">
                <a:latin typeface="Arial" panose="020B0604020202020204" pitchFamily="34" charset="0"/>
                <a:cs typeface="Arial" panose="020B0604020202020204" pitchFamily="34" charset="0"/>
              </a:rPr>
              <a:t> in the US).</a:t>
            </a:r>
          </a:p>
        </p:txBody>
      </p:sp>
      <p:cxnSp>
        <p:nvCxnSpPr>
          <p:cNvPr id="16" name="Straight Arrow Connector 15">
            <a:extLst>
              <a:ext uri="{FF2B5EF4-FFF2-40B4-BE49-F238E27FC236}">
                <a16:creationId xmlns:a16="http://schemas.microsoft.com/office/drawing/2014/main" id="{7CEDF273-3DC2-B5DE-F5DD-E3126DE618B2}"/>
              </a:ext>
            </a:extLst>
          </p:cNvPr>
          <p:cNvCxnSpPr>
            <a:cxnSpLocks/>
          </p:cNvCxnSpPr>
          <p:nvPr/>
        </p:nvCxnSpPr>
        <p:spPr>
          <a:xfrm flipH="1">
            <a:off x="4547824" y="3438760"/>
            <a:ext cx="3096352" cy="50701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5F5E5FE-C16F-A557-D2A0-889BCEBA5C86}"/>
              </a:ext>
            </a:extLst>
          </p:cNvPr>
          <p:cNvCxnSpPr>
            <a:cxnSpLocks/>
          </p:cNvCxnSpPr>
          <p:nvPr/>
        </p:nvCxnSpPr>
        <p:spPr>
          <a:xfrm>
            <a:off x="9021417" y="3317280"/>
            <a:ext cx="372762" cy="55477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0257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EE9BB-582D-9941-D6E0-5BD8EDE1F1F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C6C0D3D-8646-7E9C-6F59-AAB193EC7044}"/>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2175E5E8-7FA8-F033-57B1-B8658D868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8B6FA3E-C974-EB79-86A0-64180D13E293}"/>
              </a:ext>
            </a:extLst>
          </p:cNvPr>
          <p:cNvSpPr>
            <a:spLocks noGrp="1"/>
          </p:cNvSpPr>
          <p:nvPr>
            <p:ph type="title"/>
          </p:nvPr>
        </p:nvSpPr>
        <p:spPr/>
        <p:txBody>
          <a:bodyPr vert="horz" rIns="91440">
            <a:noAutofit/>
          </a:bodyPr>
          <a:lstStyle/>
          <a:p>
            <a:r>
              <a:rPr lang="en-US" dirty="0"/>
              <a:t>Creating the census polygons required merging data across different data types and sources (1/2)</a:t>
            </a:r>
          </a:p>
        </p:txBody>
      </p:sp>
      <p:sp>
        <p:nvSpPr>
          <p:cNvPr id="3" name="Date Placeholder 2">
            <a:extLst>
              <a:ext uri="{FF2B5EF4-FFF2-40B4-BE49-F238E27FC236}">
                <a16:creationId xmlns:a16="http://schemas.microsoft.com/office/drawing/2014/main" id="{CBDC14F1-B62E-D07E-0043-7683FA98AC14}"/>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B29DDF67-27A6-2481-64C5-1F1F6E28D876}"/>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9C5DFB40-76E2-A306-0C14-8DE1ACB28F58}"/>
              </a:ext>
            </a:extLst>
          </p:cNvPr>
          <p:cNvSpPr>
            <a:spLocks noGrp="1"/>
          </p:cNvSpPr>
          <p:nvPr>
            <p:ph type="sldNum" sz="quarter" idx="12"/>
          </p:nvPr>
        </p:nvSpPr>
        <p:spPr/>
        <p:txBody>
          <a:bodyPr/>
          <a:lstStyle/>
          <a:p>
            <a:fld id="{7D3A6E6C-C5AB-5E45-8D34-7FB9A51EE2CA}" type="slidenum">
              <a:rPr lang="en-US" smtClean="0"/>
              <a:t>15</a:t>
            </a:fld>
            <a:endParaRPr lang="en-US"/>
          </a:p>
        </p:txBody>
      </p:sp>
      <p:pic>
        <p:nvPicPr>
          <p:cNvPr id="8" name="Picture 7">
            <a:extLst>
              <a:ext uri="{FF2B5EF4-FFF2-40B4-BE49-F238E27FC236}">
                <a16:creationId xmlns:a16="http://schemas.microsoft.com/office/drawing/2014/main" id="{AEEEEAE2-5B0E-C619-4A9E-7C4CD8D50F1B}"/>
              </a:ext>
            </a:extLst>
          </p:cNvPr>
          <p:cNvPicPr>
            <a:picLocks noChangeAspect="1"/>
          </p:cNvPicPr>
          <p:nvPr/>
        </p:nvPicPr>
        <p:blipFill>
          <a:blip r:embed="rId5"/>
          <a:stretch>
            <a:fillRect/>
          </a:stretch>
        </p:blipFill>
        <p:spPr>
          <a:xfrm>
            <a:off x="838200" y="1764470"/>
            <a:ext cx="4114800" cy="3329059"/>
          </a:xfrm>
          <a:prstGeom prst="rect">
            <a:avLst/>
          </a:prstGeom>
        </p:spPr>
      </p:pic>
      <p:pic>
        <p:nvPicPr>
          <p:cNvPr id="9" name="Picture 8">
            <a:extLst>
              <a:ext uri="{FF2B5EF4-FFF2-40B4-BE49-F238E27FC236}">
                <a16:creationId xmlns:a16="http://schemas.microsoft.com/office/drawing/2014/main" id="{B4390005-783C-173F-B6E0-33B57FCD1A69}"/>
              </a:ext>
            </a:extLst>
          </p:cNvPr>
          <p:cNvPicPr>
            <a:picLocks noChangeAspect="1"/>
          </p:cNvPicPr>
          <p:nvPr/>
        </p:nvPicPr>
        <p:blipFill>
          <a:blip r:embed="rId6"/>
          <a:stretch>
            <a:fillRect/>
          </a:stretch>
        </p:blipFill>
        <p:spPr>
          <a:xfrm>
            <a:off x="6608121" y="1805221"/>
            <a:ext cx="5001346" cy="3247555"/>
          </a:xfrm>
          <a:prstGeom prst="rect">
            <a:avLst/>
          </a:prstGeom>
        </p:spPr>
      </p:pic>
      <p:sp>
        <p:nvSpPr>
          <p:cNvPr id="10" name="Plus 9">
            <a:extLst>
              <a:ext uri="{FF2B5EF4-FFF2-40B4-BE49-F238E27FC236}">
                <a16:creationId xmlns:a16="http://schemas.microsoft.com/office/drawing/2014/main" id="{F1E48DBF-B710-500D-0C0D-A9D2BAE3C4E6}"/>
              </a:ext>
            </a:extLst>
          </p:cNvPr>
          <p:cNvSpPr/>
          <p:nvPr/>
        </p:nvSpPr>
        <p:spPr>
          <a:xfrm>
            <a:off x="5475760" y="3028948"/>
            <a:ext cx="800100" cy="800100"/>
          </a:xfrm>
          <a:prstGeom prst="mathPlu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57AA713-9604-5A05-D0ED-53ACAAA871C2}"/>
              </a:ext>
            </a:extLst>
          </p:cNvPr>
          <p:cNvSpPr txBox="1"/>
          <p:nvPr/>
        </p:nvSpPr>
        <p:spPr>
          <a:xfrm>
            <a:off x="1009956" y="5355607"/>
            <a:ext cx="370492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Shapefiles for the locality and AGEB distinctions in Mexico </a:t>
            </a:r>
          </a:p>
        </p:txBody>
      </p:sp>
      <p:sp>
        <p:nvSpPr>
          <p:cNvPr id="12" name="TextBox 11">
            <a:extLst>
              <a:ext uri="{FF2B5EF4-FFF2-40B4-BE49-F238E27FC236}">
                <a16:creationId xmlns:a16="http://schemas.microsoft.com/office/drawing/2014/main" id="{68A90642-22E8-D43F-CBEC-706EAF29E88A}"/>
              </a:ext>
            </a:extLst>
          </p:cNvPr>
          <p:cNvSpPr txBox="1"/>
          <p:nvPr/>
        </p:nvSpPr>
        <p:spPr>
          <a:xfrm>
            <a:off x="6758140" y="5355607"/>
            <a:ext cx="370492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Population data from census at AGEB and locality levels</a:t>
            </a:r>
          </a:p>
        </p:txBody>
      </p:sp>
    </p:spTree>
    <p:extLst>
      <p:ext uri="{BB962C8B-B14F-4D97-AF65-F5344CB8AC3E}">
        <p14:creationId xmlns:p14="http://schemas.microsoft.com/office/powerpoint/2010/main" val="2575208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5D1B1-3E61-096F-0896-22948F70B25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175E5E8-7FA8-F033-57B1-B8658D868651}"/>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8D1E6CA6-DF7A-2DF9-02EB-4E1D92E045F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7BB22F-5781-8B6D-ED82-C0B85F6983B8}"/>
              </a:ext>
            </a:extLst>
          </p:cNvPr>
          <p:cNvSpPr>
            <a:spLocks noGrp="1"/>
          </p:cNvSpPr>
          <p:nvPr>
            <p:ph type="title"/>
          </p:nvPr>
        </p:nvSpPr>
        <p:spPr/>
        <p:txBody>
          <a:bodyPr vert="horz" rIns="91440">
            <a:noAutofit/>
          </a:bodyPr>
          <a:lstStyle/>
          <a:p>
            <a:r>
              <a:rPr lang="en-US" dirty="0"/>
              <a:t>Creating the census polygons required merging data across different data types and sources (2/2)</a:t>
            </a:r>
          </a:p>
        </p:txBody>
      </p:sp>
      <p:sp>
        <p:nvSpPr>
          <p:cNvPr id="3" name="Date Placeholder 2">
            <a:extLst>
              <a:ext uri="{FF2B5EF4-FFF2-40B4-BE49-F238E27FC236}">
                <a16:creationId xmlns:a16="http://schemas.microsoft.com/office/drawing/2014/main" id="{11299725-6C1C-9385-275C-D90BA203BA60}"/>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E9DEB39D-F713-BDD3-15BB-BE19829761A3}"/>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ACDB9703-B71B-B87F-7372-BE051CEDE3BB}"/>
              </a:ext>
            </a:extLst>
          </p:cNvPr>
          <p:cNvSpPr>
            <a:spLocks noGrp="1"/>
          </p:cNvSpPr>
          <p:nvPr>
            <p:ph type="sldNum" sz="quarter" idx="12"/>
          </p:nvPr>
        </p:nvSpPr>
        <p:spPr/>
        <p:txBody>
          <a:bodyPr/>
          <a:lstStyle/>
          <a:p>
            <a:fld id="{7D3A6E6C-C5AB-5E45-8D34-7FB9A51EE2CA}" type="slidenum">
              <a:rPr lang="en-US" smtClean="0"/>
              <a:t>16</a:t>
            </a:fld>
            <a:endParaRPr lang="en-US"/>
          </a:p>
        </p:txBody>
      </p:sp>
      <p:pic>
        <p:nvPicPr>
          <p:cNvPr id="9" name="Picture 2" descr="Lubbock &#10;Cosa Grande &#10;Mckinney &#10;Tucson &#10;Dallas &#10;Abilene &#10;Tyler &#10;.: Ciudad Nurez &#10;Milind &#10;SAN Angelo &#10;Colleyc &#10;Staten &#10;Baton Rouge &#10;ALFin &#10;Beaumont &#10;New Orleans &#10;Houston. &#10;Ciudad &#10;Brauntel &#10;Sar Antonio &#10;Nuevo Laredo &#10;das Matamoros &#10;Campeche: &#10;O &#10;De'pe &#10;Lazara King &#10;Carde 75 &#10;Belize &#10;partri &#10;La Ce &#10;Guatemala &#10;Sar, Pedro &#10;Sula &#10;Hot &#10;Tapáchiến &#10;Ciudad de Guatemala &#10;Tegucigal ">
            <a:extLst>
              <a:ext uri="{FF2B5EF4-FFF2-40B4-BE49-F238E27FC236}">
                <a16:creationId xmlns:a16="http://schemas.microsoft.com/office/drawing/2014/main" id="{3B14CB43-0C51-9DF8-10DC-14A3B600FF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9284" y="1690688"/>
            <a:ext cx="6184515" cy="408019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0185869-AC53-898F-0D39-F7E5584B1583}"/>
              </a:ext>
            </a:extLst>
          </p:cNvPr>
          <p:cNvSpPr txBox="1"/>
          <p:nvPr/>
        </p:nvSpPr>
        <p:spPr>
          <a:xfrm>
            <a:off x="7877731" y="2276157"/>
            <a:ext cx="238348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109,000 polygons!</a:t>
            </a:r>
          </a:p>
        </p:txBody>
      </p:sp>
      <p:sp>
        <p:nvSpPr>
          <p:cNvPr id="12" name="TextBox 11">
            <a:extLst>
              <a:ext uri="{FF2B5EF4-FFF2-40B4-BE49-F238E27FC236}">
                <a16:creationId xmlns:a16="http://schemas.microsoft.com/office/drawing/2014/main" id="{588D42B3-D005-4AAE-A2F0-12BD8FAEF2C8}"/>
              </a:ext>
            </a:extLst>
          </p:cNvPr>
          <p:cNvSpPr txBox="1"/>
          <p:nvPr/>
        </p:nvSpPr>
        <p:spPr>
          <a:xfrm>
            <a:off x="7877730" y="3027073"/>
            <a:ext cx="3476069" cy="1754326"/>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Black areas indicate polygons </a:t>
            </a:r>
            <a:r>
              <a:rPr lang="en-US" dirty="0">
                <a:latin typeface="Arial" panose="020B0604020202020204" pitchFamily="34" charset="0"/>
                <a:cs typeface="Arial" panose="020B0604020202020204" pitchFamily="34" charset="0"/>
              </a:rPr>
              <a:t>or areas where I have data on population</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Empty areas </a:t>
            </a:r>
            <a:r>
              <a:rPr lang="en-US" dirty="0">
                <a:latin typeface="Arial" panose="020B0604020202020204" pitchFamily="34" charset="0"/>
                <a:cs typeface="Arial" panose="020B0604020202020204" pitchFamily="34" charset="0"/>
              </a:rPr>
              <a:t>indicate areas with </a:t>
            </a:r>
            <a:r>
              <a:rPr lang="en-US" b="1" dirty="0">
                <a:latin typeface="Arial" panose="020B0604020202020204" pitchFamily="34" charset="0"/>
                <a:cs typeface="Arial" panose="020B0604020202020204" pitchFamily="34" charset="0"/>
              </a:rPr>
              <a:t>no recorded population</a:t>
            </a:r>
          </a:p>
        </p:txBody>
      </p:sp>
      <p:sp>
        <p:nvSpPr>
          <p:cNvPr id="14" name="TextBox 13">
            <a:extLst>
              <a:ext uri="{FF2B5EF4-FFF2-40B4-BE49-F238E27FC236}">
                <a16:creationId xmlns:a16="http://schemas.microsoft.com/office/drawing/2014/main" id="{E8B505F5-D60E-59B5-ECCD-179557FC6FA0}"/>
              </a:ext>
            </a:extLst>
          </p:cNvPr>
          <p:cNvSpPr txBox="1"/>
          <p:nvPr/>
        </p:nvSpPr>
        <p:spPr>
          <a:xfrm>
            <a:off x="7877730" y="5162984"/>
            <a:ext cx="347606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is the </a:t>
            </a:r>
            <a:r>
              <a:rPr lang="en-US" b="1" dirty="0">
                <a:latin typeface="Arial" panose="020B0604020202020204" pitchFamily="34" charset="0"/>
                <a:cs typeface="Arial" panose="020B0604020202020204" pitchFamily="34" charset="0"/>
              </a:rPr>
              <a:t>input for next step (</a:t>
            </a:r>
            <a:r>
              <a:rPr lang="en-US" b="1" dirty="0" err="1">
                <a:latin typeface="Arial" panose="020B0604020202020204" pitchFamily="34" charset="0"/>
                <a:cs typeface="Arial" panose="020B0604020202020204" pitchFamily="34" charset="0"/>
              </a:rPr>
              <a:t>AlphaEarth</a:t>
            </a:r>
            <a:r>
              <a:rPr lang="en-US" b="1" dirty="0">
                <a:latin typeface="Arial" panose="020B0604020202020204" pitchFamily="34" charset="0"/>
                <a:cs typeface="Arial" panose="020B0604020202020204" pitchFamily="34" charset="0"/>
              </a:rPr>
              <a:t> model)</a:t>
            </a:r>
          </a:p>
        </p:txBody>
      </p:sp>
    </p:spTree>
    <p:extLst>
      <p:ext uri="{BB962C8B-B14F-4D97-AF65-F5344CB8AC3E}">
        <p14:creationId xmlns:p14="http://schemas.microsoft.com/office/powerpoint/2010/main" val="1951346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E885F-0D49-CE70-BA6E-005F6C7E76E0}"/>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6A32A39-2203-9E83-3280-265A3DF75AAF}"/>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think-cell data - do not delete" hidden="1">
                        <a:extLst>
                          <a:ext uri="{FF2B5EF4-FFF2-40B4-BE49-F238E27FC236}">
                            <a16:creationId xmlns:a16="http://schemas.microsoft.com/office/drawing/2014/main" id="{A7B4841A-5251-0C86-DF80-A6B441C7F24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5777D48-FF17-AA56-C3C9-00C5C4C4BDDC}"/>
              </a:ext>
            </a:extLst>
          </p:cNvPr>
          <p:cNvSpPr>
            <a:spLocks noGrp="1"/>
          </p:cNvSpPr>
          <p:nvPr>
            <p:ph type="title"/>
          </p:nvPr>
        </p:nvSpPr>
        <p:spPr/>
        <p:txBody>
          <a:bodyPr vert="horz" rIns="91440">
            <a:normAutofit/>
          </a:bodyPr>
          <a:lstStyle/>
          <a:p>
            <a:r>
              <a:rPr lang="en-US" dirty="0"/>
              <a:t>Step 2: the Google </a:t>
            </a:r>
            <a:r>
              <a:rPr lang="en-US" dirty="0" err="1"/>
              <a:t>AlphaEarth</a:t>
            </a:r>
            <a:r>
              <a:rPr lang="en-US" dirty="0"/>
              <a:t> Foundation Model</a:t>
            </a:r>
          </a:p>
        </p:txBody>
      </p:sp>
      <p:sp>
        <p:nvSpPr>
          <p:cNvPr id="4" name="Date Placeholder 3">
            <a:extLst>
              <a:ext uri="{FF2B5EF4-FFF2-40B4-BE49-F238E27FC236}">
                <a16:creationId xmlns:a16="http://schemas.microsoft.com/office/drawing/2014/main" id="{B78CE7D6-9435-8CA3-3972-771187EF320D}"/>
              </a:ext>
            </a:extLst>
          </p:cNvPr>
          <p:cNvSpPr>
            <a:spLocks noGrp="1"/>
          </p:cNvSpPr>
          <p:nvPr>
            <p:ph type="dt" sz="half" idx="10"/>
          </p:nvPr>
        </p:nvSpPr>
        <p:spPr/>
        <p:txBody>
          <a:bodyPr/>
          <a:lstStyle/>
          <a:p>
            <a:fld id="{BC27EDE2-6E51-EE41-A436-6F979CE5A64B}" type="datetime4">
              <a:rPr lang="en-US" smtClean="0"/>
              <a:t>March 31, 2026</a:t>
            </a:fld>
            <a:endParaRPr lang="en-US" dirty="0"/>
          </a:p>
        </p:txBody>
      </p:sp>
      <p:sp>
        <p:nvSpPr>
          <p:cNvPr id="5" name="Footer Placeholder 4">
            <a:extLst>
              <a:ext uri="{FF2B5EF4-FFF2-40B4-BE49-F238E27FC236}">
                <a16:creationId xmlns:a16="http://schemas.microsoft.com/office/drawing/2014/main" id="{429A6B6A-E149-793C-6A1F-34C7C66F9ED0}"/>
              </a:ext>
            </a:extLst>
          </p:cNvPr>
          <p:cNvSpPr>
            <a:spLocks noGrp="1"/>
          </p:cNvSpPr>
          <p:nvPr>
            <p:ph type="ftr" sz="quarter" idx="11"/>
          </p:nvPr>
        </p:nvSpPr>
        <p:spPr/>
        <p:txBody>
          <a:bodyPr/>
          <a:lstStyle/>
          <a:p>
            <a:r>
              <a:rPr lang="en-US" dirty="0"/>
              <a:t>Jonathan Edwards College Paskus Mellon Forum </a:t>
            </a:r>
          </a:p>
        </p:txBody>
      </p:sp>
      <p:sp>
        <p:nvSpPr>
          <p:cNvPr id="6" name="Slide Number Placeholder 5">
            <a:extLst>
              <a:ext uri="{FF2B5EF4-FFF2-40B4-BE49-F238E27FC236}">
                <a16:creationId xmlns:a16="http://schemas.microsoft.com/office/drawing/2014/main" id="{1231F889-A2BA-2406-1413-79901E11C92E}"/>
              </a:ext>
            </a:extLst>
          </p:cNvPr>
          <p:cNvSpPr>
            <a:spLocks noGrp="1"/>
          </p:cNvSpPr>
          <p:nvPr>
            <p:ph type="sldNum" sz="quarter" idx="12"/>
          </p:nvPr>
        </p:nvSpPr>
        <p:spPr/>
        <p:txBody>
          <a:bodyPr/>
          <a:lstStyle/>
          <a:p>
            <a:fld id="{7D3A6E6C-C5AB-5E45-8D34-7FB9A51EE2CA}" type="slidenum">
              <a:rPr lang="en-US" smtClean="0"/>
              <a:t>17</a:t>
            </a:fld>
            <a:endParaRPr lang="en-US"/>
          </a:p>
        </p:txBody>
      </p:sp>
      <p:pic>
        <p:nvPicPr>
          <p:cNvPr id="7" name="Picture 6">
            <a:extLst>
              <a:ext uri="{FF2B5EF4-FFF2-40B4-BE49-F238E27FC236}">
                <a16:creationId xmlns:a16="http://schemas.microsoft.com/office/drawing/2014/main" id="{F66850BD-788B-A28F-E67C-5985F12933FB}"/>
              </a:ext>
            </a:extLst>
          </p:cNvPr>
          <p:cNvPicPr>
            <a:picLocks noChangeAspect="1"/>
          </p:cNvPicPr>
          <p:nvPr/>
        </p:nvPicPr>
        <p:blipFill>
          <a:blip r:embed="rId5"/>
          <a:stretch>
            <a:fillRect/>
          </a:stretch>
        </p:blipFill>
        <p:spPr>
          <a:xfrm>
            <a:off x="767240" y="2081786"/>
            <a:ext cx="10586560" cy="2438017"/>
          </a:xfrm>
          <a:prstGeom prst="rect">
            <a:avLst/>
          </a:prstGeom>
        </p:spPr>
      </p:pic>
      <p:sp>
        <p:nvSpPr>
          <p:cNvPr id="12" name="Rounded Rectangle 11">
            <a:extLst>
              <a:ext uri="{FF2B5EF4-FFF2-40B4-BE49-F238E27FC236}">
                <a16:creationId xmlns:a16="http://schemas.microsoft.com/office/drawing/2014/main" id="{FEA8BF5B-6959-72BD-7894-498DA3FE4DED}"/>
              </a:ext>
            </a:extLst>
          </p:cNvPr>
          <p:cNvSpPr/>
          <p:nvPr/>
        </p:nvSpPr>
        <p:spPr>
          <a:xfrm>
            <a:off x="3725119" y="2041180"/>
            <a:ext cx="2862943" cy="2972110"/>
          </a:xfrm>
          <a:prstGeom prst="roundRect">
            <a:avLst/>
          </a:prstGeom>
          <a:solidFill>
            <a:schemeClr val="accent1">
              <a:alpha val="36098"/>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5DFD0BE-D99D-373A-D583-E6DAA2561395}"/>
              </a:ext>
            </a:extLst>
          </p:cNvPr>
          <p:cNvSpPr txBox="1"/>
          <p:nvPr/>
        </p:nvSpPr>
        <p:spPr>
          <a:xfrm>
            <a:off x="838200" y="1403633"/>
            <a:ext cx="3090783" cy="369332"/>
          </a:xfrm>
          <a:prstGeom prst="rect">
            <a:avLst/>
          </a:prstGeom>
          <a:noFill/>
        </p:spPr>
        <p:txBody>
          <a:bodyPr wrap="none" rtlCol="0">
            <a:spAutoFit/>
          </a:bodyPr>
          <a:lstStyle/>
          <a:p>
            <a:r>
              <a:rPr lang="en-US" b="1" i="1" dirty="0"/>
              <a:t>High-level project approach</a:t>
            </a:r>
          </a:p>
        </p:txBody>
      </p:sp>
    </p:spTree>
    <p:extLst>
      <p:ext uri="{BB962C8B-B14F-4D97-AF65-F5344CB8AC3E}">
        <p14:creationId xmlns:p14="http://schemas.microsoft.com/office/powerpoint/2010/main" val="1944012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3CE6242-830F-2968-D8D6-464D9CD5B1DF}"/>
              </a:ext>
            </a:extLst>
          </p:cNvPr>
          <p:cNvGraphicFramePr>
            <a:graphicFrameLocks/>
          </p:cNvGraphicFramePr>
          <p:nvPr>
            <p:custDataLst>
              <p:tags r:id="rId1"/>
            </p:custDataLst>
            <p:extLst>
              <p:ext uri="{D42A27DB-BD31-4B8C-83A1-F6EECF244321}">
                <p14:modId xmlns:p14="http://schemas.microsoft.com/office/powerpoint/2010/main" val="3318857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3822B5-7E16-54D6-3CE1-742988C62A9C}"/>
              </a:ext>
            </a:extLst>
          </p:cNvPr>
          <p:cNvSpPr>
            <a:spLocks noGrp="1"/>
          </p:cNvSpPr>
          <p:nvPr>
            <p:ph type="title"/>
          </p:nvPr>
        </p:nvSpPr>
        <p:spPr/>
        <p:txBody>
          <a:bodyPr vert="horz" rIns="91440"/>
          <a:lstStyle/>
          <a:p>
            <a:r>
              <a:rPr lang="en-US" dirty="0"/>
              <a:t>Google’s </a:t>
            </a:r>
            <a:r>
              <a:rPr lang="en-US" dirty="0" err="1"/>
              <a:t>AlphaEarth</a:t>
            </a:r>
            <a:r>
              <a:rPr lang="en-US" dirty="0"/>
              <a:t> foundation model is a recently released state-of-the-art geospatial foundation model</a:t>
            </a:r>
          </a:p>
        </p:txBody>
      </p:sp>
      <p:sp>
        <p:nvSpPr>
          <p:cNvPr id="3" name="Date Placeholder 2">
            <a:extLst>
              <a:ext uri="{FF2B5EF4-FFF2-40B4-BE49-F238E27FC236}">
                <a16:creationId xmlns:a16="http://schemas.microsoft.com/office/drawing/2014/main" id="{F70B463A-2620-D774-EA0C-682D7C8B2859}"/>
              </a:ext>
            </a:extLst>
          </p:cNvPr>
          <p:cNvSpPr>
            <a:spLocks noGrp="1"/>
          </p:cNvSpPr>
          <p:nvPr>
            <p:ph type="dt" sz="half" idx="10"/>
          </p:nvPr>
        </p:nvSpPr>
        <p:spPr/>
        <p:txBody>
          <a:bodyPr/>
          <a:lstStyle/>
          <a:p>
            <a:fld id="{26859444-D652-6A4E-9373-AAD8DF4750C9}" type="datetime4">
              <a:rPr lang="en-US" smtClean="0"/>
              <a:t>March 31, 2026</a:t>
            </a:fld>
            <a:endParaRPr lang="en-US" dirty="0"/>
          </a:p>
        </p:txBody>
      </p:sp>
      <p:sp>
        <p:nvSpPr>
          <p:cNvPr id="4" name="Footer Placeholder 3">
            <a:extLst>
              <a:ext uri="{FF2B5EF4-FFF2-40B4-BE49-F238E27FC236}">
                <a16:creationId xmlns:a16="http://schemas.microsoft.com/office/drawing/2014/main" id="{B18AF9B8-B74A-E79C-1E23-C111892C6B4F}"/>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6E926727-7B34-AF0F-171C-11D55503E9BD}"/>
              </a:ext>
            </a:extLst>
          </p:cNvPr>
          <p:cNvSpPr>
            <a:spLocks noGrp="1"/>
          </p:cNvSpPr>
          <p:nvPr>
            <p:ph type="sldNum" sz="quarter" idx="12"/>
          </p:nvPr>
        </p:nvSpPr>
        <p:spPr/>
        <p:txBody>
          <a:bodyPr/>
          <a:lstStyle/>
          <a:p>
            <a:fld id="{7D3A6E6C-C5AB-5E45-8D34-7FB9A51EE2CA}" type="slidenum">
              <a:rPr lang="en-US" smtClean="0"/>
              <a:t>18</a:t>
            </a:fld>
            <a:endParaRPr lang="en-US"/>
          </a:p>
        </p:txBody>
      </p:sp>
      <p:sp>
        <p:nvSpPr>
          <p:cNvPr id="7" name="TextBox 6">
            <a:extLst>
              <a:ext uri="{FF2B5EF4-FFF2-40B4-BE49-F238E27FC236}">
                <a16:creationId xmlns:a16="http://schemas.microsoft.com/office/drawing/2014/main" id="{81E747BF-F7BF-0A33-AED3-7E919CA07E6B}"/>
              </a:ext>
            </a:extLst>
          </p:cNvPr>
          <p:cNvSpPr txBox="1"/>
          <p:nvPr/>
        </p:nvSpPr>
        <p:spPr>
          <a:xfrm>
            <a:off x="5586093" y="1876004"/>
            <a:ext cx="6049013" cy="372409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Released in 2025</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Has </a:t>
            </a:r>
            <a:r>
              <a:rPr lang="en-US" b="1" dirty="0">
                <a:latin typeface="Arial" panose="020B0604020202020204" pitchFamily="34" charset="0"/>
                <a:cs typeface="Arial" panose="020B0604020202020204" pitchFamily="34" charset="0"/>
              </a:rPr>
              <a:t>data from 2017– present day</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10m by 10m resolution</a:t>
            </a:r>
            <a:r>
              <a:rPr lang="en-US" dirty="0">
                <a:latin typeface="Arial" panose="020B0604020202020204" pitchFamily="34" charset="0"/>
                <a:cs typeface="Arial" panose="020B0604020202020204" pitchFamily="34" charset="0"/>
              </a:rPr>
              <a:t>. For each 10m x 10m patch of earth’s surface, it generates 64 number “embedding” that describes that area.</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Total: </a:t>
            </a:r>
            <a:r>
              <a:rPr lang="en-US" b="1" dirty="0">
                <a:latin typeface="Arial" panose="020B0604020202020204" pitchFamily="34" charset="0"/>
                <a:cs typeface="Arial" panose="020B0604020202020204" pitchFamily="34" charset="0"/>
              </a:rPr>
              <a:t>96 trillion points of data.</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Earth’s surface area = 150 million </a:t>
            </a:r>
            <a:r>
              <a:rPr lang="en-US" sz="1400" dirty="0" err="1">
                <a:latin typeface="Arial" panose="020B0604020202020204" pitchFamily="34" charset="0"/>
                <a:cs typeface="Arial" panose="020B0604020202020204" pitchFamily="34" charset="0"/>
              </a:rPr>
              <a:t>sqkm</a:t>
            </a:r>
            <a:r>
              <a:rPr lang="en-US" sz="1400" dirty="0">
                <a:latin typeface="Arial" panose="020B0604020202020204" pitchFamily="34" charset="0"/>
                <a:cs typeface="Arial" panose="020B0604020202020204" pitchFamily="34" charset="0"/>
              </a:rPr>
              <a:t> = 150 trillion sqm. </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With 10m x 10m resolution, </a:t>
            </a:r>
            <a:r>
              <a:rPr lang="en-US" sz="1400" dirty="0" err="1">
                <a:latin typeface="Arial" panose="020B0604020202020204" pitchFamily="34" charset="0"/>
                <a:cs typeface="Arial" panose="020B0604020202020204" pitchFamily="34" charset="0"/>
              </a:rPr>
              <a:t>AlphaEarth</a:t>
            </a:r>
            <a:r>
              <a:rPr lang="en-US" sz="1400" dirty="0">
                <a:latin typeface="Arial" panose="020B0604020202020204" pitchFamily="34" charset="0"/>
                <a:cs typeface="Arial" panose="020B0604020202020204" pitchFamily="34" charset="0"/>
              </a:rPr>
              <a:t> distills Earth’s surface area into 1.5 trillion patches of land. </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For each patch, it assigns 64 numbers describing it</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pic>
        <p:nvPicPr>
          <p:cNvPr id="5122" name="Picture 2" descr="AlphaEarth Foundations helps map our planet in unprecedented detail —  Google DeepMind">
            <a:extLst>
              <a:ext uri="{FF2B5EF4-FFF2-40B4-BE49-F238E27FC236}">
                <a16:creationId xmlns:a16="http://schemas.microsoft.com/office/drawing/2014/main" id="{8560FBD4-7612-185D-B2DF-6E02228B76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261621"/>
            <a:ext cx="4590629" cy="2582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789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C32BA-DF2A-B762-9C33-B8307EE026A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9AB3B50-D658-08A9-5CDD-F937E6F727F3}"/>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think-cell data - do not delete" hidden="1">
                        <a:extLst>
                          <a:ext uri="{FF2B5EF4-FFF2-40B4-BE49-F238E27FC236}">
                            <a16:creationId xmlns:a16="http://schemas.microsoft.com/office/drawing/2014/main" id="{26A32A39-2203-9E83-3280-265A3DF75AA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5DB4EA-B582-696A-E065-5DAAC8B38CDA}"/>
              </a:ext>
            </a:extLst>
          </p:cNvPr>
          <p:cNvSpPr>
            <a:spLocks noGrp="1"/>
          </p:cNvSpPr>
          <p:nvPr>
            <p:ph type="title"/>
          </p:nvPr>
        </p:nvSpPr>
        <p:spPr/>
        <p:txBody>
          <a:bodyPr vert="horz" rIns="91440">
            <a:normAutofit/>
          </a:bodyPr>
          <a:lstStyle/>
          <a:p>
            <a:r>
              <a:rPr lang="en-US" dirty="0"/>
              <a:t>Step 3: Prediction</a:t>
            </a:r>
          </a:p>
        </p:txBody>
      </p:sp>
      <p:sp>
        <p:nvSpPr>
          <p:cNvPr id="4" name="Date Placeholder 3">
            <a:extLst>
              <a:ext uri="{FF2B5EF4-FFF2-40B4-BE49-F238E27FC236}">
                <a16:creationId xmlns:a16="http://schemas.microsoft.com/office/drawing/2014/main" id="{F9EAB353-C00C-13ED-5411-ED0290E36DBB}"/>
              </a:ext>
            </a:extLst>
          </p:cNvPr>
          <p:cNvSpPr>
            <a:spLocks noGrp="1"/>
          </p:cNvSpPr>
          <p:nvPr>
            <p:ph type="dt" sz="half" idx="10"/>
          </p:nvPr>
        </p:nvSpPr>
        <p:spPr/>
        <p:txBody>
          <a:bodyPr/>
          <a:lstStyle/>
          <a:p>
            <a:fld id="{BC27EDE2-6E51-EE41-A436-6F979CE5A64B}" type="datetime4">
              <a:rPr lang="en-US" smtClean="0"/>
              <a:t>March 31, 2026</a:t>
            </a:fld>
            <a:endParaRPr lang="en-US" dirty="0"/>
          </a:p>
        </p:txBody>
      </p:sp>
      <p:sp>
        <p:nvSpPr>
          <p:cNvPr id="5" name="Footer Placeholder 4">
            <a:extLst>
              <a:ext uri="{FF2B5EF4-FFF2-40B4-BE49-F238E27FC236}">
                <a16:creationId xmlns:a16="http://schemas.microsoft.com/office/drawing/2014/main" id="{1BF2E782-618B-FA05-727A-F36323103613}"/>
              </a:ext>
            </a:extLst>
          </p:cNvPr>
          <p:cNvSpPr>
            <a:spLocks noGrp="1"/>
          </p:cNvSpPr>
          <p:nvPr>
            <p:ph type="ftr" sz="quarter" idx="11"/>
          </p:nvPr>
        </p:nvSpPr>
        <p:spPr/>
        <p:txBody>
          <a:bodyPr/>
          <a:lstStyle/>
          <a:p>
            <a:r>
              <a:rPr lang="en-US" dirty="0"/>
              <a:t>Jonathan Edwards College Paskus Mellon Forum </a:t>
            </a:r>
          </a:p>
        </p:txBody>
      </p:sp>
      <p:sp>
        <p:nvSpPr>
          <p:cNvPr id="6" name="Slide Number Placeholder 5">
            <a:extLst>
              <a:ext uri="{FF2B5EF4-FFF2-40B4-BE49-F238E27FC236}">
                <a16:creationId xmlns:a16="http://schemas.microsoft.com/office/drawing/2014/main" id="{B66FB88A-3CD6-2651-0578-BB2C56205D3C}"/>
              </a:ext>
            </a:extLst>
          </p:cNvPr>
          <p:cNvSpPr>
            <a:spLocks noGrp="1"/>
          </p:cNvSpPr>
          <p:nvPr>
            <p:ph type="sldNum" sz="quarter" idx="12"/>
          </p:nvPr>
        </p:nvSpPr>
        <p:spPr/>
        <p:txBody>
          <a:bodyPr/>
          <a:lstStyle/>
          <a:p>
            <a:fld id="{7D3A6E6C-C5AB-5E45-8D34-7FB9A51EE2CA}" type="slidenum">
              <a:rPr lang="en-US" smtClean="0"/>
              <a:t>19</a:t>
            </a:fld>
            <a:endParaRPr lang="en-US"/>
          </a:p>
        </p:txBody>
      </p:sp>
      <p:pic>
        <p:nvPicPr>
          <p:cNvPr id="7" name="Picture 6">
            <a:extLst>
              <a:ext uri="{FF2B5EF4-FFF2-40B4-BE49-F238E27FC236}">
                <a16:creationId xmlns:a16="http://schemas.microsoft.com/office/drawing/2014/main" id="{14C500CB-2C6D-FCCA-ACF1-8C12D5A7290A}"/>
              </a:ext>
            </a:extLst>
          </p:cNvPr>
          <p:cNvPicPr>
            <a:picLocks noChangeAspect="1"/>
          </p:cNvPicPr>
          <p:nvPr/>
        </p:nvPicPr>
        <p:blipFill>
          <a:blip r:embed="rId5"/>
          <a:stretch>
            <a:fillRect/>
          </a:stretch>
        </p:blipFill>
        <p:spPr>
          <a:xfrm>
            <a:off x="767240" y="2081786"/>
            <a:ext cx="10586560" cy="2438017"/>
          </a:xfrm>
          <a:prstGeom prst="rect">
            <a:avLst/>
          </a:prstGeom>
        </p:spPr>
      </p:pic>
      <p:sp>
        <p:nvSpPr>
          <p:cNvPr id="12" name="Rounded Rectangle 11">
            <a:extLst>
              <a:ext uri="{FF2B5EF4-FFF2-40B4-BE49-F238E27FC236}">
                <a16:creationId xmlns:a16="http://schemas.microsoft.com/office/drawing/2014/main" id="{21C6707F-F138-5A2E-2ACE-925DE9492701}"/>
              </a:ext>
            </a:extLst>
          </p:cNvPr>
          <p:cNvSpPr/>
          <p:nvPr/>
        </p:nvSpPr>
        <p:spPr>
          <a:xfrm>
            <a:off x="6721928" y="2041180"/>
            <a:ext cx="4226158" cy="2972110"/>
          </a:xfrm>
          <a:prstGeom prst="roundRect">
            <a:avLst/>
          </a:prstGeom>
          <a:solidFill>
            <a:schemeClr val="accent1">
              <a:alpha val="36098"/>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B02EF7C-ED27-E212-D6B0-283AD1746667}"/>
              </a:ext>
            </a:extLst>
          </p:cNvPr>
          <p:cNvSpPr txBox="1"/>
          <p:nvPr/>
        </p:nvSpPr>
        <p:spPr>
          <a:xfrm>
            <a:off x="838200" y="1403633"/>
            <a:ext cx="3090783" cy="369332"/>
          </a:xfrm>
          <a:prstGeom prst="rect">
            <a:avLst/>
          </a:prstGeom>
          <a:noFill/>
        </p:spPr>
        <p:txBody>
          <a:bodyPr wrap="none" rtlCol="0">
            <a:spAutoFit/>
          </a:bodyPr>
          <a:lstStyle/>
          <a:p>
            <a:r>
              <a:rPr lang="en-US" b="1" i="1" dirty="0"/>
              <a:t>High-level project approach</a:t>
            </a:r>
          </a:p>
        </p:txBody>
      </p:sp>
    </p:spTree>
    <p:extLst>
      <p:ext uri="{BB962C8B-B14F-4D97-AF65-F5344CB8AC3E}">
        <p14:creationId xmlns:p14="http://schemas.microsoft.com/office/powerpoint/2010/main" val="2986995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A81CE-147C-AF75-86C8-CC592326260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A79BBAF-3071-F071-F960-3010AC1607E0}"/>
              </a:ext>
            </a:extLst>
          </p:cNvPr>
          <p:cNvGraphicFramePr>
            <a:graphicFrameLocks/>
          </p:cNvGraphicFramePr>
          <p:nvPr>
            <p:custDataLst>
              <p:tags r:id="rId1"/>
            </p:custDataLst>
            <p:extLst>
              <p:ext uri="{D42A27DB-BD31-4B8C-83A1-F6EECF244321}">
                <p14:modId xmlns:p14="http://schemas.microsoft.com/office/powerpoint/2010/main" val="20557396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A3CE6242-830F-2968-D8D6-464D9CD5B1D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6146" name="Picture 2" descr="What is Machine Learning Model Training? | Opinosis Analytics">
            <a:extLst>
              <a:ext uri="{FF2B5EF4-FFF2-40B4-BE49-F238E27FC236}">
                <a16:creationId xmlns:a16="http://schemas.microsoft.com/office/drawing/2014/main" id="{1F29C5AA-ECC3-2FF2-9C67-EB6F5010341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3958"/>
          <a:stretch>
            <a:fillRect/>
          </a:stretch>
        </p:blipFill>
        <p:spPr bwMode="auto">
          <a:xfrm>
            <a:off x="2209800" y="1354795"/>
            <a:ext cx="7039989" cy="43313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11DC93F-A289-91D9-B2BB-A9CFC8813CA7}"/>
              </a:ext>
            </a:extLst>
          </p:cNvPr>
          <p:cNvSpPr>
            <a:spLocks noGrp="1"/>
          </p:cNvSpPr>
          <p:nvPr>
            <p:ph type="title"/>
          </p:nvPr>
        </p:nvSpPr>
        <p:spPr/>
        <p:txBody>
          <a:bodyPr vert="horz" rIns="91440"/>
          <a:lstStyle/>
          <a:p>
            <a:r>
              <a:rPr lang="en-US" dirty="0"/>
              <a:t>Model specifics</a:t>
            </a:r>
          </a:p>
        </p:txBody>
      </p:sp>
      <p:sp>
        <p:nvSpPr>
          <p:cNvPr id="3" name="Date Placeholder 2">
            <a:extLst>
              <a:ext uri="{FF2B5EF4-FFF2-40B4-BE49-F238E27FC236}">
                <a16:creationId xmlns:a16="http://schemas.microsoft.com/office/drawing/2014/main" id="{8BD11933-653C-7383-323A-580B6608478C}"/>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0989D683-E163-AE4C-BF9F-93A971DF0B2B}"/>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78A46AE9-006D-193F-E599-0F4B3D8EF395}"/>
              </a:ext>
            </a:extLst>
          </p:cNvPr>
          <p:cNvSpPr>
            <a:spLocks noGrp="1"/>
          </p:cNvSpPr>
          <p:nvPr>
            <p:ph type="sldNum" sz="quarter" idx="12"/>
          </p:nvPr>
        </p:nvSpPr>
        <p:spPr/>
        <p:txBody>
          <a:bodyPr/>
          <a:lstStyle/>
          <a:p>
            <a:fld id="{7D3A6E6C-C5AB-5E45-8D34-7FB9A51EE2CA}" type="slidenum">
              <a:rPr lang="en-US" smtClean="0"/>
              <a:t>20</a:t>
            </a:fld>
            <a:endParaRPr lang="en-US"/>
          </a:p>
        </p:txBody>
      </p:sp>
      <p:sp>
        <p:nvSpPr>
          <p:cNvPr id="7" name="TextBox 6">
            <a:extLst>
              <a:ext uri="{FF2B5EF4-FFF2-40B4-BE49-F238E27FC236}">
                <a16:creationId xmlns:a16="http://schemas.microsoft.com/office/drawing/2014/main" id="{4B51A013-8E0A-6F4D-7F51-CF0A19BEABDD}"/>
              </a:ext>
            </a:extLst>
          </p:cNvPr>
          <p:cNvSpPr txBox="1"/>
          <p:nvPr/>
        </p:nvSpPr>
        <p:spPr>
          <a:xfrm>
            <a:off x="457199" y="3767636"/>
            <a:ext cx="2643809"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From </a:t>
            </a:r>
            <a:r>
              <a:rPr lang="en-US" dirty="0" err="1">
                <a:latin typeface="Arial" panose="020B0604020202020204" pitchFamily="34" charset="0"/>
                <a:cs typeface="Arial" panose="020B0604020202020204" pitchFamily="34" charset="0"/>
              </a:rPr>
              <a:t>AlphaEarth</a:t>
            </a:r>
            <a:r>
              <a:rPr lang="en-US" dirty="0">
                <a:latin typeface="Arial" panose="020B0604020202020204" pitchFamily="34" charset="0"/>
                <a:cs typeface="Arial" panose="020B0604020202020204" pitchFamily="34" charset="0"/>
              </a:rPr>
              <a:t>, we get 64 numbers describing each of the 109k polygons </a:t>
            </a:r>
          </a:p>
        </p:txBody>
      </p:sp>
      <p:sp>
        <p:nvSpPr>
          <p:cNvPr id="8" name="TextBox 7">
            <a:extLst>
              <a:ext uri="{FF2B5EF4-FFF2-40B4-BE49-F238E27FC236}">
                <a16:creationId xmlns:a16="http://schemas.microsoft.com/office/drawing/2014/main" id="{063F2278-264E-96CA-3AA9-2E3E351AAA13}"/>
              </a:ext>
            </a:extLst>
          </p:cNvPr>
          <p:cNvSpPr txBox="1"/>
          <p:nvPr/>
        </p:nvSpPr>
        <p:spPr>
          <a:xfrm>
            <a:off x="7248896" y="3071542"/>
            <a:ext cx="5275613"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Feed these this dataset into a machine learning model that learns patterns/trends between these 64 numbers and true population count</a:t>
            </a:r>
          </a:p>
        </p:txBody>
      </p:sp>
      <p:sp>
        <p:nvSpPr>
          <p:cNvPr id="10" name="TextBox 9">
            <a:extLst>
              <a:ext uri="{FF2B5EF4-FFF2-40B4-BE49-F238E27FC236}">
                <a16:creationId xmlns:a16="http://schemas.microsoft.com/office/drawing/2014/main" id="{07DC35AA-8531-4C1B-F301-D897519398D2}"/>
              </a:ext>
            </a:extLst>
          </p:cNvPr>
          <p:cNvSpPr txBox="1"/>
          <p:nvPr/>
        </p:nvSpPr>
        <p:spPr>
          <a:xfrm>
            <a:off x="7839693" y="5375726"/>
            <a:ext cx="4094018"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Test it on an out of sample data and evaluate how well it performs</a:t>
            </a:r>
          </a:p>
        </p:txBody>
      </p:sp>
      <p:sp>
        <p:nvSpPr>
          <p:cNvPr id="9" name="TextBox 8">
            <a:extLst>
              <a:ext uri="{FF2B5EF4-FFF2-40B4-BE49-F238E27FC236}">
                <a16:creationId xmlns:a16="http://schemas.microsoft.com/office/drawing/2014/main" id="{BC219932-01FE-897F-2E38-8DB78FFC186F}"/>
              </a:ext>
            </a:extLst>
          </p:cNvPr>
          <p:cNvSpPr txBox="1"/>
          <p:nvPr/>
        </p:nvSpPr>
        <p:spPr>
          <a:xfrm>
            <a:off x="6257866" y="1356395"/>
            <a:ext cx="5095934"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Label the dataset with the “true” population density (population in polygon / area of polygon) for each polygon from the Mexican census</a:t>
            </a:r>
          </a:p>
        </p:txBody>
      </p:sp>
    </p:spTree>
    <p:extLst>
      <p:ext uri="{BB962C8B-B14F-4D97-AF65-F5344CB8AC3E}">
        <p14:creationId xmlns:p14="http://schemas.microsoft.com/office/powerpoint/2010/main" val="2588443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D12EB-6E59-C81C-51CC-3D2AF67B5E42}"/>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5A203DA-2F49-C425-918E-D955AA46D139}"/>
              </a:ext>
            </a:extLst>
          </p:cNvPr>
          <p:cNvGraphicFramePr>
            <a:graphicFrameLocks/>
          </p:cNvGraphicFramePr>
          <p:nvPr>
            <p:custDataLst>
              <p:tags r:id="rId1"/>
            </p:custDataLst>
            <p:extLst>
              <p:ext uri="{D42A27DB-BD31-4B8C-83A1-F6EECF244321}">
                <p14:modId xmlns:p14="http://schemas.microsoft.com/office/powerpoint/2010/main" val="42921564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7" name="think-cell data - do not delete" hidden="1">
                        <a:extLst>
                          <a:ext uri="{FF2B5EF4-FFF2-40B4-BE49-F238E27FC236}">
                            <a16:creationId xmlns:a16="http://schemas.microsoft.com/office/drawing/2014/main" id="{9C3148CF-FAC4-8E3D-5B99-3990DCFD5146}"/>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9" name="Text Placeholder 2">
            <a:hlinkClick r:id="rId9" action="ppaction://hlinksldjump"/>
            <a:extLst>
              <a:ext uri="{FF2B5EF4-FFF2-40B4-BE49-F238E27FC236}">
                <a16:creationId xmlns:a16="http://schemas.microsoft.com/office/drawing/2014/main" id="{43CC6C3F-4BCE-3DA7-0BD1-4CC172926F17}"/>
              </a:ext>
            </a:extLst>
          </p:cNvPr>
          <p:cNvSpPr txBox="1">
            <a:spLocks/>
          </p:cNvSpPr>
          <p:nvPr>
            <p:custDataLst>
              <p:tags r:id="rId2"/>
            </p:custDataLst>
          </p:nvPr>
        </p:nvSpPr>
        <p:spPr bwMode="auto">
          <a:xfrm>
            <a:off x="5172075" y="2568575"/>
            <a:ext cx="1847850" cy="430213"/>
          </a:xfrm>
          <a:prstGeom prst="rect">
            <a:avLst/>
          </a:prstGeom>
          <a:solidFill>
            <a:schemeClr val="bg2"/>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Motivation</a:t>
            </a:r>
            <a:endParaRPr lang="en-US" dirty="0">
              <a:cs typeface="+mn-cs"/>
            </a:endParaRPr>
          </a:p>
        </p:txBody>
      </p:sp>
      <p:sp>
        <p:nvSpPr>
          <p:cNvPr id="13" name="Text Placeholder 2">
            <a:hlinkClick r:id="rId10" action="ppaction://hlinksldjump"/>
            <a:extLst>
              <a:ext uri="{FF2B5EF4-FFF2-40B4-BE49-F238E27FC236}">
                <a16:creationId xmlns:a16="http://schemas.microsoft.com/office/drawing/2014/main" id="{93239E44-9674-A0C1-AD36-273141858288}"/>
              </a:ext>
            </a:extLst>
          </p:cNvPr>
          <p:cNvSpPr txBox="1">
            <a:spLocks/>
          </p:cNvSpPr>
          <p:nvPr>
            <p:custDataLst>
              <p:tags r:id="rId3"/>
            </p:custDataLst>
          </p:nvPr>
        </p:nvSpPr>
        <p:spPr bwMode="auto">
          <a:xfrm>
            <a:off x="5172075" y="2998788"/>
            <a:ext cx="1847850" cy="430213"/>
          </a:xfrm>
          <a:prstGeom prst="rect">
            <a:avLst/>
          </a:prstGeom>
          <a:solidFill>
            <a:schemeClr val="bg2"/>
          </a:solidFill>
          <a:ln w="38100" cmpd="sng">
            <a:solidFill>
              <a:schemeClr val="bg1"/>
            </a:solidFill>
          </a:ln>
          <a:effectLst/>
        </p:spPr>
        <p:txBody>
          <a:bodyPr vert="horz" wrap="none" lIns="91440" tIns="90488" rIns="0" bIns="920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a:effectLst/>
                <a:cs typeface="+mn-cs"/>
              </a:rPr>
              <a:t>Intervention</a:t>
            </a:r>
            <a:endParaRPr lang="en-US" dirty="0">
              <a:cs typeface="+mn-cs"/>
            </a:endParaRPr>
          </a:p>
        </p:txBody>
      </p:sp>
      <p:sp>
        <p:nvSpPr>
          <p:cNvPr id="12" name="Text Placeholder 2">
            <a:hlinkClick r:id="rId11" action="ppaction://hlinksldjump"/>
            <a:extLst>
              <a:ext uri="{FF2B5EF4-FFF2-40B4-BE49-F238E27FC236}">
                <a16:creationId xmlns:a16="http://schemas.microsoft.com/office/drawing/2014/main" id="{E47EC52E-4A50-5380-5C67-1C48470AE653}"/>
              </a:ext>
            </a:extLst>
          </p:cNvPr>
          <p:cNvSpPr txBox="1">
            <a:spLocks/>
          </p:cNvSpPr>
          <p:nvPr>
            <p:custDataLst>
              <p:tags r:id="rId4"/>
            </p:custDataLst>
          </p:nvPr>
        </p:nvSpPr>
        <p:spPr bwMode="auto">
          <a:xfrm>
            <a:off x="5172075" y="3429000"/>
            <a:ext cx="1847850" cy="430213"/>
          </a:xfrm>
          <a:prstGeom prst="rect">
            <a:avLst/>
          </a:prstGeom>
          <a:solidFill>
            <a:schemeClr val="bg2"/>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dirty="0">
                <a:effectLst/>
                <a:cs typeface="+mn-cs"/>
              </a:rPr>
              <a:t>Methodology</a:t>
            </a:r>
            <a:endParaRPr lang="en-US" dirty="0">
              <a:cs typeface="+mn-cs"/>
            </a:endParaRPr>
          </a:p>
        </p:txBody>
      </p:sp>
      <p:sp>
        <p:nvSpPr>
          <p:cNvPr id="6" name="Text Placeholder 2">
            <a:extLst>
              <a:ext uri="{FF2B5EF4-FFF2-40B4-BE49-F238E27FC236}">
                <a16:creationId xmlns:a16="http://schemas.microsoft.com/office/drawing/2014/main" id="{12ACCB3D-48CA-A7AD-580E-89062A56D04E}"/>
              </a:ext>
            </a:extLst>
          </p:cNvPr>
          <p:cNvSpPr txBox="1">
            <a:spLocks/>
          </p:cNvSpPr>
          <p:nvPr>
            <p:custDataLst>
              <p:tags r:id="rId5"/>
            </p:custDataLst>
          </p:nvPr>
        </p:nvSpPr>
        <p:spPr bwMode="auto">
          <a:xfrm>
            <a:off x="5172075" y="3859213"/>
            <a:ext cx="1847850" cy="430213"/>
          </a:xfrm>
          <a:prstGeom prst="rect">
            <a:avLst/>
          </a:prstGeom>
          <a:solidFill>
            <a:schemeClr val="accent6"/>
          </a:solidFill>
          <a:ln w="38100" cmpd="sng">
            <a:solidFill>
              <a:schemeClr val="bg1"/>
            </a:solidFill>
          </a:ln>
          <a:effectLst/>
        </p:spPr>
        <p:txBody>
          <a:bodyPr vert="horz" wrap="none" lIns="91440" tIns="92075" rIns="0" bIns="90488"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ct val="0"/>
              </a:spcAft>
            </a:pPr>
            <a:r>
              <a:rPr lang="en-US" altLang="en-US" b="1" dirty="0">
                <a:effectLst/>
                <a:cs typeface="+mn-cs"/>
              </a:rPr>
              <a:t>Results</a:t>
            </a:r>
            <a:endParaRPr lang="en-US" b="1" dirty="0">
              <a:cs typeface="+mn-cs"/>
            </a:endParaRPr>
          </a:p>
        </p:txBody>
      </p:sp>
      <p:sp>
        <p:nvSpPr>
          <p:cNvPr id="2" name="Title 1">
            <a:extLst>
              <a:ext uri="{FF2B5EF4-FFF2-40B4-BE49-F238E27FC236}">
                <a16:creationId xmlns:a16="http://schemas.microsoft.com/office/drawing/2014/main" id="{9BF167B8-94FF-54AC-7EDF-1C4C12F73A53}"/>
              </a:ext>
            </a:extLst>
          </p:cNvPr>
          <p:cNvSpPr>
            <a:spLocks noGrp="1"/>
          </p:cNvSpPr>
          <p:nvPr>
            <p:ph type="title"/>
          </p:nvPr>
        </p:nvSpPr>
        <p:spPr/>
        <p:txBody>
          <a:bodyPr vert="horz" rIns="91440"/>
          <a:lstStyle/>
          <a:p>
            <a:fld id="{449B17F5-B4D5-40AC-B3C6-47A90E38688C}" type="datetime'Agenda'">
              <a:rPr lang="en-US" altLang="en-US" smtClean="0">
                <a:effectLst/>
              </a:rPr>
              <a:pPr/>
              <a:t>Agenda</a:t>
            </a:fld>
            <a:endParaRPr lang="en-US"/>
          </a:p>
        </p:txBody>
      </p:sp>
      <p:sp>
        <p:nvSpPr>
          <p:cNvPr id="3" name="Date Placeholder 2">
            <a:extLst>
              <a:ext uri="{FF2B5EF4-FFF2-40B4-BE49-F238E27FC236}">
                <a16:creationId xmlns:a16="http://schemas.microsoft.com/office/drawing/2014/main" id="{436338D1-B806-2C3F-F0DF-281968DA5E08}"/>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949D60A3-A5D3-591B-FA83-7A268DB873B6}"/>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45995786-498C-340A-60A2-6CF27C61C28B}"/>
              </a:ext>
            </a:extLst>
          </p:cNvPr>
          <p:cNvSpPr>
            <a:spLocks noGrp="1"/>
          </p:cNvSpPr>
          <p:nvPr>
            <p:ph type="sldNum" sz="quarter" idx="12"/>
          </p:nvPr>
        </p:nvSpPr>
        <p:spPr/>
        <p:txBody>
          <a:bodyPr/>
          <a:lstStyle/>
          <a:p>
            <a:fld id="{7D3A6E6C-C5AB-5E45-8D34-7FB9A51EE2CA}" type="slidenum">
              <a:rPr lang="en-US" smtClean="0"/>
              <a:t>21</a:t>
            </a:fld>
            <a:endParaRPr lang="en-US"/>
          </a:p>
        </p:txBody>
      </p:sp>
    </p:spTree>
    <p:extLst>
      <p:ext uri="{BB962C8B-B14F-4D97-AF65-F5344CB8AC3E}">
        <p14:creationId xmlns:p14="http://schemas.microsoft.com/office/powerpoint/2010/main" val="3035806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4D2AAD7-E70F-8D8A-189D-4827694A962E}"/>
              </a:ext>
            </a:extLst>
          </p:cNvPr>
          <p:cNvGraphicFramePr>
            <a:graphicFrameLocks/>
          </p:cNvGraphicFramePr>
          <p:nvPr>
            <p:custDataLst>
              <p:tags r:id="rId1"/>
            </p:custDataLst>
            <p:extLst>
              <p:ext uri="{D42A27DB-BD31-4B8C-83A1-F6EECF244321}">
                <p14:modId xmlns:p14="http://schemas.microsoft.com/office/powerpoint/2010/main" val="36407107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49495A5-1F69-6FBD-D802-442B6ACDDFEA}"/>
              </a:ext>
            </a:extLst>
          </p:cNvPr>
          <p:cNvSpPr>
            <a:spLocks noGrp="1"/>
          </p:cNvSpPr>
          <p:nvPr>
            <p:ph type="title"/>
          </p:nvPr>
        </p:nvSpPr>
        <p:spPr/>
        <p:txBody>
          <a:bodyPr vert="horz" rIns="91440"/>
          <a:lstStyle/>
          <a:p>
            <a:r>
              <a:rPr lang="en-US" dirty="0"/>
              <a:t>Key Results</a:t>
            </a:r>
          </a:p>
        </p:txBody>
      </p:sp>
      <p:sp>
        <p:nvSpPr>
          <p:cNvPr id="3" name="Date Placeholder 2">
            <a:extLst>
              <a:ext uri="{FF2B5EF4-FFF2-40B4-BE49-F238E27FC236}">
                <a16:creationId xmlns:a16="http://schemas.microsoft.com/office/drawing/2014/main" id="{AFE23266-2B92-1F10-DF15-A9BB2EF9ED99}"/>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00F44CC2-885C-0573-3AF2-CF3C33676AC4}"/>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39160413-2E88-35D2-58E2-2310AC9B7E6A}"/>
              </a:ext>
            </a:extLst>
          </p:cNvPr>
          <p:cNvSpPr>
            <a:spLocks noGrp="1"/>
          </p:cNvSpPr>
          <p:nvPr>
            <p:ph type="sldNum" sz="quarter" idx="12"/>
          </p:nvPr>
        </p:nvSpPr>
        <p:spPr/>
        <p:txBody>
          <a:bodyPr/>
          <a:lstStyle/>
          <a:p>
            <a:fld id="{7D3A6E6C-C5AB-5E45-8D34-7FB9A51EE2CA}" type="slidenum">
              <a:rPr lang="en-US" smtClean="0"/>
              <a:t>22</a:t>
            </a:fld>
            <a:endParaRPr lang="en-US"/>
          </a:p>
        </p:txBody>
      </p:sp>
      <p:pic>
        <p:nvPicPr>
          <p:cNvPr id="7" name="Picture 6">
            <a:extLst>
              <a:ext uri="{FF2B5EF4-FFF2-40B4-BE49-F238E27FC236}">
                <a16:creationId xmlns:a16="http://schemas.microsoft.com/office/drawing/2014/main" id="{23959247-8704-C86D-7083-3652BD606B41}"/>
              </a:ext>
            </a:extLst>
          </p:cNvPr>
          <p:cNvPicPr>
            <a:picLocks noChangeAspect="1"/>
          </p:cNvPicPr>
          <p:nvPr/>
        </p:nvPicPr>
        <p:blipFill>
          <a:blip r:embed="rId5"/>
          <a:srcRect b="4384"/>
          <a:stretch>
            <a:fillRect/>
          </a:stretch>
        </p:blipFill>
        <p:spPr>
          <a:xfrm>
            <a:off x="4674213" y="1249710"/>
            <a:ext cx="6958374" cy="4358579"/>
          </a:xfrm>
          <a:prstGeom prst="rect">
            <a:avLst/>
          </a:prstGeom>
        </p:spPr>
      </p:pic>
      <p:sp>
        <p:nvSpPr>
          <p:cNvPr id="9" name="TextBox 8">
            <a:extLst>
              <a:ext uri="{FF2B5EF4-FFF2-40B4-BE49-F238E27FC236}">
                <a16:creationId xmlns:a16="http://schemas.microsoft.com/office/drawing/2014/main" id="{942B466B-10BA-033E-0681-F1AEE6DC49AD}"/>
              </a:ext>
            </a:extLst>
          </p:cNvPr>
          <p:cNvSpPr txBox="1"/>
          <p:nvPr/>
        </p:nvSpPr>
        <p:spPr>
          <a:xfrm>
            <a:off x="1080654" y="1707538"/>
            <a:ext cx="3752603" cy="1477328"/>
          </a:xfrm>
          <a:prstGeom prst="rect">
            <a:avLst/>
          </a:prstGeom>
          <a:noFill/>
        </p:spPr>
        <p:txBody>
          <a:bodyPr wrap="square" rtlCol="0">
            <a:spAutoFit/>
          </a:bodyPr>
          <a:lstStyle/>
          <a:p>
            <a:r>
              <a:rPr lang="en-US" b="1" dirty="0"/>
              <a:t>Performance on par with existing task-specific models: 73%</a:t>
            </a:r>
            <a:r>
              <a:rPr lang="en-US" dirty="0"/>
              <a:t> of the variability in population density can be explained by the </a:t>
            </a:r>
            <a:r>
              <a:rPr lang="en-US" dirty="0" err="1"/>
              <a:t>AlphaEarth</a:t>
            </a:r>
            <a:r>
              <a:rPr lang="en-US" dirty="0"/>
              <a:t> embeddings</a:t>
            </a:r>
            <a:endParaRPr lang="en-US"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2ED7273-8E51-5125-2E36-1C53242A9499}"/>
              </a:ext>
            </a:extLst>
          </p:cNvPr>
          <p:cNvSpPr txBox="1"/>
          <p:nvPr/>
        </p:nvSpPr>
        <p:spPr>
          <a:xfrm>
            <a:off x="1080653" y="3673135"/>
            <a:ext cx="3752603" cy="1200329"/>
          </a:xfrm>
          <a:prstGeom prst="rect">
            <a:avLst/>
          </a:prstGeom>
          <a:noFill/>
        </p:spPr>
        <p:txBody>
          <a:bodyPr wrap="square" rtlCol="0">
            <a:spAutoFit/>
          </a:bodyPr>
          <a:lstStyle/>
          <a:p>
            <a:r>
              <a:rPr lang="en-US" b="1" dirty="0"/>
              <a:t>Spatial differences in performance: </a:t>
            </a:r>
            <a:r>
              <a:rPr lang="en-US" dirty="0"/>
              <a:t>Northern states tend to perform better than southern, more tropical states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8641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0AC4CEF-24D1-147E-B160-5456C0694E60}"/>
              </a:ext>
            </a:extLst>
          </p:cNvPr>
          <p:cNvGraphicFramePr>
            <a:graphicFrameLocks/>
          </p:cNvGraphicFramePr>
          <p:nvPr>
            <p:custDataLst>
              <p:tags r:id="rId1"/>
            </p:custDataLst>
            <p:extLst>
              <p:ext uri="{D42A27DB-BD31-4B8C-83A1-F6EECF244321}">
                <p14:modId xmlns:p14="http://schemas.microsoft.com/office/powerpoint/2010/main" val="18480135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1C638DD-0102-E6D7-7B1E-58CD95AA8194}"/>
              </a:ext>
            </a:extLst>
          </p:cNvPr>
          <p:cNvSpPr>
            <a:spLocks noGrp="1"/>
          </p:cNvSpPr>
          <p:nvPr>
            <p:ph type="title"/>
          </p:nvPr>
        </p:nvSpPr>
        <p:spPr/>
        <p:txBody>
          <a:bodyPr vert="horz" rIns="91440">
            <a:normAutofit/>
          </a:bodyPr>
          <a:lstStyle/>
          <a:p>
            <a:r>
              <a:rPr lang="en-US" dirty="0"/>
              <a:t>Variations in state-by-state performance are driven by average size of polygon in the state</a:t>
            </a:r>
          </a:p>
        </p:txBody>
      </p:sp>
      <p:sp>
        <p:nvSpPr>
          <p:cNvPr id="3" name="Date Placeholder 2">
            <a:extLst>
              <a:ext uri="{FF2B5EF4-FFF2-40B4-BE49-F238E27FC236}">
                <a16:creationId xmlns:a16="http://schemas.microsoft.com/office/drawing/2014/main" id="{357EBE50-3132-A332-4523-B3C896508159}"/>
              </a:ext>
            </a:extLst>
          </p:cNvPr>
          <p:cNvSpPr>
            <a:spLocks noGrp="1"/>
          </p:cNvSpPr>
          <p:nvPr>
            <p:ph type="dt" sz="half" idx="10"/>
          </p:nvPr>
        </p:nvSpPr>
        <p:spPr/>
        <p:txBody>
          <a:bodyPr/>
          <a:lstStyle/>
          <a:p>
            <a:fld id="{26859444-D652-6A4E-9373-AAD8DF4750C9}" type="datetime4">
              <a:rPr lang="en-US" smtClean="0"/>
              <a:t>March 31, 2026</a:t>
            </a:fld>
            <a:endParaRPr lang="en-US"/>
          </a:p>
        </p:txBody>
      </p:sp>
      <p:sp>
        <p:nvSpPr>
          <p:cNvPr id="4" name="Footer Placeholder 3">
            <a:extLst>
              <a:ext uri="{FF2B5EF4-FFF2-40B4-BE49-F238E27FC236}">
                <a16:creationId xmlns:a16="http://schemas.microsoft.com/office/drawing/2014/main" id="{55E0BDC0-4BD5-A1AD-EDA5-00A73C6D8B6C}"/>
              </a:ext>
            </a:extLst>
          </p:cNvPr>
          <p:cNvSpPr>
            <a:spLocks noGrp="1"/>
          </p:cNvSpPr>
          <p:nvPr>
            <p:ph type="ftr" sz="quarter" idx="11"/>
          </p:nvPr>
        </p:nvSpPr>
        <p:spPr/>
        <p:txBody>
          <a:bodyPr/>
          <a:lstStyle/>
          <a:p>
            <a:r>
              <a:rPr lang="en-US"/>
              <a:t>Jonathan Edwards College Paskus Mellon Forum </a:t>
            </a:r>
          </a:p>
        </p:txBody>
      </p:sp>
      <p:sp>
        <p:nvSpPr>
          <p:cNvPr id="5" name="Slide Number Placeholder 4">
            <a:extLst>
              <a:ext uri="{FF2B5EF4-FFF2-40B4-BE49-F238E27FC236}">
                <a16:creationId xmlns:a16="http://schemas.microsoft.com/office/drawing/2014/main" id="{4771C0B5-2AB3-0E87-4B05-A84269161DD1}"/>
              </a:ext>
            </a:extLst>
          </p:cNvPr>
          <p:cNvSpPr>
            <a:spLocks noGrp="1"/>
          </p:cNvSpPr>
          <p:nvPr>
            <p:ph type="sldNum" sz="quarter" idx="12"/>
          </p:nvPr>
        </p:nvSpPr>
        <p:spPr/>
        <p:txBody>
          <a:bodyPr/>
          <a:lstStyle/>
          <a:p>
            <a:fld id="{7D3A6E6C-C5AB-5E45-8D34-7FB9A51EE2CA}" type="slidenum">
              <a:rPr lang="en-US" smtClean="0"/>
              <a:t>23</a:t>
            </a:fld>
            <a:endParaRPr lang="en-US"/>
          </a:p>
        </p:txBody>
      </p:sp>
      <p:pic>
        <p:nvPicPr>
          <p:cNvPr id="9" name="Picture 8">
            <a:extLst>
              <a:ext uri="{FF2B5EF4-FFF2-40B4-BE49-F238E27FC236}">
                <a16:creationId xmlns:a16="http://schemas.microsoft.com/office/drawing/2014/main" id="{F31E10F4-B784-DBAE-26FF-7F75EC54BD1D}"/>
              </a:ext>
            </a:extLst>
          </p:cNvPr>
          <p:cNvPicPr>
            <a:picLocks noChangeAspect="1"/>
          </p:cNvPicPr>
          <p:nvPr/>
        </p:nvPicPr>
        <p:blipFill>
          <a:blip r:embed="rId5"/>
          <a:srcRect t="2464" b="2454"/>
          <a:stretch>
            <a:fillRect/>
          </a:stretch>
        </p:blipFill>
        <p:spPr>
          <a:xfrm>
            <a:off x="462197" y="2060821"/>
            <a:ext cx="7772400" cy="3429000"/>
          </a:xfrm>
          <a:prstGeom prst="rect">
            <a:avLst/>
          </a:prstGeom>
        </p:spPr>
      </p:pic>
      <p:sp>
        <p:nvSpPr>
          <p:cNvPr id="11" name="TextBox 10">
            <a:extLst>
              <a:ext uri="{FF2B5EF4-FFF2-40B4-BE49-F238E27FC236}">
                <a16:creationId xmlns:a16="http://schemas.microsoft.com/office/drawing/2014/main" id="{17B4A999-48CE-A0C3-656A-1C3F42A2FB70}"/>
              </a:ext>
            </a:extLst>
          </p:cNvPr>
          <p:cNvSpPr txBox="1"/>
          <p:nvPr/>
        </p:nvSpPr>
        <p:spPr>
          <a:xfrm>
            <a:off x="8635155" y="2199320"/>
            <a:ext cx="3030072"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 larger polygon area correlates strongly with better R</a:t>
            </a:r>
            <a:r>
              <a:rPr lang="en-US" baseline="30000" dirty="0">
                <a:latin typeface="Arial" panose="020B0604020202020204" pitchFamily="34" charset="0"/>
                <a:cs typeface="Arial" panose="020B0604020202020204" pitchFamily="34" charset="0"/>
              </a:rPr>
              <a:t>2 </a:t>
            </a:r>
            <a:r>
              <a:rPr lang="en-US" dirty="0">
                <a:latin typeface="Arial" panose="020B0604020202020204" pitchFamily="34" charset="0"/>
                <a:cs typeface="Arial" panose="020B0604020202020204" pitchFamily="34" charset="0"/>
              </a:rPr>
              <a:t>model performance</a:t>
            </a:r>
          </a:p>
        </p:txBody>
      </p:sp>
      <p:sp>
        <p:nvSpPr>
          <p:cNvPr id="12" name="TextBox 11">
            <a:extLst>
              <a:ext uri="{FF2B5EF4-FFF2-40B4-BE49-F238E27FC236}">
                <a16:creationId xmlns:a16="http://schemas.microsoft.com/office/drawing/2014/main" id="{62F187EE-62AF-08A1-02E3-F3AB59E66D38}"/>
              </a:ext>
            </a:extLst>
          </p:cNvPr>
          <p:cNvSpPr txBox="1"/>
          <p:nvPr/>
        </p:nvSpPr>
        <p:spPr>
          <a:xfrm>
            <a:off x="8635155" y="4051762"/>
            <a:ext cx="274320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Larger polygons average over more satellite pixels, which can produce stabler, less noisy embeddings</a:t>
            </a:r>
          </a:p>
        </p:txBody>
      </p:sp>
    </p:spTree>
    <p:extLst>
      <p:ext uri="{BB962C8B-B14F-4D97-AF65-F5344CB8AC3E}">
        <p14:creationId xmlns:p14="http://schemas.microsoft.com/office/powerpoint/2010/main" val="1457190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CB376E1-CF32-63B2-C449-251E91982864}"/>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6FC581D-2417-A490-63A4-18384E720FA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9" imgH="350" progId="TCLayout.ActiveDocument.1">
                  <p:embed/>
                </p:oleObj>
              </mc:Choice>
              <mc:Fallback>
                <p:oleObj name="think-cell Slide" r:id="rId4" imgW="349" imgH="350" progId="TCLayout.ActiveDocument.1">
                  <p:embed/>
                  <p:pic>
                    <p:nvPicPr>
                      <p:cNvPr id="10" name="think-cell data - do not delete" hidden="1">
                        <a:extLst>
                          <a:ext uri="{FF2B5EF4-FFF2-40B4-BE49-F238E27FC236}">
                            <a16:creationId xmlns:a16="http://schemas.microsoft.com/office/drawing/2014/main" id="{E6FC581D-2417-A490-63A4-18384E720FA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937D32A-3B0D-3AD9-4FF3-5CD1009BA176}"/>
              </a:ext>
            </a:extLst>
          </p:cNvPr>
          <p:cNvSpPr>
            <a:spLocks noGrp="1"/>
          </p:cNvSpPr>
          <p:nvPr>
            <p:ph type="title"/>
          </p:nvPr>
        </p:nvSpPr>
        <p:spPr>
          <a:xfrm>
            <a:off x="838200" y="273199"/>
            <a:ext cx="10515600" cy="1325563"/>
          </a:xfrm>
        </p:spPr>
        <p:txBody>
          <a:bodyPr vert="horz" rIns="91440"/>
          <a:lstStyle/>
          <a:p>
            <a:r>
              <a:rPr lang="en-US" dirty="0"/>
              <a:t>Next steps include expanding to other models and predicting pop. change over time.</a:t>
            </a:r>
          </a:p>
        </p:txBody>
      </p:sp>
      <p:grpSp>
        <p:nvGrpSpPr>
          <p:cNvPr id="37" name="Gruppieren 36">
            <a:extLst>
              <a:ext uri="{FF2B5EF4-FFF2-40B4-BE49-F238E27FC236}">
                <a16:creationId xmlns:a16="http://schemas.microsoft.com/office/drawing/2014/main" id="{7A40A91B-85FA-C57C-2881-B3606A8A316E}"/>
              </a:ext>
            </a:extLst>
          </p:cNvPr>
          <p:cNvGrpSpPr>
            <a:grpSpLocks/>
          </p:cNvGrpSpPr>
          <p:nvPr/>
        </p:nvGrpSpPr>
        <p:grpSpPr>
          <a:xfrm>
            <a:off x="407988" y="1563945"/>
            <a:ext cx="11053430" cy="4493955"/>
            <a:chOff x="1586" y="1550196"/>
            <a:chExt cx="11818939" cy="4976234"/>
          </a:xfrm>
        </p:grpSpPr>
        <p:sp>
          <p:nvSpPr>
            <p:cNvPr id="30" name="Freihandform: Form 29">
              <a:extLst>
                <a:ext uri="{FF2B5EF4-FFF2-40B4-BE49-F238E27FC236}">
                  <a16:creationId xmlns:a16="http://schemas.microsoft.com/office/drawing/2014/main" id="{CE2A39AE-0EA6-7011-6D8F-E63F377814AA}"/>
                </a:ext>
              </a:extLst>
            </p:cNvPr>
            <p:cNvSpPr>
              <a:spLocks/>
            </p:cNvSpPr>
            <p:nvPr/>
          </p:nvSpPr>
          <p:spPr bwMode="auto">
            <a:xfrm>
              <a:off x="1587" y="1550196"/>
              <a:ext cx="11818938" cy="4976233"/>
            </a:xfrm>
            <a:custGeom>
              <a:avLst/>
              <a:gdLst>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2470484 w 11804048"/>
                <a:gd name="connsiteY34" fmla="*/ 360362 h 4989102"/>
                <a:gd name="connsiteX35" fmla="*/ 0 w 11804048"/>
                <a:gd name="connsiteY35" fmla="*/ 360362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0 w 11804048"/>
                <a:gd name="connsiteY34" fmla="*/ 360362 h 4989102"/>
                <a:gd name="connsiteX35" fmla="*/ 0 w 11804048"/>
                <a:gd name="connsiteY35" fmla="*/ 0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34" fmla="*/ 0 w 11804048"/>
                <a:gd name="connsiteY34" fmla="*/ 0 h 498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804048" h="4989102">
                  <a:moveTo>
                    <a:pt x="0" y="0"/>
                  </a:moveTo>
                  <a:lnTo>
                    <a:pt x="2470484" y="0"/>
                  </a:lnTo>
                  <a:lnTo>
                    <a:pt x="2931171" y="4048"/>
                  </a:lnTo>
                  <a:cubicBezTo>
                    <a:pt x="4085463" y="24074"/>
                    <a:pt x="5274428" y="112739"/>
                    <a:pt x="6192260" y="249741"/>
                  </a:cubicBezTo>
                  <a:cubicBezTo>
                    <a:pt x="6778962" y="337047"/>
                    <a:pt x="7240249" y="440949"/>
                    <a:pt x="7564593" y="558199"/>
                  </a:cubicBezTo>
                  <a:cubicBezTo>
                    <a:pt x="7927857" y="689519"/>
                    <a:pt x="8111411" y="835991"/>
                    <a:pt x="8111411" y="994008"/>
                  </a:cubicBezTo>
                  <a:cubicBezTo>
                    <a:pt x="8111411" y="1061833"/>
                    <a:pt x="8073451" y="1124968"/>
                    <a:pt x="7998011" y="1181248"/>
                  </a:cubicBezTo>
                  <a:cubicBezTo>
                    <a:pt x="7931221" y="1231395"/>
                    <a:pt x="7835119" y="1277573"/>
                    <a:pt x="7704421" y="1321947"/>
                  </a:cubicBezTo>
                  <a:cubicBezTo>
                    <a:pt x="7463686" y="1403482"/>
                    <a:pt x="7135499" y="1468059"/>
                    <a:pt x="6816921" y="1530472"/>
                  </a:cubicBezTo>
                  <a:cubicBezTo>
                    <a:pt x="6144209" y="1662875"/>
                    <a:pt x="5448433" y="1798885"/>
                    <a:pt x="5448433" y="2106982"/>
                  </a:cubicBezTo>
                  <a:cubicBezTo>
                    <a:pt x="5448433" y="2175889"/>
                    <a:pt x="5621416" y="2250929"/>
                    <a:pt x="5977954" y="2336792"/>
                  </a:cubicBezTo>
                  <a:cubicBezTo>
                    <a:pt x="6310946" y="2416522"/>
                    <a:pt x="6763105" y="2498056"/>
                    <a:pt x="7286859" y="2591856"/>
                  </a:cubicBezTo>
                  <a:cubicBezTo>
                    <a:pt x="7980232" y="2715960"/>
                    <a:pt x="8765863" y="2857382"/>
                    <a:pt x="9458757" y="3031273"/>
                  </a:cubicBezTo>
                  <a:cubicBezTo>
                    <a:pt x="10260726" y="3233304"/>
                    <a:pt x="10787844" y="3442550"/>
                    <a:pt x="11069902" y="3671639"/>
                  </a:cubicBezTo>
                  <a:cubicBezTo>
                    <a:pt x="11283729" y="3845169"/>
                    <a:pt x="11453829" y="4028800"/>
                    <a:pt x="11575878" y="4217483"/>
                  </a:cubicBezTo>
                  <a:cubicBezTo>
                    <a:pt x="11673902" y="4368284"/>
                    <a:pt x="11741173" y="4523055"/>
                    <a:pt x="11776250" y="4677103"/>
                  </a:cubicBezTo>
                  <a:cubicBezTo>
                    <a:pt x="11798594" y="4775458"/>
                    <a:pt x="11804923" y="4860419"/>
                    <a:pt x="11803954" y="4928562"/>
                  </a:cubicBezTo>
                  <a:lnTo>
                    <a:pt x="11800968" y="4989102"/>
                  </a:lnTo>
                  <a:lnTo>
                    <a:pt x="9480312" y="4989102"/>
                  </a:lnTo>
                  <a:lnTo>
                    <a:pt x="9473653" y="4566347"/>
                  </a:lnTo>
                  <a:cubicBezTo>
                    <a:pt x="9439537" y="4394260"/>
                    <a:pt x="9367941" y="4238769"/>
                    <a:pt x="9259827" y="4105284"/>
                  </a:cubicBezTo>
                  <a:cubicBezTo>
                    <a:pt x="9124323" y="3938248"/>
                    <a:pt x="8931639" y="3804402"/>
                    <a:pt x="8687061" y="3706994"/>
                  </a:cubicBezTo>
                  <a:cubicBezTo>
                    <a:pt x="8322835" y="3562326"/>
                    <a:pt x="7595826" y="3424151"/>
                    <a:pt x="6827493" y="3277679"/>
                  </a:cubicBezTo>
                  <a:cubicBezTo>
                    <a:pt x="6075016" y="3134092"/>
                    <a:pt x="5222113" y="2971746"/>
                    <a:pt x="4576790" y="2777652"/>
                  </a:cubicBezTo>
                  <a:cubicBezTo>
                    <a:pt x="4225538" y="2671946"/>
                    <a:pt x="3966064" y="2566963"/>
                    <a:pt x="3783470" y="2456567"/>
                  </a:cubicBezTo>
                  <a:cubicBezTo>
                    <a:pt x="3576371" y="2331381"/>
                    <a:pt x="3471621" y="2197896"/>
                    <a:pt x="3471621" y="2060443"/>
                  </a:cubicBezTo>
                  <a:cubicBezTo>
                    <a:pt x="3471621" y="1829550"/>
                    <a:pt x="3657577" y="1647001"/>
                    <a:pt x="4040063" y="1501972"/>
                  </a:cubicBezTo>
                  <a:cubicBezTo>
                    <a:pt x="4369210" y="1377145"/>
                    <a:pt x="4796863" y="1298137"/>
                    <a:pt x="5174543" y="1228508"/>
                  </a:cubicBezTo>
                  <a:cubicBezTo>
                    <a:pt x="5690129" y="1133265"/>
                    <a:pt x="6135560" y="1051010"/>
                    <a:pt x="6135560" y="891189"/>
                  </a:cubicBezTo>
                  <a:cubicBezTo>
                    <a:pt x="6135560" y="846093"/>
                    <a:pt x="6084146" y="801718"/>
                    <a:pt x="5983239" y="758787"/>
                  </a:cubicBezTo>
                  <a:cubicBezTo>
                    <a:pt x="5888099" y="718741"/>
                    <a:pt x="5747790" y="679417"/>
                    <a:pt x="5566157" y="642619"/>
                  </a:cubicBezTo>
                  <a:cubicBezTo>
                    <a:pt x="5259112" y="580927"/>
                    <a:pt x="4830979" y="524287"/>
                    <a:pt x="4293290" y="475583"/>
                  </a:cubicBezTo>
                  <a:cubicBezTo>
                    <a:pt x="3491081" y="402662"/>
                    <a:pt x="2680043" y="367859"/>
                    <a:pt x="2483701" y="360056"/>
                  </a:cubicBezTo>
                  <a:lnTo>
                    <a:pt x="0" y="360362"/>
                  </a:lnTo>
                  <a:lnTo>
                    <a:pt x="0" y="0"/>
                  </a:lnTo>
                  <a:close/>
                </a:path>
              </a:pathLst>
            </a:custGeom>
            <a:solidFill>
              <a:schemeClr val="bg2"/>
            </a:solidFill>
            <a:ln w="6350">
              <a:solidFill>
                <a:schemeClr val="accent6"/>
              </a:solidFill>
            </a:ln>
            <a:effectLst/>
          </p:spPr>
          <p:txBody>
            <a:bodyPr wrap="square" anchor="ctr">
              <a:noAutofit/>
            </a:bodyPr>
            <a:lstStyle/>
            <a:p>
              <a:endParaRPr lang="en-US" sz="3266" dirty="0"/>
            </a:p>
          </p:txBody>
        </p:sp>
        <p:sp>
          <p:nvSpPr>
            <p:cNvPr id="35" name="Freihandform: Form 34">
              <a:extLst>
                <a:ext uri="{FF2B5EF4-FFF2-40B4-BE49-F238E27FC236}">
                  <a16:creationId xmlns:a16="http://schemas.microsoft.com/office/drawing/2014/main" id="{199E3CCC-FE20-A88E-B69F-BCC9BD727A4C}"/>
                </a:ext>
              </a:extLst>
            </p:cNvPr>
            <p:cNvSpPr>
              <a:spLocks/>
            </p:cNvSpPr>
            <p:nvPr/>
          </p:nvSpPr>
          <p:spPr bwMode="auto">
            <a:xfrm>
              <a:off x="1586" y="1909324"/>
              <a:ext cx="9492271" cy="4617106"/>
            </a:xfrm>
            <a:custGeom>
              <a:avLst/>
              <a:gdLst>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2470484 w 11804048"/>
                <a:gd name="connsiteY34" fmla="*/ 360362 h 4989102"/>
                <a:gd name="connsiteX35" fmla="*/ 0 w 11804048"/>
                <a:gd name="connsiteY35" fmla="*/ 360362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0 w 11804048"/>
                <a:gd name="connsiteY34" fmla="*/ 360362 h 4989102"/>
                <a:gd name="connsiteX35" fmla="*/ 0 w 11804048"/>
                <a:gd name="connsiteY35" fmla="*/ 0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34" fmla="*/ 0 w 11804048"/>
                <a:gd name="connsiteY34" fmla="*/ 0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34" fmla="*/ 91325 w 11804048"/>
                <a:gd name="connsiteY34" fmla="*/ 91676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0" fmla="*/ 2470484 w 11804048"/>
                <a:gd name="connsiteY0" fmla="*/ 0 h 4989102"/>
                <a:gd name="connsiteX1" fmla="*/ 2931171 w 11804048"/>
                <a:gd name="connsiteY1" fmla="*/ 4048 h 4989102"/>
                <a:gd name="connsiteX2" fmla="*/ 6192260 w 11804048"/>
                <a:gd name="connsiteY2" fmla="*/ 249741 h 4989102"/>
                <a:gd name="connsiteX3" fmla="*/ 7564593 w 11804048"/>
                <a:gd name="connsiteY3" fmla="*/ 558199 h 4989102"/>
                <a:gd name="connsiteX4" fmla="*/ 8111411 w 11804048"/>
                <a:gd name="connsiteY4" fmla="*/ 994008 h 4989102"/>
                <a:gd name="connsiteX5" fmla="*/ 7998011 w 11804048"/>
                <a:gd name="connsiteY5" fmla="*/ 1181248 h 4989102"/>
                <a:gd name="connsiteX6" fmla="*/ 7704421 w 11804048"/>
                <a:gd name="connsiteY6" fmla="*/ 1321947 h 4989102"/>
                <a:gd name="connsiteX7" fmla="*/ 6816921 w 11804048"/>
                <a:gd name="connsiteY7" fmla="*/ 1530472 h 4989102"/>
                <a:gd name="connsiteX8" fmla="*/ 5448433 w 11804048"/>
                <a:gd name="connsiteY8" fmla="*/ 2106982 h 4989102"/>
                <a:gd name="connsiteX9" fmla="*/ 5977954 w 11804048"/>
                <a:gd name="connsiteY9" fmla="*/ 2336792 h 4989102"/>
                <a:gd name="connsiteX10" fmla="*/ 7286859 w 11804048"/>
                <a:gd name="connsiteY10" fmla="*/ 2591856 h 4989102"/>
                <a:gd name="connsiteX11" fmla="*/ 9458757 w 11804048"/>
                <a:gd name="connsiteY11" fmla="*/ 3031273 h 4989102"/>
                <a:gd name="connsiteX12" fmla="*/ 11069902 w 11804048"/>
                <a:gd name="connsiteY12" fmla="*/ 3671639 h 4989102"/>
                <a:gd name="connsiteX13" fmla="*/ 11575878 w 11804048"/>
                <a:gd name="connsiteY13" fmla="*/ 4217483 h 4989102"/>
                <a:gd name="connsiteX14" fmla="*/ 11776250 w 11804048"/>
                <a:gd name="connsiteY14" fmla="*/ 4677103 h 4989102"/>
                <a:gd name="connsiteX15" fmla="*/ 11803954 w 11804048"/>
                <a:gd name="connsiteY15" fmla="*/ 4928562 h 4989102"/>
                <a:gd name="connsiteX16" fmla="*/ 11800968 w 11804048"/>
                <a:gd name="connsiteY16" fmla="*/ 4989102 h 4989102"/>
                <a:gd name="connsiteX17" fmla="*/ 9480312 w 11804048"/>
                <a:gd name="connsiteY17" fmla="*/ 4989102 h 4989102"/>
                <a:gd name="connsiteX18" fmla="*/ 9473653 w 11804048"/>
                <a:gd name="connsiteY18" fmla="*/ 4566347 h 4989102"/>
                <a:gd name="connsiteX19" fmla="*/ 9259827 w 11804048"/>
                <a:gd name="connsiteY19" fmla="*/ 4105284 h 4989102"/>
                <a:gd name="connsiteX20" fmla="*/ 8687061 w 11804048"/>
                <a:gd name="connsiteY20" fmla="*/ 3706994 h 4989102"/>
                <a:gd name="connsiteX21" fmla="*/ 6827493 w 11804048"/>
                <a:gd name="connsiteY21" fmla="*/ 3277679 h 4989102"/>
                <a:gd name="connsiteX22" fmla="*/ 4576790 w 11804048"/>
                <a:gd name="connsiteY22" fmla="*/ 2777652 h 4989102"/>
                <a:gd name="connsiteX23" fmla="*/ 3783470 w 11804048"/>
                <a:gd name="connsiteY23" fmla="*/ 2456567 h 4989102"/>
                <a:gd name="connsiteX24" fmla="*/ 3471621 w 11804048"/>
                <a:gd name="connsiteY24" fmla="*/ 2060443 h 4989102"/>
                <a:gd name="connsiteX25" fmla="*/ 4040063 w 11804048"/>
                <a:gd name="connsiteY25" fmla="*/ 1501972 h 4989102"/>
                <a:gd name="connsiteX26" fmla="*/ 5174543 w 11804048"/>
                <a:gd name="connsiteY26" fmla="*/ 1228508 h 4989102"/>
                <a:gd name="connsiteX27" fmla="*/ 6135560 w 11804048"/>
                <a:gd name="connsiteY27" fmla="*/ 891189 h 4989102"/>
                <a:gd name="connsiteX28" fmla="*/ 5983239 w 11804048"/>
                <a:gd name="connsiteY28" fmla="*/ 758787 h 4989102"/>
                <a:gd name="connsiteX29" fmla="*/ 5566157 w 11804048"/>
                <a:gd name="connsiteY29" fmla="*/ 642619 h 4989102"/>
                <a:gd name="connsiteX30" fmla="*/ 4293290 w 11804048"/>
                <a:gd name="connsiteY30" fmla="*/ 475583 h 4989102"/>
                <a:gd name="connsiteX31" fmla="*/ 2483701 w 11804048"/>
                <a:gd name="connsiteY31" fmla="*/ 360056 h 4989102"/>
                <a:gd name="connsiteX32" fmla="*/ 0 w 11804048"/>
                <a:gd name="connsiteY32" fmla="*/ 360362 h 4989102"/>
                <a:gd name="connsiteX0" fmla="*/ 2931171 w 11804048"/>
                <a:gd name="connsiteY0" fmla="*/ 0 h 4985054"/>
                <a:gd name="connsiteX1" fmla="*/ 6192260 w 11804048"/>
                <a:gd name="connsiteY1" fmla="*/ 245693 h 4985054"/>
                <a:gd name="connsiteX2" fmla="*/ 7564593 w 11804048"/>
                <a:gd name="connsiteY2" fmla="*/ 554151 h 4985054"/>
                <a:gd name="connsiteX3" fmla="*/ 8111411 w 11804048"/>
                <a:gd name="connsiteY3" fmla="*/ 989960 h 4985054"/>
                <a:gd name="connsiteX4" fmla="*/ 7998011 w 11804048"/>
                <a:gd name="connsiteY4" fmla="*/ 1177200 h 4985054"/>
                <a:gd name="connsiteX5" fmla="*/ 7704421 w 11804048"/>
                <a:gd name="connsiteY5" fmla="*/ 1317899 h 4985054"/>
                <a:gd name="connsiteX6" fmla="*/ 6816921 w 11804048"/>
                <a:gd name="connsiteY6" fmla="*/ 1526424 h 4985054"/>
                <a:gd name="connsiteX7" fmla="*/ 5448433 w 11804048"/>
                <a:gd name="connsiteY7" fmla="*/ 2102934 h 4985054"/>
                <a:gd name="connsiteX8" fmla="*/ 5977954 w 11804048"/>
                <a:gd name="connsiteY8" fmla="*/ 2332744 h 4985054"/>
                <a:gd name="connsiteX9" fmla="*/ 7286859 w 11804048"/>
                <a:gd name="connsiteY9" fmla="*/ 2587808 h 4985054"/>
                <a:gd name="connsiteX10" fmla="*/ 9458757 w 11804048"/>
                <a:gd name="connsiteY10" fmla="*/ 3027225 h 4985054"/>
                <a:gd name="connsiteX11" fmla="*/ 11069902 w 11804048"/>
                <a:gd name="connsiteY11" fmla="*/ 3667591 h 4985054"/>
                <a:gd name="connsiteX12" fmla="*/ 11575878 w 11804048"/>
                <a:gd name="connsiteY12" fmla="*/ 4213435 h 4985054"/>
                <a:gd name="connsiteX13" fmla="*/ 11776250 w 11804048"/>
                <a:gd name="connsiteY13" fmla="*/ 4673055 h 4985054"/>
                <a:gd name="connsiteX14" fmla="*/ 11803954 w 11804048"/>
                <a:gd name="connsiteY14" fmla="*/ 4924514 h 4985054"/>
                <a:gd name="connsiteX15" fmla="*/ 11800968 w 11804048"/>
                <a:gd name="connsiteY15" fmla="*/ 4985054 h 4985054"/>
                <a:gd name="connsiteX16" fmla="*/ 9480312 w 11804048"/>
                <a:gd name="connsiteY16" fmla="*/ 4985054 h 4985054"/>
                <a:gd name="connsiteX17" fmla="*/ 9473653 w 11804048"/>
                <a:gd name="connsiteY17" fmla="*/ 4562299 h 4985054"/>
                <a:gd name="connsiteX18" fmla="*/ 9259827 w 11804048"/>
                <a:gd name="connsiteY18" fmla="*/ 4101236 h 4985054"/>
                <a:gd name="connsiteX19" fmla="*/ 8687061 w 11804048"/>
                <a:gd name="connsiteY19" fmla="*/ 3702946 h 4985054"/>
                <a:gd name="connsiteX20" fmla="*/ 6827493 w 11804048"/>
                <a:gd name="connsiteY20" fmla="*/ 3273631 h 4985054"/>
                <a:gd name="connsiteX21" fmla="*/ 4576790 w 11804048"/>
                <a:gd name="connsiteY21" fmla="*/ 2773604 h 4985054"/>
                <a:gd name="connsiteX22" fmla="*/ 3783470 w 11804048"/>
                <a:gd name="connsiteY22" fmla="*/ 2452519 h 4985054"/>
                <a:gd name="connsiteX23" fmla="*/ 3471621 w 11804048"/>
                <a:gd name="connsiteY23" fmla="*/ 2056395 h 4985054"/>
                <a:gd name="connsiteX24" fmla="*/ 4040063 w 11804048"/>
                <a:gd name="connsiteY24" fmla="*/ 1497924 h 4985054"/>
                <a:gd name="connsiteX25" fmla="*/ 5174543 w 11804048"/>
                <a:gd name="connsiteY25" fmla="*/ 1224460 h 4985054"/>
                <a:gd name="connsiteX26" fmla="*/ 6135560 w 11804048"/>
                <a:gd name="connsiteY26" fmla="*/ 887141 h 4985054"/>
                <a:gd name="connsiteX27" fmla="*/ 5983239 w 11804048"/>
                <a:gd name="connsiteY27" fmla="*/ 754739 h 4985054"/>
                <a:gd name="connsiteX28" fmla="*/ 5566157 w 11804048"/>
                <a:gd name="connsiteY28" fmla="*/ 638571 h 4985054"/>
                <a:gd name="connsiteX29" fmla="*/ 4293290 w 11804048"/>
                <a:gd name="connsiteY29" fmla="*/ 471535 h 4985054"/>
                <a:gd name="connsiteX30" fmla="*/ 2483701 w 11804048"/>
                <a:gd name="connsiteY30" fmla="*/ 356008 h 4985054"/>
                <a:gd name="connsiteX31" fmla="*/ 0 w 11804048"/>
                <a:gd name="connsiteY31" fmla="*/ 356314 h 4985054"/>
                <a:gd name="connsiteX0" fmla="*/ 6192260 w 11804048"/>
                <a:gd name="connsiteY0" fmla="*/ 0 h 4739361"/>
                <a:gd name="connsiteX1" fmla="*/ 7564593 w 11804048"/>
                <a:gd name="connsiteY1" fmla="*/ 308458 h 4739361"/>
                <a:gd name="connsiteX2" fmla="*/ 8111411 w 11804048"/>
                <a:gd name="connsiteY2" fmla="*/ 744267 h 4739361"/>
                <a:gd name="connsiteX3" fmla="*/ 7998011 w 11804048"/>
                <a:gd name="connsiteY3" fmla="*/ 931507 h 4739361"/>
                <a:gd name="connsiteX4" fmla="*/ 7704421 w 11804048"/>
                <a:gd name="connsiteY4" fmla="*/ 1072206 h 4739361"/>
                <a:gd name="connsiteX5" fmla="*/ 6816921 w 11804048"/>
                <a:gd name="connsiteY5" fmla="*/ 1280731 h 4739361"/>
                <a:gd name="connsiteX6" fmla="*/ 5448433 w 11804048"/>
                <a:gd name="connsiteY6" fmla="*/ 1857241 h 4739361"/>
                <a:gd name="connsiteX7" fmla="*/ 5977954 w 11804048"/>
                <a:gd name="connsiteY7" fmla="*/ 2087051 h 4739361"/>
                <a:gd name="connsiteX8" fmla="*/ 7286859 w 11804048"/>
                <a:gd name="connsiteY8" fmla="*/ 2342115 h 4739361"/>
                <a:gd name="connsiteX9" fmla="*/ 9458757 w 11804048"/>
                <a:gd name="connsiteY9" fmla="*/ 2781532 h 4739361"/>
                <a:gd name="connsiteX10" fmla="*/ 11069902 w 11804048"/>
                <a:gd name="connsiteY10" fmla="*/ 3421898 h 4739361"/>
                <a:gd name="connsiteX11" fmla="*/ 11575878 w 11804048"/>
                <a:gd name="connsiteY11" fmla="*/ 3967742 h 4739361"/>
                <a:gd name="connsiteX12" fmla="*/ 11776250 w 11804048"/>
                <a:gd name="connsiteY12" fmla="*/ 4427362 h 4739361"/>
                <a:gd name="connsiteX13" fmla="*/ 11803954 w 11804048"/>
                <a:gd name="connsiteY13" fmla="*/ 4678821 h 4739361"/>
                <a:gd name="connsiteX14" fmla="*/ 11800968 w 11804048"/>
                <a:gd name="connsiteY14" fmla="*/ 4739361 h 4739361"/>
                <a:gd name="connsiteX15" fmla="*/ 9480312 w 11804048"/>
                <a:gd name="connsiteY15" fmla="*/ 4739361 h 4739361"/>
                <a:gd name="connsiteX16" fmla="*/ 9473653 w 11804048"/>
                <a:gd name="connsiteY16" fmla="*/ 4316606 h 4739361"/>
                <a:gd name="connsiteX17" fmla="*/ 9259827 w 11804048"/>
                <a:gd name="connsiteY17" fmla="*/ 3855543 h 4739361"/>
                <a:gd name="connsiteX18" fmla="*/ 8687061 w 11804048"/>
                <a:gd name="connsiteY18" fmla="*/ 3457253 h 4739361"/>
                <a:gd name="connsiteX19" fmla="*/ 6827493 w 11804048"/>
                <a:gd name="connsiteY19" fmla="*/ 3027938 h 4739361"/>
                <a:gd name="connsiteX20" fmla="*/ 4576790 w 11804048"/>
                <a:gd name="connsiteY20" fmla="*/ 2527911 h 4739361"/>
                <a:gd name="connsiteX21" fmla="*/ 3783470 w 11804048"/>
                <a:gd name="connsiteY21" fmla="*/ 2206826 h 4739361"/>
                <a:gd name="connsiteX22" fmla="*/ 3471621 w 11804048"/>
                <a:gd name="connsiteY22" fmla="*/ 1810702 h 4739361"/>
                <a:gd name="connsiteX23" fmla="*/ 4040063 w 11804048"/>
                <a:gd name="connsiteY23" fmla="*/ 1252231 h 4739361"/>
                <a:gd name="connsiteX24" fmla="*/ 5174543 w 11804048"/>
                <a:gd name="connsiteY24" fmla="*/ 978767 h 4739361"/>
                <a:gd name="connsiteX25" fmla="*/ 6135560 w 11804048"/>
                <a:gd name="connsiteY25" fmla="*/ 641448 h 4739361"/>
                <a:gd name="connsiteX26" fmla="*/ 5983239 w 11804048"/>
                <a:gd name="connsiteY26" fmla="*/ 509046 h 4739361"/>
                <a:gd name="connsiteX27" fmla="*/ 5566157 w 11804048"/>
                <a:gd name="connsiteY27" fmla="*/ 392878 h 4739361"/>
                <a:gd name="connsiteX28" fmla="*/ 4293290 w 11804048"/>
                <a:gd name="connsiteY28" fmla="*/ 225842 h 4739361"/>
                <a:gd name="connsiteX29" fmla="*/ 2483701 w 11804048"/>
                <a:gd name="connsiteY29" fmla="*/ 110315 h 4739361"/>
                <a:gd name="connsiteX30" fmla="*/ 0 w 11804048"/>
                <a:gd name="connsiteY30" fmla="*/ 110621 h 4739361"/>
                <a:gd name="connsiteX0" fmla="*/ 7564593 w 11804048"/>
                <a:gd name="connsiteY0" fmla="*/ 198143 h 4629046"/>
                <a:gd name="connsiteX1" fmla="*/ 8111411 w 11804048"/>
                <a:gd name="connsiteY1" fmla="*/ 633952 h 4629046"/>
                <a:gd name="connsiteX2" fmla="*/ 7998011 w 11804048"/>
                <a:gd name="connsiteY2" fmla="*/ 821192 h 4629046"/>
                <a:gd name="connsiteX3" fmla="*/ 7704421 w 11804048"/>
                <a:gd name="connsiteY3" fmla="*/ 961891 h 4629046"/>
                <a:gd name="connsiteX4" fmla="*/ 6816921 w 11804048"/>
                <a:gd name="connsiteY4" fmla="*/ 1170416 h 4629046"/>
                <a:gd name="connsiteX5" fmla="*/ 5448433 w 11804048"/>
                <a:gd name="connsiteY5" fmla="*/ 1746926 h 4629046"/>
                <a:gd name="connsiteX6" fmla="*/ 5977954 w 11804048"/>
                <a:gd name="connsiteY6" fmla="*/ 1976736 h 4629046"/>
                <a:gd name="connsiteX7" fmla="*/ 7286859 w 11804048"/>
                <a:gd name="connsiteY7" fmla="*/ 2231800 h 4629046"/>
                <a:gd name="connsiteX8" fmla="*/ 9458757 w 11804048"/>
                <a:gd name="connsiteY8" fmla="*/ 2671217 h 4629046"/>
                <a:gd name="connsiteX9" fmla="*/ 11069902 w 11804048"/>
                <a:gd name="connsiteY9" fmla="*/ 3311583 h 4629046"/>
                <a:gd name="connsiteX10" fmla="*/ 11575878 w 11804048"/>
                <a:gd name="connsiteY10" fmla="*/ 3857427 h 4629046"/>
                <a:gd name="connsiteX11" fmla="*/ 11776250 w 11804048"/>
                <a:gd name="connsiteY11" fmla="*/ 4317047 h 4629046"/>
                <a:gd name="connsiteX12" fmla="*/ 11803954 w 11804048"/>
                <a:gd name="connsiteY12" fmla="*/ 4568506 h 4629046"/>
                <a:gd name="connsiteX13" fmla="*/ 11800968 w 11804048"/>
                <a:gd name="connsiteY13" fmla="*/ 4629046 h 4629046"/>
                <a:gd name="connsiteX14" fmla="*/ 9480312 w 11804048"/>
                <a:gd name="connsiteY14" fmla="*/ 4629046 h 4629046"/>
                <a:gd name="connsiteX15" fmla="*/ 9473653 w 11804048"/>
                <a:gd name="connsiteY15" fmla="*/ 4206291 h 4629046"/>
                <a:gd name="connsiteX16" fmla="*/ 9259827 w 11804048"/>
                <a:gd name="connsiteY16" fmla="*/ 3745228 h 4629046"/>
                <a:gd name="connsiteX17" fmla="*/ 8687061 w 11804048"/>
                <a:gd name="connsiteY17" fmla="*/ 3346938 h 4629046"/>
                <a:gd name="connsiteX18" fmla="*/ 6827493 w 11804048"/>
                <a:gd name="connsiteY18" fmla="*/ 2917623 h 4629046"/>
                <a:gd name="connsiteX19" fmla="*/ 4576790 w 11804048"/>
                <a:gd name="connsiteY19" fmla="*/ 2417596 h 4629046"/>
                <a:gd name="connsiteX20" fmla="*/ 3783470 w 11804048"/>
                <a:gd name="connsiteY20" fmla="*/ 2096511 h 4629046"/>
                <a:gd name="connsiteX21" fmla="*/ 3471621 w 11804048"/>
                <a:gd name="connsiteY21" fmla="*/ 1700387 h 4629046"/>
                <a:gd name="connsiteX22" fmla="*/ 4040063 w 11804048"/>
                <a:gd name="connsiteY22" fmla="*/ 1141916 h 4629046"/>
                <a:gd name="connsiteX23" fmla="*/ 5174543 w 11804048"/>
                <a:gd name="connsiteY23" fmla="*/ 868452 h 4629046"/>
                <a:gd name="connsiteX24" fmla="*/ 6135560 w 11804048"/>
                <a:gd name="connsiteY24" fmla="*/ 531133 h 4629046"/>
                <a:gd name="connsiteX25" fmla="*/ 5983239 w 11804048"/>
                <a:gd name="connsiteY25" fmla="*/ 398731 h 4629046"/>
                <a:gd name="connsiteX26" fmla="*/ 5566157 w 11804048"/>
                <a:gd name="connsiteY26" fmla="*/ 282563 h 4629046"/>
                <a:gd name="connsiteX27" fmla="*/ 4293290 w 11804048"/>
                <a:gd name="connsiteY27" fmla="*/ 115527 h 4629046"/>
                <a:gd name="connsiteX28" fmla="*/ 2483701 w 11804048"/>
                <a:gd name="connsiteY28" fmla="*/ 0 h 4629046"/>
                <a:gd name="connsiteX29" fmla="*/ 0 w 11804048"/>
                <a:gd name="connsiteY29" fmla="*/ 306 h 4629046"/>
                <a:gd name="connsiteX0" fmla="*/ 8111411 w 11804048"/>
                <a:gd name="connsiteY0" fmla="*/ 633952 h 4629046"/>
                <a:gd name="connsiteX1" fmla="*/ 7998011 w 11804048"/>
                <a:gd name="connsiteY1" fmla="*/ 821192 h 4629046"/>
                <a:gd name="connsiteX2" fmla="*/ 7704421 w 11804048"/>
                <a:gd name="connsiteY2" fmla="*/ 961891 h 4629046"/>
                <a:gd name="connsiteX3" fmla="*/ 6816921 w 11804048"/>
                <a:gd name="connsiteY3" fmla="*/ 1170416 h 4629046"/>
                <a:gd name="connsiteX4" fmla="*/ 5448433 w 11804048"/>
                <a:gd name="connsiteY4" fmla="*/ 1746926 h 4629046"/>
                <a:gd name="connsiteX5" fmla="*/ 5977954 w 11804048"/>
                <a:gd name="connsiteY5" fmla="*/ 1976736 h 4629046"/>
                <a:gd name="connsiteX6" fmla="*/ 7286859 w 11804048"/>
                <a:gd name="connsiteY6" fmla="*/ 2231800 h 4629046"/>
                <a:gd name="connsiteX7" fmla="*/ 9458757 w 11804048"/>
                <a:gd name="connsiteY7" fmla="*/ 2671217 h 4629046"/>
                <a:gd name="connsiteX8" fmla="*/ 11069902 w 11804048"/>
                <a:gd name="connsiteY8" fmla="*/ 3311583 h 4629046"/>
                <a:gd name="connsiteX9" fmla="*/ 11575878 w 11804048"/>
                <a:gd name="connsiteY9" fmla="*/ 3857427 h 4629046"/>
                <a:gd name="connsiteX10" fmla="*/ 11776250 w 11804048"/>
                <a:gd name="connsiteY10" fmla="*/ 4317047 h 4629046"/>
                <a:gd name="connsiteX11" fmla="*/ 11803954 w 11804048"/>
                <a:gd name="connsiteY11" fmla="*/ 4568506 h 4629046"/>
                <a:gd name="connsiteX12" fmla="*/ 11800968 w 11804048"/>
                <a:gd name="connsiteY12" fmla="*/ 4629046 h 4629046"/>
                <a:gd name="connsiteX13" fmla="*/ 9480312 w 11804048"/>
                <a:gd name="connsiteY13" fmla="*/ 4629046 h 4629046"/>
                <a:gd name="connsiteX14" fmla="*/ 9473653 w 11804048"/>
                <a:gd name="connsiteY14" fmla="*/ 4206291 h 4629046"/>
                <a:gd name="connsiteX15" fmla="*/ 9259827 w 11804048"/>
                <a:gd name="connsiteY15" fmla="*/ 3745228 h 4629046"/>
                <a:gd name="connsiteX16" fmla="*/ 8687061 w 11804048"/>
                <a:gd name="connsiteY16" fmla="*/ 3346938 h 4629046"/>
                <a:gd name="connsiteX17" fmla="*/ 6827493 w 11804048"/>
                <a:gd name="connsiteY17" fmla="*/ 2917623 h 4629046"/>
                <a:gd name="connsiteX18" fmla="*/ 4576790 w 11804048"/>
                <a:gd name="connsiteY18" fmla="*/ 2417596 h 4629046"/>
                <a:gd name="connsiteX19" fmla="*/ 3783470 w 11804048"/>
                <a:gd name="connsiteY19" fmla="*/ 2096511 h 4629046"/>
                <a:gd name="connsiteX20" fmla="*/ 3471621 w 11804048"/>
                <a:gd name="connsiteY20" fmla="*/ 1700387 h 4629046"/>
                <a:gd name="connsiteX21" fmla="*/ 4040063 w 11804048"/>
                <a:gd name="connsiteY21" fmla="*/ 1141916 h 4629046"/>
                <a:gd name="connsiteX22" fmla="*/ 5174543 w 11804048"/>
                <a:gd name="connsiteY22" fmla="*/ 868452 h 4629046"/>
                <a:gd name="connsiteX23" fmla="*/ 6135560 w 11804048"/>
                <a:gd name="connsiteY23" fmla="*/ 531133 h 4629046"/>
                <a:gd name="connsiteX24" fmla="*/ 5983239 w 11804048"/>
                <a:gd name="connsiteY24" fmla="*/ 398731 h 4629046"/>
                <a:gd name="connsiteX25" fmla="*/ 5566157 w 11804048"/>
                <a:gd name="connsiteY25" fmla="*/ 282563 h 4629046"/>
                <a:gd name="connsiteX26" fmla="*/ 4293290 w 11804048"/>
                <a:gd name="connsiteY26" fmla="*/ 115527 h 4629046"/>
                <a:gd name="connsiteX27" fmla="*/ 2483701 w 11804048"/>
                <a:gd name="connsiteY27" fmla="*/ 0 h 4629046"/>
                <a:gd name="connsiteX28" fmla="*/ 0 w 11804048"/>
                <a:gd name="connsiteY28" fmla="*/ 306 h 4629046"/>
                <a:gd name="connsiteX0" fmla="*/ 7998011 w 11804048"/>
                <a:gd name="connsiteY0" fmla="*/ 821192 h 4629046"/>
                <a:gd name="connsiteX1" fmla="*/ 7704421 w 11804048"/>
                <a:gd name="connsiteY1" fmla="*/ 961891 h 4629046"/>
                <a:gd name="connsiteX2" fmla="*/ 6816921 w 11804048"/>
                <a:gd name="connsiteY2" fmla="*/ 1170416 h 4629046"/>
                <a:gd name="connsiteX3" fmla="*/ 5448433 w 11804048"/>
                <a:gd name="connsiteY3" fmla="*/ 1746926 h 4629046"/>
                <a:gd name="connsiteX4" fmla="*/ 5977954 w 11804048"/>
                <a:gd name="connsiteY4" fmla="*/ 1976736 h 4629046"/>
                <a:gd name="connsiteX5" fmla="*/ 7286859 w 11804048"/>
                <a:gd name="connsiteY5" fmla="*/ 2231800 h 4629046"/>
                <a:gd name="connsiteX6" fmla="*/ 9458757 w 11804048"/>
                <a:gd name="connsiteY6" fmla="*/ 2671217 h 4629046"/>
                <a:gd name="connsiteX7" fmla="*/ 11069902 w 11804048"/>
                <a:gd name="connsiteY7" fmla="*/ 3311583 h 4629046"/>
                <a:gd name="connsiteX8" fmla="*/ 11575878 w 11804048"/>
                <a:gd name="connsiteY8" fmla="*/ 3857427 h 4629046"/>
                <a:gd name="connsiteX9" fmla="*/ 11776250 w 11804048"/>
                <a:gd name="connsiteY9" fmla="*/ 4317047 h 4629046"/>
                <a:gd name="connsiteX10" fmla="*/ 11803954 w 11804048"/>
                <a:gd name="connsiteY10" fmla="*/ 4568506 h 4629046"/>
                <a:gd name="connsiteX11" fmla="*/ 11800968 w 11804048"/>
                <a:gd name="connsiteY11" fmla="*/ 4629046 h 4629046"/>
                <a:gd name="connsiteX12" fmla="*/ 9480312 w 11804048"/>
                <a:gd name="connsiteY12" fmla="*/ 4629046 h 4629046"/>
                <a:gd name="connsiteX13" fmla="*/ 9473653 w 11804048"/>
                <a:gd name="connsiteY13" fmla="*/ 4206291 h 4629046"/>
                <a:gd name="connsiteX14" fmla="*/ 9259827 w 11804048"/>
                <a:gd name="connsiteY14" fmla="*/ 3745228 h 4629046"/>
                <a:gd name="connsiteX15" fmla="*/ 8687061 w 11804048"/>
                <a:gd name="connsiteY15" fmla="*/ 3346938 h 4629046"/>
                <a:gd name="connsiteX16" fmla="*/ 6827493 w 11804048"/>
                <a:gd name="connsiteY16" fmla="*/ 2917623 h 4629046"/>
                <a:gd name="connsiteX17" fmla="*/ 4576790 w 11804048"/>
                <a:gd name="connsiteY17" fmla="*/ 2417596 h 4629046"/>
                <a:gd name="connsiteX18" fmla="*/ 3783470 w 11804048"/>
                <a:gd name="connsiteY18" fmla="*/ 2096511 h 4629046"/>
                <a:gd name="connsiteX19" fmla="*/ 3471621 w 11804048"/>
                <a:gd name="connsiteY19" fmla="*/ 1700387 h 4629046"/>
                <a:gd name="connsiteX20" fmla="*/ 4040063 w 11804048"/>
                <a:gd name="connsiteY20" fmla="*/ 1141916 h 4629046"/>
                <a:gd name="connsiteX21" fmla="*/ 5174543 w 11804048"/>
                <a:gd name="connsiteY21" fmla="*/ 868452 h 4629046"/>
                <a:gd name="connsiteX22" fmla="*/ 6135560 w 11804048"/>
                <a:gd name="connsiteY22" fmla="*/ 531133 h 4629046"/>
                <a:gd name="connsiteX23" fmla="*/ 5983239 w 11804048"/>
                <a:gd name="connsiteY23" fmla="*/ 398731 h 4629046"/>
                <a:gd name="connsiteX24" fmla="*/ 5566157 w 11804048"/>
                <a:gd name="connsiteY24" fmla="*/ 282563 h 4629046"/>
                <a:gd name="connsiteX25" fmla="*/ 4293290 w 11804048"/>
                <a:gd name="connsiteY25" fmla="*/ 115527 h 4629046"/>
                <a:gd name="connsiteX26" fmla="*/ 2483701 w 11804048"/>
                <a:gd name="connsiteY26" fmla="*/ 0 h 4629046"/>
                <a:gd name="connsiteX27" fmla="*/ 0 w 11804048"/>
                <a:gd name="connsiteY27" fmla="*/ 306 h 4629046"/>
                <a:gd name="connsiteX0" fmla="*/ 7704421 w 11804048"/>
                <a:gd name="connsiteY0" fmla="*/ 961891 h 4629046"/>
                <a:gd name="connsiteX1" fmla="*/ 6816921 w 11804048"/>
                <a:gd name="connsiteY1" fmla="*/ 1170416 h 4629046"/>
                <a:gd name="connsiteX2" fmla="*/ 5448433 w 11804048"/>
                <a:gd name="connsiteY2" fmla="*/ 1746926 h 4629046"/>
                <a:gd name="connsiteX3" fmla="*/ 5977954 w 11804048"/>
                <a:gd name="connsiteY3" fmla="*/ 1976736 h 4629046"/>
                <a:gd name="connsiteX4" fmla="*/ 7286859 w 11804048"/>
                <a:gd name="connsiteY4" fmla="*/ 2231800 h 4629046"/>
                <a:gd name="connsiteX5" fmla="*/ 9458757 w 11804048"/>
                <a:gd name="connsiteY5" fmla="*/ 2671217 h 4629046"/>
                <a:gd name="connsiteX6" fmla="*/ 11069902 w 11804048"/>
                <a:gd name="connsiteY6" fmla="*/ 3311583 h 4629046"/>
                <a:gd name="connsiteX7" fmla="*/ 11575878 w 11804048"/>
                <a:gd name="connsiteY7" fmla="*/ 3857427 h 4629046"/>
                <a:gd name="connsiteX8" fmla="*/ 11776250 w 11804048"/>
                <a:gd name="connsiteY8" fmla="*/ 4317047 h 4629046"/>
                <a:gd name="connsiteX9" fmla="*/ 11803954 w 11804048"/>
                <a:gd name="connsiteY9" fmla="*/ 4568506 h 4629046"/>
                <a:gd name="connsiteX10" fmla="*/ 11800968 w 11804048"/>
                <a:gd name="connsiteY10" fmla="*/ 4629046 h 4629046"/>
                <a:gd name="connsiteX11" fmla="*/ 9480312 w 11804048"/>
                <a:gd name="connsiteY11" fmla="*/ 4629046 h 4629046"/>
                <a:gd name="connsiteX12" fmla="*/ 9473653 w 11804048"/>
                <a:gd name="connsiteY12" fmla="*/ 4206291 h 4629046"/>
                <a:gd name="connsiteX13" fmla="*/ 9259827 w 11804048"/>
                <a:gd name="connsiteY13" fmla="*/ 3745228 h 4629046"/>
                <a:gd name="connsiteX14" fmla="*/ 8687061 w 11804048"/>
                <a:gd name="connsiteY14" fmla="*/ 3346938 h 4629046"/>
                <a:gd name="connsiteX15" fmla="*/ 6827493 w 11804048"/>
                <a:gd name="connsiteY15" fmla="*/ 2917623 h 4629046"/>
                <a:gd name="connsiteX16" fmla="*/ 4576790 w 11804048"/>
                <a:gd name="connsiteY16" fmla="*/ 2417596 h 4629046"/>
                <a:gd name="connsiteX17" fmla="*/ 3783470 w 11804048"/>
                <a:gd name="connsiteY17" fmla="*/ 2096511 h 4629046"/>
                <a:gd name="connsiteX18" fmla="*/ 3471621 w 11804048"/>
                <a:gd name="connsiteY18" fmla="*/ 1700387 h 4629046"/>
                <a:gd name="connsiteX19" fmla="*/ 4040063 w 11804048"/>
                <a:gd name="connsiteY19" fmla="*/ 1141916 h 4629046"/>
                <a:gd name="connsiteX20" fmla="*/ 5174543 w 11804048"/>
                <a:gd name="connsiteY20" fmla="*/ 868452 h 4629046"/>
                <a:gd name="connsiteX21" fmla="*/ 6135560 w 11804048"/>
                <a:gd name="connsiteY21" fmla="*/ 531133 h 4629046"/>
                <a:gd name="connsiteX22" fmla="*/ 5983239 w 11804048"/>
                <a:gd name="connsiteY22" fmla="*/ 398731 h 4629046"/>
                <a:gd name="connsiteX23" fmla="*/ 5566157 w 11804048"/>
                <a:gd name="connsiteY23" fmla="*/ 282563 h 4629046"/>
                <a:gd name="connsiteX24" fmla="*/ 4293290 w 11804048"/>
                <a:gd name="connsiteY24" fmla="*/ 115527 h 4629046"/>
                <a:gd name="connsiteX25" fmla="*/ 2483701 w 11804048"/>
                <a:gd name="connsiteY25" fmla="*/ 0 h 4629046"/>
                <a:gd name="connsiteX26" fmla="*/ 0 w 11804048"/>
                <a:gd name="connsiteY26" fmla="*/ 306 h 4629046"/>
                <a:gd name="connsiteX0" fmla="*/ 6816921 w 11804048"/>
                <a:gd name="connsiteY0" fmla="*/ 1170416 h 4629046"/>
                <a:gd name="connsiteX1" fmla="*/ 5448433 w 11804048"/>
                <a:gd name="connsiteY1" fmla="*/ 1746926 h 4629046"/>
                <a:gd name="connsiteX2" fmla="*/ 5977954 w 11804048"/>
                <a:gd name="connsiteY2" fmla="*/ 1976736 h 4629046"/>
                <a:gd name="connsiteX3" fmla="*/ 7286859 w 11804048"/>
                <a:gd name="connsiteY3" fmla="*/ 2231800 h 4629046"/>
                <a:gd name="connsiteX4" fmla="*/ 9458757 w 11804048"/>
                <a:gd name="connsiteY4" fmla="*/ 2671217 h 4629046"/>
                <a:gd name="connsiteX5" fmla="*/ 11069902 w 11804048"/>
                <a:gd name="connsiteY5" fmla="*/ 3311583 h 4629046"/>
                <a:gd name="connsiteX6" fmla="*/ 11575878 w 11804048"/>
                <a:gd name="connsiteY6" fmla="*/ 3857427 h 4629046"/>
                <a:gd name="connsiteX7" fmla="*/ 11776250 w 11804048"/>
                <a:gd name="connsiteY7" fmla="*/ 4317047 h 4629046"/>
                <a:gd name="connsiteX8" fmla="*/ 11803954 w 11804048"/>
                <a:gd name="connsiteY8" fmla="*/ 4568506 h 4629046"/>
                <a:gd name="connsiteX9" fmla="*/ 11800968 w 11804048"/>
                <a:gd name="connsiteY9" fmla="*/ 4629046 h 4629046"/>
                <a:gd name="connsiteX10" fmla="*/ 9480312 w 11804048"/>
                <a:gd name="connsiteY10" fmla="*/ 4629046 h 4629046"/>
                <a:gd name="connsiteX11" fmla="*/ 9473653 w 11804048"/>
                <a:gd name="connsiteY11" fmla="*/ 4206291 h 4629046"/>
                <a:gd name="connsiteX12" fmla="*/ 9259827 w 11804048"/>
                <a:gd name="connsiteY12" fmla="*/ 3745228 h 4629046"/>
                <a:gd name="connsiteX13" fmla="*/ 8687061 w 11804048"/>
                <a:gd name="connsiteY13" fmla="*/ 3346938 h 4629046"/>
                <a:gd name="connsiteX14" fmla="*/ 6827493 w 11804048"/>
                <a:gd name="connsiteY14" fmla="*/ 2917623 h 4629046"/>
                <a:gd name="connsiteX15" fmla="*/ 4576790 w 11804048"/>
                <a:gd name="connsiteY15" fmla="*/ 2417596 h 4629046"/>
                <a:gd name="connsiteX16" fmla="*/ 3783470 w 11804048"/>
                <a:gd name="connsiteY16" fmla="*/ 2096511 h 4629046"/>
                <a:gd name="connsiteX17" fmla="*/ 3471621 w 11804048"/>
                <a:gd name="connsiteY17" fmla="*/ 1700387 h 4629046"/>
                <a:gd name="connsiteX18" fmla="*/ 4040063 w 11804048"/>
                <a:gd name="connsiteY18" fmla="*/ 1141916 h 4629046"/>
                <a:gd name="connsiteX19" fmla="*/ 5174543 w 11804048"/>
                <a:gd name="connsiteY19" fmla="*/ 868452 h 4629046"/>
                <a:gd name="connsiteX20" fmla="*/ 6135560 w 11804048"/>
                <a:gd name="connsiteY20" fmla="*/ 531133 h 4629046"/>
                <a:gd name="connsiteX21" fmla="*/ 5983239 w 11804048"/>
                <a:gd name="connsiteY21" fmla="*/ 398731 h 4629046"/>
                <a:gd name="connsiteX22" fmla="*/ 5566157 w 11804048"/>
                <a:gd name="connsiteY22" fmla="*/ 282563 h 4629046"/>
                <a:gd name="connsiteX23" fmla="*/ 4293290 w 11804048"/>
                <a:gd name="connsiteY23" fmla="*/ 115527 h 4629046"/>
                <a:gd name="connsiteX24" fmla="*/ 2483701 w 11804048"/>
                <a:gd name="connsiteY24" fmla="*/ 0 h 4629046"/>
                <a:gd name="connsiteX25" fmla="*/ 0 w 11804048"/>
                <a:gd name="connsiteY25" fmla="*/ 306 h 4629046"/>
                <a:gd name="connsiteX0" fmla="*/ 5448433 w 11804048"/>
                <a:gd name="connsiteY0" fmla="*/ 1746926 h 4629046"/>
                <a:gd name="connsiteX1" fmla="*/ 5977954 w 11804048"/>
                <a:gd name="connsiteY1" fmla="*/ 1976736 h 4629046"/>
                <a:gd name="connsiteX2" fmla="*/ 7286859 w 11804048"/>
                <a:gd name="connsiteY2" fmla="*/ 2231800 h 4629046"/>
                <a:gd name="connsiteX3" fmla="*/ 9458757 w 11804048"/>
                <a:gd name="connsiteY3" fmla="*/ 2671217 h 4629046"/>
                <a:gd name="connsiteX4" fmla="*/ 11069902 w 11804048"/>
                <a:gd name="connsiteY4" fmla="*/ 3311583 h 4629046"/>
                <a:gd name="connsiteX5" fmla="*/ 11575878 w 11804048"/>
                <a:gd name="connsiteY5" fmla="*/ 3857427 h 4629046"/>
                <a:gd name="connsiteX6" fmla="*/ 11776250 w 11804048"/>
                <a:gd name="connsiteY6" fmla="*/ 4317047 h 4629046"/>
                <a:gd name="connsiteX7" fmla="*/ 11803954 w 11804048"/>
                <a:gd name="connsiteY7" fmla="*/ 4568506 h 4629046"/>
                <a:gd name="connsiteX8" fmla="*/ 11800968 w 11804048"/>
                <a:gd name="connsiteY8" fmla="*/ 4629046 h 4629046"/>
                <a:gd name="connsiteX9" fmla="*/ 9480312 w 11804048"/>
                <a:gd name="connsiteY9" fmla="*/ 4629046 h 4629046"/>
                <a:gd name="connsiteX10" fmla="*/ 9473653 w 11804048"/>
                <a:gd name="connsiteY10" fmla="*/ 4206291 h 4629046"/>
                <a:gd name="connsiteX11" fmla="*/ 9259827 w 11804048"/>
                <a:gd name="connsiteY11" fmla="*/ 3745228 h 4629046"/>
                <a:gd name="connsiteX12" fmla="*/ 8687061 w 11804048"/>
                <a:gd name="connsiteY12" fmla="*/ 3346938 h 4629046"/>
                <a:gd name="connsiteX13" fmla="*/ 6827493 w 11804048"/>
                <a:gd name="connsiteY13" fmla="*/ 2917623 h 4629046"/>
                <a:gd name="connsiteX14" fmla="*/ 4576790 w 11804048"/>
                <a:gd name="connsiteY14" fmla="*/ 2417596 h 4629046"/>
                <a:gd name="connsiteX15" fmla="*/ 3783470 w 11804048"/>
                <a:gd name="connsiteY15" fmla="*/ 2096511 h 4629046"/>
                <a:gd name="connsiteX16" fmla="*/ 3471621 w 11804048"/>
                <a:gd name="connsiteY16" fmla="*/ 1700387 h 4629046"/>
                <a:gd name="connsiteX17" fmla="*/ 4040063 w 11804048"/>
                <a:gd name="connsiteY17" fmla="*/ 1141916 h 4629046"/>
                <a:gd name="connsiteX18" fmla="*/ 5174543 w 11804048"/>
                <a:gd name="connsiteY18" fmla="*/ 868452 h 4629046"/>
                <a:gd name="connsiteX19" fmla="*/ 6135560 w 11804048"/>
                <a:gd name="connsiteY19" fmla="*/ 531133 h 4629046"/>
                <a:gd name="connsiteX20" fmla="*/ 5983239 w 11804048"/>
                <a:gd name="connsiteY20" fmla="*/ 398731 h 4629046"/>
                <a:gd name="connsiteX21" fmla="*/ 5566157 w 11804048"/>
                <a:gd name="connsiteY21" fmla="*/ 282563 h 4629046"/>
                <a:gd name="connsiteX22" fmla="*/ 4293290 w 11804048"/>
                <a:gd name="connsiteY22" fmla="*/ 115527 h 4629046"/>
                <a:gd name="connsiteX23" fmla="*/ 2483701 w 11804048"/>
                <a:gd name="connsiteY23" fmla="*/ 0 h 4629046"/>
                <a:gd name="connsiteX24" fmla="*/ 0 w 11804048"/>
                <a:gd name="connsiteY24" fmla="*/ 306 h 4629046"/>
                <a:gd name="connsiteX0" fmla="*/ 5977954 w 11804048"/>
                <a:gd name="connsiteY0" fmla="*/ 1976736 h 4629046"/>
                <a:gd name="connsiteX1" fmla="*/ 7286859 w 11804048"/>
                <a:gd name="connsiteY1" fmla="*/ 2231800 h 4629046"/>
                <a:gd name="connsiteX2" fmla="*/ 9458757 w 11804048"/>
                <a:gd name="connsiteY2" fmla="*/ 2671217 h 4629046"/>
                <a:gd name="connsiteX3" fmla="*/ 11069902 w 11804048"/>
                <a:gd name="connsiteY3" fmla="*/ 3311583 h 4629046"/>
                <a:gd name="connsiteX4" fmla="*/ 11575878 w 11804048"/>
                <a:gd name="connsiteY4" fmla="*/ 3857427 h 4629046"/>
                <a:gd name="connsiteX5" fmla="*/ 11776250 w 11804048"/>
                <a:gd name="connsiteY5" fmla="*/ 4317047 h 4629046"/>
                <a:gd name="connsiteX6" fmla="*/ 11803954 w 11804048"/>
                <a:gd name="connsiteY6" fmla="*/ 4568506 h 4629046"/>
                <a:gd name="connsiteX7" fmla="*/ 11800968 w 11804048"/>
                <a:gd name="connsiteY7" fmla="*/ 4629046 h 4629046"/>
                <a:gd name="connsiteX8" fmla="*/ 9480312 w 11804048"/>
                <a:gd name="connsiteY8" fmla="*/ 4629046 h 4629046"/>
                <a:gd name="connsiteX9" fmla="*/ 9473653 w 11804048"/>
                <a:gd name="connsiteY9" fmla="*/ 4206291 h 4629046"/>
                <a:gd name="connsiteX10" fmla="*/ 9259827 w 11804048"/>
                <a:gd name="connsiteY10" fmla="*/ 3745228 h 4629046"/>
                <a:gd name="connsiteX11" fmla="*/ 8687061 w 11804048"/>
                <a:gd name="connsiteY11" fmla="*/ 3346938 h 4629046"/>
                <a:gd name="connsiteX12" fmla="*/ 6827493 w 11804048"/>
                <a:gd name="connsiteY12" fmla="*/ 2917623 h 4629046"/>
                <a:gd name="connsiteX13" fmla="*/ 4576790 w 11804048"/>
                <a:gd name="connsiteY13" fmla="*/ 2417596 h 4629046"/>
                <a:gd name="connsiteX14" fmla="*/ 3783470 w 11804048"/>
                <a:gd name="connsiteY14" fmla="*/ 2096511 h 4629046"/>
                <a:gd name="connsiteX15" fmla="*/ 3471621 w 11804048"/>
                <a:gd name="connsiteY15" fmla="*/ 1700387 h 4629046"/>
                <a:gd name="connsiteX16" fmla="*/ 4040063 w 11804048"/>
                <a:gd name="connsiteY16" fmla="*/ 1141916 h 4629046"/>
                <a:gd name="connsiteX17" fmla="*/ 5174543 w 11804048"/>
                <a:gd name="connsiteY17" fmla="*/ 868452 h 4629046"/>
                <a:gd name="connsiteX18" fmla="*/ 6135560 w 11804048"/>
                <a:gd name="connsiteY18" fmla="*/ 531133 h 4629046"/>
                <a:gd name="connsiteX19" fmla="*/ 5983239 w 11804048"/>
                <a:gd name="connsiteY19" fmla="*/ 398731 h 4629046"/>
                <a:gd name="connsiteX20" fmla="*/ 5566157 w 11804048"/>
                <a:gd name="connsiteY20" fmla="*/ 282563 h 4629046"/>
                <a:gd name="connsiteX21" fmla="*/ 4293290 w 11804048"/>
                <a:gd name="connsiteY21" fmla="*/ 115527 h 4629046"/>
                <a:gd name="connsiteX22" fmla="*/ 2483701 w 11804048"/>
                <a:gd name="connsiteY22" fmla="*/ 0 h 4629046"/>
                <a:gd name="connsiteX23" fmla="*/ 0 w 11804048"/>
                <a:gd name="connsiteY23" fmla="*/ 306 h 4629046"/>
                <a:gd name="connsiteX0" fmla="*/ 7286859 w 11804048"/>
                <a:gd name="connsiteY0" fmla="*/ 2231800 h 4629046"/>
                <a:gd name="connsiteX1" fmla="*/ 9458757 w 11804048"/>
                <a:gd name="connsiteY1" fmla="*/ 2671217 h 4629046"/>
                <a:gd name="connsiteX2" fmla="*/ 11069902 w 11804048"/>
                <a:gd name="connsiteY2" fmla="*/ 3311583 h 4629046"/>
                <a:gd name="connsiteX3" fmla="*/ 11575878 w 11804048"/>
                <a:gd name="connsiteY3" fmla="*/ 3857427 h 4629046"/>
                <a:gd name="connsiteX4" fmla="*/ 11776250 w 11804048"/>
                <a:gd name="connsiteY4" fmla="*/ 4317047 h 4629046"/>
                <a:gd name="connsiteX5" fmla="*/ 11803954 w 11804048"/>
                <a:gd name="connsiteY5" fmla="*/ 4568506 h 4629046"/>
                <a:gd name="connsiteX6" fmla="*/ 11800968 w 11804048"/>
                <a:gd name="connsiteY6" fmla="*/ 4629046 h 4629046"/>
                <a:gd name="connsiteX7" fmla="*/ 9480312 w 11804048"/>
                <a:gd name="connsiteY7" fmla="*/ 4629046 h 4629046"/>
                <a:gd name="connsiteX8" fmla="*/ 9473653 w 11804048"/>
                <a:gd name="connsiteY8" fmla="*/ 4206291 h 4629046"/>
                <a:gd name="connsiteX9" fmla="*/ 9259827 w 11804048"/>
                <a:gd name="connsiteY9" fmla="*/ 3745228 h 4629046"/>
                <a:gd name="connsiteX10" fmla="*/ 8687061 w 11804048"/>
                <a:gd name="connsiteY10" fmla="*/ 3346938 h 4629046"/>
                <a:gd name="connsiteX11" fmla="*/ 6827493 w 11804048"/>
                <a:gd name="connsiteY11" fmla="*/ 2917623 h 4629046"/>
                <a:gd name="connsiteX12" fmla="*/ 4576790 w 11804048"/>
                <a:gd name="connsiteY12" fmla="*/ 2417596 h 4629046"/>
                <a:gd name="connsiteX13" fmla="*/ 3783470 w 11804048"/>
                <a:gd name="connsiteY13" fmla="*/ 2096511 h 4629046"/>
                <a:gd name="connsiteX14" fmla="*/ 3471621 w 11804048"/>
                <a:gd name="connsiteY14" fmla="*/ 1700387 h 4629046"/>
                <a:gd name="connsiteX15" fmla="*/ 4040063 w 11804048"/>
                <a:gd name="connsiteY15" fmla="*/ 1141916 h 4629046"/>
                <a:gd name="connsiteX16" fmla="*/ 5174543 w 11804048"/>
                <a:gd name="connsiteY16" fmla="*/ 868452 h 4629046"/>
                <a:gd name="connsiteX17" fmla="*/ 6135560 w 11804048"/>
                <a:gd name="connsiteY17" fmla="*/ 531133 h 4629046"/>
                <a:gd name="connsiteX18" fmla="*/ 5983239 w 11804048"/>
                <a:gd name="connsiteY18" fmla="*/ 398731 h 4629046"/>
                <a:gd name="connsiteX19" fmla="*/ 5566157 w 11804048"/>
                <a:gd name="connsiteY19" fmla="*/ 282563 h 4629046"/>
                <a:gd name="connsiteX20" fmla="*/ 4293290 w 11804048"/>
                <a:gd name="connsiteY20" fmla="*/ 115527 h 4629046"/>
                <a:gd name="connsiteX21" fmla="*/ 2483701 w 11804048"/>
                <a:gd name="connsiteY21" fmla="*/ 0 h 4629046"/>
                <a:gd name="connsiteX22" fmla="*/ 0 w 11804048"/>
                <a:gd name="connsiteY22" fmla="*/ 306 h 4629046"/>
                <a:gd name="connsiteX0" fmla="*/ 9458757 w 11804048"/>
                <a:gd name="connsiteY0" fmla="*/ 2671217 h 4629046"/>
                <a:gd name="connsiteX1" fmla="*/ 11069902 w 11804048"/>
                <a:gd name="connsiteY1" fmla="*/ 3311583 h 4629046"/>
                <a:gd name="connsiteX2" fmla="*/ 11575878 w 11804048"/>
                <a:gd name="connsiteY2" fmla="*/ 3857427 h 4629046"/>
                <a:gd name="connsiteX3" fmla="*/ 11776250 w 11804048"/>
                <a:gd name="connsiteY3" fmla="*/ 4317047 h 4629046"/>
                <a:gd name="connsiteX4" fmla="*/ 11803954 w 11804048"/>
                <a:gd name="connsiteY4" fmla="*/ 4568506 h 4629046"/>
                <a:gd name="connsiteX5" fmla="*/ 11800968 w 11804048"/>
                <a:gd name="connsiteY5" fmla="*/ 4629046 h 4629046"/>
                <a:gd name="connsiteX6" fmla="*/ 9480312 w 11804048"/>
                <a:gd name="connsiteY6" fmla="*/ 4629046 h 4629046"/>
                <a:gd name="connsiteX7" fmla="*/ 9473653 w 11804048"/>
                <a:gd name="connsiteY7" fmla="*/ 4206291 h 4629046"/>
                <a:gd name="connsiteX8" fmla="*/ 9259827 w 11804048"/>
                <a:gd name="connsiteY8" fmla="*/ 3745228 h 4629046"/>
                <a:gd name="connsiteX9" fmla="*/ 8687061 w 11804048"/>
                <a:gd name="connsiteY9" fmla="*/ 3346938 h 4629046"/>
                <a:gd name="connsiteX10" fmla="*/ 6827493 w 11804048"/>
                <a:gd name="connsiteY10" fmla="*/ 2917623 h 4629046"/>
                <a:gd name="connsiteX11" fmla="*/ 4576790 w 11804048"/>
                <a:gd name="connsiteY11" fmla="*/ 2417596 h 4629046"/>
                <a:gd name="connsiteX12" fmla="*/ 3783470 w 11804048"/>
                <a:gd name="connsiteY12" fmla="*/ 2096511 h 4629046"/>
                <a:gd name="connsiteX13" fmla="*/ 3471621 w 11804048"/>
                <a:gd name="connsiteY13" fmla="*/ 1700387 h 4629046"/>
                <a:gd name="connsiteX14" fmla="*/ 4040063 w 11804048"/>
                <a:gd name="connsiteY14" fmla="*/ 1141916 h 4629046"/>
                <a:gd name="connsiteX15" fmla="*/ 5174543 w 11804048"/>
                <a:gd name="connsiteY15" fmla="*/ 868452 h 4629046"/>
                <a:gd name="connsiteX16" fmla="*/ 6135560 w 11804048"/>
                <a:gd name="connsiteY16" fmla="*/ 531133 h 4629046"/>
                <a:gd name="connsiteX17" fmla="*/ 5983239 w 11804048"/>
                <a:gd name="connsiteY17" fmla="*/ 398731 h 4629046"/>
                <a:gd name="connsiteX18" fmla="*/ 5566157 w 11804048"/>
                <a:gd name="connsiteY18" fmla="*/ 282563 h 4629046"/>
                <a:gd name="connsiteX19" fmla="*/ 4293290 w 11804048"/>
                <a:gd name="connsiteY19" fmla="*/ 115527 h 4629046"/>
                <a:gd name="connsiteX20" fmla="*/ 2483701 w 11804048"/>
                <a:gd name="connsiteY20" fmla="*/ 0 h 4629046"/>
                <a:gd name="connsiteX21" fmla="*/ 0 w 11804048"/>
                <a:gd name="connsiteY21" fmla="*/ 306 h 4629046"/>
                <a:gd name="connsiteX0" fmla="*/ 11069902 w 11804048"/>
                <a:gd name="connsiteY0" fmla="*/ 3311583 h 4629046"/>
                <a:gd name="connsiteX1" fmla="*/ 11575878 w 11804048"/>
                <a:gd name="connsiteY1" fmla="*/ 3857427 h 4629046"/>
                <a:gd name="connsiteX2" fmla="*/ 11776250 w 11804048"/>
                <a:gd name="connsiteY2" fmla="*/ 4317047 h 4629046"/>
                <a:gd name="connsiteX3" fmla="*/ 11803954 w 11804048"/>
                <a:gd name="connsiteY3" fmla="*/ 4568506 h 4629046"/>
                <a:gd name="connsiteX4" fmla="*/ 11800968 w 11804048"/>
                <a:gd name="connsiteY4" fmla="*/ 4629046 h 4629046"/>
                <a:gd name="connsiteX5" fmla="*/ 9480312 w 11804048"/>
                <a:gd name="connsiteY5" fmla="*/ 4629046 h 4629046"/>
                <a:gd name="connsiteX6" fmla="*/ 9473653 w 11804048"/>
                <a:gd name="connsiteY6" fmla="*/ 4206291 h 4629046"/>
                <a:gd name="connsiteX7" fmla="*/ 9259827 w 11804048"/>
                <a:gd name="connsiteY7" fmla="*/ 3745228 h 4629046"/>
                <a:gd name="connsiteX8" fmla="*/ 8687061 w 11804048"/>
                <a:gd name="connsiteY8" fmla="*/ 3346938 h 4629046"/>
                <a:gd name="connsiteX9" fmla="*/ 6827493 w 11804048"/>
                <a:gd name="connsiteY9" fmla="*/ 2917623 h 4629046"/>
                <a:gd name="connsiteX10" fmla="*/ 4576790 w 11804048"/>
                <a:gd name="connsiteY10" fmla="*/ 2417596 h 4629046"/>
                <a:gd name="connsiteX11" fmla="*/ 3783470 w 11804048"/>
                <a:gd name="connsiteY11" fmla="*/ 2096511 h 4629046"/>
                <a:gd name="connsiteX12" fmla="*/ 3471621 w 11804048"/>
                <a:gd name="connsiteY12" fmla="*/ 1700387 h 4629046"/>
                <a:gd name="connsiteX13" fmla="*/ 4040063 w 11804048"/>
                <a:gd name="connsiteY13" fmla="*/ 1141916 h 4629046"/>
                <a:gd name="connsiteX14" fmla="*/ 5174543 w 11804048"/>
                <a:gd name="connsiteY14" fmla="*/ 868452 h 4629046"/>
                <a:gd name="connsiteX15" fmla="*/ 6135560 w 11804048"/>
                <a:gd name="connsiteY15" fmla="*/ 531133 h 4629046"/>
                <a:gd name="connsiteX16" fmla="*/ 5983239 w 11804048"/>
                <a:gd name="connsiteY16" fmla="*/ 398731 h 4629046"/>
                <a:gd name="connsiteX17" fmla="*/ 5566157 w 11804048"/>
                <a:gd name="connsiteY17" fmla="*/ 282563 h 4629046"/>
                <a:gd name="connsiteX18" fmla="*/ 4293290 w 11804048"/>
                <a:gd name="connsiteY18" fmla="*/ 115527 h 4629046"/>
                <a:gd name="connsiteX19" fmla="*/ 2483701 w 11804048"/>
                <a:gd name="connsiteY19" fmla="*/ 0 h 4629046"/>
                <a:gd name="connsiteX20" fmla="*/ 0 w 11804048"/>
                <a:gd name="connsiteY20" fmla="*/ 306 h 4629046"/>
                <a:gd name="connsiteX0" fmla="*/ 11575878 w 11804048"/>
                <a:gd name="connsiteY0" fmla="*/ 3857427 h 4629046"/>
                <a:gd name="connsiteX1" fmla="*/ 11776250 w 11804048"/>
                <a:gd name="connsiteY1" fmla="*/ 4317047 h 4629046"/>
                <a:gd name="connsiteX2" fmla="*/ 11803954 w 11804048"/>
                <a:gd name="connsiteY2" fmla="*/ 4568506 h 4629046"/>
                <a:gd name="connsiteX3" fmla="*/ 11800968 w 11804048"/>
                <a:gd name="connsiteY3" fmla="*/ 4629046 h 4629046"/>
                <a:gd name="connsiteX4" fmla="*/ 9480312 w 11804048"/>
                <a:gd name="connsiteY4" fmla="*/ 4629046 h 4629046"/>
                <a:gd name="connsiteX5" fmla="*/ 9473653 w 11804048"/>
                <a:gd name="connsiteY5" fmla="*/ 4206291 h 4629046"/>
                <a:gd name="connsiteX6" fmla="*/ 9259827 w 11804048"/>
                <a:gd name="connsiteY6" fmla="*/ 3745228 h 4629046"/>
                <a:gd name="connsiteX7" fmla="*/ 8687061 w 11804048"/>
                <a:gd name="connsiteY7" fmla="*/ 3346938 h 4629046"/>
                <a:gd name="connsiteX8" fmla="*/ 6827493 w 11804048"/>
                <a:gd name="connsiteY8" fmla="*/ 2917623 h 4629046"/>
                <a:gd name="connsiteX9" fmla="*/ 4576790 w 11804048"/>
                <a:gd name="connsiteY9" fmla="*/ 2417596 h 4629046"/>
                <a:gd name="connsiteX10" fmla="*/ 3783470 w 11804048"/>
                <a:gd name="connsiteY10" fmla="*/ 2096511 h 4629046"/>
                <a:gd name="connsiteX11" fmla="*/ 3471621 w 11804048"/>
                <a:gd name="connsiteY11" fmla="*/ 1700387 h 4629046"/>
                <a:gd name="connsiteX12" fmla="*/ 4040063 w 11804048"/>
                <a:gd name="connsiteY12" fmla="*/ 1141916 h 4629046"/>
                <a:gd name="connsiteX13" fmla="*/ 5174543 w 11804048"/>
                <a:gd name="connsiteY13" fmla="*/ 868452 h 4629046"/>
                <a:gd name="connsiteX14" fmla="*/ 6135560 w 11804048"/>
                <a:gd name="connsiteY14" fmla="*/ 531133 h 4629046"/>
                <a:gd name="connsiteX15" fmla="*/ 5983239 w 11804048"/>
                <a:gd name="connsiteY15" fmla="*/ 398731 h 4629046"/>
                <a:gd name="connsiteX16" fmla="*/ 5566157 w 11804048"/>
                <a:gd name="connsiteY16" fmla="*/ 282563 h 4629046"/>
                <a:gd name="connsiteX17" fmla="*/ 4293290 w 11804048"/>
                <a:gd name="connsiteY17" fmla="*/ 115527 h 4629046"/>
                <a:gd name="connsiteX18" fmla="*/ 2483701 w 11804048"/>
                <a:gd name="connsiteY18" fmla="*/ 0 h 4629046"/>
                <a:gd name="connsiteX19" fmla="*/ 0 w 11804048"/>
                <a:gd name="connsiteY19" fmla="*/ 306 h 4629046"/>
                <a:gd name="connsiteX0" fmla="*/ 11776250 w 11804048"/>
                <a:gd name="connsiteY0" fmla="*/ 4317047 h 4629046"/>
                <a:gd name="connsiteX1" fmla="*/ 11803954 w 11804048"/>
                <a:gd name="connsiteY1" fmla="*/ 4568506 h 4629046"/>
                <a:gd name="connsiteX2" fmla="*/ 11800968 w 11804048"/>
                <a:gd name="connsiteY2" fmla="*/ 4629046 h 4629046"/>
                <a:gd name="connsiteX3" fmla="*/ 9480312 w 11804048"/>
                <a:gd name="connsiteY3" fmla="*/ 4629046 h 4629046"/>
                <a:gd name="connsiteX4" fmla="*/ 9473653 w 11804048"/>
                <a:gd name="connsiteY4" fmla="*/ 4206291 h 4629046"/>
                <a:gd name="connsiteX5" fmla="*/ 9259827 w 11804048"/>
                <a:gd name="connsiteY5" fmla="*/ 3745228 h 4629046"/>
                <a:gd name="connsiteX6" fmla="*/ 8687061 w 11804048"/>
                <a:gd name="connsiteY6" fmla="*/ 3346938 h 4629046"/>
                <a:gd name="connsiteX7" fmla="*/ 6827493 w 11804048"/>
                <a:gd name="connsiteY7" fmla="*/ 2917623 h 4629046"/>
                <a:gd name="connsiteX8" fmla="*/ 4576790 w 11804048"/>
                <a:gd name="connsiteY8" fmla="*/ 2417596 h 4629046"/>
                <a:gd name="connsiteX9" fmla="*/ 3783470 w 11804048"/>
                <a:gd name="connsiteY9" fmla="*/ 2096511 h 4629046"/>
                <a:gd name="connsiteX10" fmla="*/ 3471621 w 11804048"/>
                <a:gd name="connsiteY10" fmla="*/ 1700387 h 4629046"/>
                <a:gd name="connsiteX11" fmla="*/ 4040063 w 11804048"/>
                <a:gd name="connsiteY11" fmla="*/ 1141916 h 4629046"/>
                <a:gd name="connsiteX12" fmla="*/ 5174543 w 11804048"/>
                <a:gd name="connsiteY12" fmla="*/ 868452 h 4629046"/>
                <a:gd name="connsiteX13" fmla="*/ 6135560 w 11804048"/>
                <a:gd name="connsiteY13" fmla="*/ 531133 h 4629046"/>
                <a:gd name="connsiteX14" fmla="*/ 5983239 w 11804048"/>
                <a:gd name="connsiteY14" fmla="*/ 398731 h 4629046"/>
                <a:gd name="connsiteX15" fmla="*/ 5566157 w 11804048"/>
                <a:gd name="connsiteY15" fmla="*/ 282563 h 4629046"/>
                <a:gd name="connsiteX16" fmla="*/ 4293290 w 11804048"/>
                <a:gd name="connsiteY16" fmla="*/ 115527 h 4629046"/>
                <a:gd name="connsiteX17" fmla="*/ 2483701 w 11804048"/>
                <a:gd name="connsiteY17" fmla="*/ 0 h 4629046"/>
                <a:gd name="connsiteX18" fmla="*/ 0 w 11804048"/>
                <a:gd name="connsiteY18" fmla="*/ 306 h 4629046"/>
                <a:gd name="connsiteX0" fmla="*/ 11803954 w 11803954"/>
                <a:gd name="connsiteY0" fmla="*/ 4568506 h 4629046"/>
                <a:gd name="connsiteX1" fmla="*/ 11800968 w 11803954"/>
                <a:gd name="connsiteY1" fmla="*/ 4629046 h 4629046"/>
                <a:gd name="connsiteX2" fmla="*/ 9480312 w 11803954"/>
                <a:gd name="connsiteY2" fmla="*/ 4629046 h 4629046"/>
                <a:gd name="connsiteX3" fmla="*/ 9473653 w 11803954"/>
                <a:gd name="connsiteY3" fmla="*/ 4206291 h 4629046"/>
                <a:gd name="connsiteX4" fmla="*/ 9259827 w 11803954"/>
                <a:gd name="connsiteY4" fmla="*/ 3745228 h 4629046"/>
                <a:gd name="connsiteX5" fmla="*/ 8687061 w 11803954"/>
                <a:gd name="connsiteY5" fmla="*/ 3346938 h 4629046"/>
                <a:gd name="connsiteX6" fmla="*/ 6827493 w 11803954"/>
                <a:gd name="connsiteY6" fmla="*/ 2917623 h 4629046"/>
                <a:gd name="connsiteX7" fmla="*/ 4576790 w 11803954"/>
                <a:gd name="connsiteY7" fmla="*/ 2417596 h 4629046"/>
                <a:gd name="connsiteX8" fmla="*/ 3783470 w 11803954"/>
                <a:gd name="connsiteY8" fmla="*/ 2096511 h 4629046"/>
                <a:gd name="connsiteX9" fmla="*/ 3471621 w 11803954"/>
                <a:gd name="connsiteY9" fmla="*/ 1700387 h 4629046"/>
                <a:gd name="connsiteX10" fmla="*/ 4040063 w 11803954"/>
                <a:gd name="connsiteY10" fmla="*/ 1141916 h 4629046"/>
                <a:gd name="connsiteX11" fmla="*/ 5174543 w 11803954"/>
                <a:gd name="connsiteY11" fmla="*/ 868452 h 4629046"/>
                <a:gd name="connsiteX12" fmla="*/ 6135560 w 11803954"/>
                <a:gd name="connsiteY12" fmla="*/ 531133 h 4629046"/>
                <a:gd name="connsiteX13" fmla="*/ 5983239 w 11803954"/>
                <a:gd name="connsiteY13" fmla="*/ 398731 h 4629046"/>
                <a:gd name="connsiteX14" fmla="*/ 5566157 w 11803954"/>
                <a:gd name="connsiteY14" fmla="*/ 282563 h 4629046"/>
                <a:gd name="connsiteX15" fmla="*/ 4293290 w 11803954"/>
                <a:gd name="connsiteY15" fmla="*/ 115527 h 4629046"/>
                <a:gd name="connsiteX16" fmla="*/ 2483701 w 11803954"/>
                <a:gd name="connsiteY16" fmla="*/ 0 h 4629046"/>
                <a:gd name="connsiteX17" fmla="*/ 0 w 11803954"/>
                <a:gd name="connsiteY17" fmla="*/ 306 h 4629046"/>
                <a:gd name="connsiteX0" fmla="*/ 11803954 w 11803954"/>
                <a:gd name="connsiteY0" fmla="*/ 4568506 h 4629046"/>
                <a:gd name="connsiteX1" fmla="*/ 9480312 w 11803954"/>
                <a:gd name="connsiteY1" fmla="*/ 4629046 h 4629046"/>
                <a:gd name="connsiteX2" fmla="*/ 9473653 w 11803954"/>
                <a:gd name="connsiteY2" fmla="*/ 4206291 h 4629046"/>
                <a:gd name="connsiteX3" fmla="*/ 9259827 w 11803954"/>
                <a:gd name="connsiteY3" fmla="*/ 3745228 h 4629046"/>
                <a:gd name="connsiteX4" fmla="*/ 8687061 w 11803954"/>
                <a:gd name="connsiteY4" fmla="*/ 3346938 h 4629046"/>
                <a:gd name="connsiteX5" fmla="*/ 6827493 w 11803954"/>
                <a:gd name="connsiteY5" fmla="*/ 2917623 h 4629046"/>
                <a:gd name="connsiteX6" fmla="*/ 4576790 w 11803954"/>
                <a:gd name="connsiteY6" fmla="*/ 2417596 h 4629046"/>
                <a:gd name="connsiteX7" fmla="*/ 3783470 w 11803954"/>
                <a:gd name="connsiteY7" fmla="*/ 2096511 h 4629046"/>
                <a:gd name="connsiteX8" fmla="*/ 3471621 w 11803954"/>
                <a:gd name="connsiteY8" fmla="*/ 1700387 h 4629046"/>
                <a:gd name="connsiteX9" fmla="*/ 4040063 w 11803954"/>
                <a:gd name="connsiteY9" fmla="*/ 1141916 h 4629046"/>
                <a:gd name="connsiteX10" fmla="*/ 5174543 w 11803954"/>
                <a:gd name="connsiteY10" fmla="*/ 868452 h 4629046"/>
                <a:gd name="connsiteX11" fmla="*/ 6135560 w 11803954"/>
                <a:gd name="connsiteY11" fmla="*/ 531133 h 4629046"/>
                <a:gd name="connsiteX12" fmla="*/ 5983239 w 11803954"/>
                <a:gd name="connsiteY12" fmla="*/ 398731 h 4629046"/>
                <a:gd name="connsiteX13" fmla="*/ 5566157 w 11803954"/>
                <a:gd name="connsiteY13" fmla="*/ 282563 h 4629046"/>
                <a:gd name="connsiteX14" fmla="*/ 4293290 w 11803954"/>
                <a:gd name="connsiteY14" fmla="*/ 115527 h 4629046"/>
                <a:gd name="connsiteX15" fmla="*/ 2483701 w 11803954"/>
                <a:gd name="connsiteY15" fmla="*/ 0 h 4629046"/>
                <a:gd name="connsiteX16" fmla="*/ 0 w 11803954"/>
                <a:gd name="connsiteY16" fmla="*/ 306 h 4629046"/>
                <a:gd name="connsiteX0" fmla="*/ 9480312 w 9480312"/>
                <a:gd name="connsiteY0" fmla="*/ 4629046 h 4629046"/>
                <a:gd name="connsiteX1" fmla="*/ 9473653 w 9480312"/>
                <a:gd name="connsiteY1" fmla="*/ 4206291 h 4629046"/>
                <a:gd name="connsiteX2" fmla="*/ 9259827 w 9480312"/>
                <a:gd name="connsiteY2" fmla="*/ 3745228 h 4629046"/>
                <a:gd name="connsiteX3" fmla="*/ 8687061 w 9480312"/>
                <a:gd name="connsiteY3" fmla="*/ 3346938 h 4629046"/>
                <a:gd name="connsiteX4" fmla="*/ 6827493 w 9480312"/>
                <a:gd name="connsiteY4" fmla="*/ 2917623 h 4629046"/>
                <a:gd name="connsiteX5" fmla="*/ 4576790 w 9480312"/>
                <a:gd name="connsiteY5" fmla="*/ 2417596 h 4629046"/>
                <a:gd name="connsiteX6" fmla="*/ 3783470 w 9480312"/>
                <a:gd name="connsiteY6" fmla="*/ 2096511 h 4629046"/>
                <a:gd name="connsiteX7" fmla="*/ 3471621 w 9480312"/>
                <a:gd name="connsiteY7" fmla="*/ 1700387 h 4629046"/>
                <a:gd name="connsiteX8" fmla="*/ 4040063 w 9480312"/>
                <a:gd name="connsiteY8" fmla="*/ 1141916 h 4629046"/>
                <a:gd name="connsiteX9" fmla="*/ 5174543 w 9480312"/>
                <a:gd name="connsiteY9" fmla="*/ 868452 h 4629046"/>
                <a:gd name="connsiteX10" fmla="*/ 6135560 w 9480312"/>
                <a:gd name="connsiteY10" fmla="*/ 531133 h 4629046"/>
                <a:gd name="connsiteX11" fmla="*/ 5983239 w 9480312"/>
                <a:gd name="connsiteY11" fmla="*/ 398731 h 4629046"/>
                <a:gd name="connsiteX12" fmla="*/ 5566157 w 9480312"/>
                <a:gd name="connsiteY12" fmla="*/ 282563 h 4629046"/>
                <a:gd name="connsiteX13" fmla="*/ 4293290 w 9480312"/>
                <a:gd name="connsiteY13" fmla="*/ 115527 h 4629046"/>
                <a:gd name="connsiteX14" fmla="*/ 2483701 w 9480312"/>
                <a:gd name="connsiteY14" fmla="*/ 0 h 4629046"/>
                <a:gd name="connsiteX15" fmla="*/ 0 w 9480312"/>
                <a:gd name="connsiteY15" fmla="*/ 306 h 462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80312" h="4629046">
                  <a:moveTo>
                    <a:pt x="9480312" y="4629046"/>
                  </a:moveTo>
                  <a:lnTo>
                    <a:pt x="9473653" y="4206291"/>
                  </a:lnTo>
                  <a:cubicBezTo>
                    <a:pt x="9439537" y="4034204"/>
                    <a:pt x="9367941" y="3878713"/>
                    <a:pt x="9259827" y="3745228"/>
                  </a:cubicBezTo>
                  <a:cubicBezTo>
                    <a:pt x="9124323" y="3578192"/>
                    <a:pt x="8931639" y="3444346"/>
                    <a:pt x="8687061" y="3346938"/>
                  </a:cubicBezTo>
                  <a:cubicBezTo>
                    <a:pt x="8322835" y="3202270"/>
                    <a:pt x="7595826" y="3064095"/>
                    <a:pt x="6827493" y="2917623"/>
                  </a:cubicBezTo>
                  <a:cubicBezTo>
                    <a:pt x="6075016" y="2774036"/>
                    <a:pt x="5222113" y="2611690"/>
                    <a:pt x="4576790" y="2417596"/>
                  </a:cubicBezTo>
                  <a:cubicBezTo>
                    <a:pt x="4225538" y="2311890"/>
                    <a:pt x="3966064" y="2206907"/>
                    <a:pt x="3783470" y="2096511"/>
                  </a:cubicBezTo>
                  <a:cubicBezTo>
                    <a:pt x="3576371" y="1971325"/>
                    <a:pt x="3471621" y="1837840"/>
                    <a:pt x="3471621" y="1700387"/>
                  </a:cubicBezTo>
                  <a:cubicBezTo>
                    <a:pt x="3471621" y="1469494"/>
                    <a:pt x="3657577" y="1286945"/>
                    <a:pt x="4040063" y="1141916"/>
                  </a:cubicBezTo>
                  <a:cubicBezTo>
                    <a:pt x="4369210" y="1017089"/>
                    <a:pt x="4796863" y="938081"/>
                    <a:pt x="5174543" y="868452"/>
                  </a:cubicBezTo>
                  <a:cubicBezTo>
                    <a:pt x="5690129" y="773209"/>
                    <a:pt x="6135560" y="690954"/>
                    <a:pt x="6135560" y="531133"/>
                  </a:cubicBezTo>
                  <a:cubicBezTo>
                    <a:pt x="6135560" y="486037"/>
                    <a:pt x="6084146" y="441662"/>
                    <a:pt x="5983239" y="398731"/>
                  </a:cubicBezTo>
                  <a:cubicBezTo>
                    <a:pt x="5888099" y="358685"/>
                    <a:pt x="5747790" y="319361"/>
                    <a:pt x="5566157" y="282563"/>
                  </a:cubicBezTo>
                  <a:cubicBezTo>
                    <a:pt x="5259112" y="220871"/>
                    <a:pt x="4830979" y="164231"/>
                    <a:pt x="4293290" y="115527"/>
                  </a:cubicBezTo>
                  <a:cubicBezTo>
                    <a:pt x="3491081" y="42606"/>
                    <a:pt x="2680043" y="7803"/>
                    <a:pt x="2483701" y="0"/>
                  </a:cubicBezTo>
                  <a:lnTo>
                    <a:pt x="0" y="306"/>
                  </a:lnTo>
                </a:path>
              </a:pathLst>
            </a:custGeom>
            <a:noFill/>
            <a:ln w="6350">
              <a:solidFill>
                <a:schemeClr val="accent6"/>
              </a:solidFill>
            </a:ln>
            <a:effectLst/>
          </p:spPr>
          <p:txBody>
            <a:bodyPr wrap="square" anchor="ctr">
              <a:noAutofit/>
            </a:bodyPr>
            <a:lstStyle/>
            <a:p>
              <a:endParaRPr lang="en-US" sz="3266"/>
            </a:p>
          </p:txBody>
        </p:sp>
      </p:grpSp>
      <p:grpSp>
        <p:nvGrpSpPr>
          <p:cNvPr id="36" name="Gruppieren 35">
            <a:extLst>
              <a:ext uri="{FF2B5EF4-FFF2-40B4-BE49-F238E27FC236}">
                <a16:creationId xmlns:a16="http://schemas.microsoft.com/office/drawing/2014/main" id="{A786E1CE-66EA-1830-C5D6-F5461BA60978}"/>
              </a:ext>
            </a:extLst>
          </p:cNvPr>
          <p:cNvGrpSpPr>
            <a:grpSpLocks/>
          </p:cNvGrpSpPr>
          <p:nvPr/>
        </p:nvGrpSpPr>
        <p:grpSpPr>
          <a:xfrm>
            <a:off x="407989" y="1727055"/>
            <a:ext cx="9978798" cy="4286001"/>
            <a:chOff x="-61913" y="1730810"/>
            <a:chExt cx="10692479" cy="4745963"/>
          </a:xfrm>
        </p:grpSpPr>
        <p:sp>
          <p:nvSpPr>
            <p:cNvPr id="26" name="Freeform 3">
              <a:extLst>
                <a:ext uri="{FF2B5EF4-FFF2-40B4-BE49-F238E27FC236}">
                  <a16:creationId xmlns:a16="http://schemas.microsoft.com/office/drawing/2014/main" id="{0B5B42D9-4587-16B9-62A9-E4E74D0CDADC}"/>
                </a:ext>
              </a:extLst>
            </p:cNvPr>
            <p:cNvSpPr>
              <a:spLocks/>
            </p:cNvSpPr>
            <p:nvPr/>
          </p:nvSpPr>
          <p:spPr bwMode="auto">
            <a:xfrm>
              <a:off x="2439855" y="1730906"/>
              <a:ext cx="8190711" cy="4745867"/>
            </a:xfrm>
            <a:custGeom>
              <a:avLst/>
              <a:gdLst>
                <a:gd name="T0" fmla="*/ 0 w 17184"/>
                <a:gd name="T1" fmla="*/ 0 h 13694"/>
                <a:gd name="T2" fmla="*/ 0 w 17184"/>
                <a:gd name="T3" fmla="*/ 0 h 13694"/>
                <a:gd name="T4" fmla="*/ 9269 w 17184"/>
                <a:gd name="T5" fmla="*/ 1455 h 13694"/>
                <a:gd name="T6" fmla="*/ 9269 w 17184"/>
                <a:gd name="T7" fmla="*/ 1455 h 13694"/>
                <a:gd name="T8" fmla="*/ 4878 w 17184"/>
                <a:gd name="T9" fmla="*/ 4361 h 13694"/>
                <a:gd name="T10" fmla="*/ 4878 w 17184"/>
                <a:gd name="T11" fmla="*/ 4361 h 13694"/>
                <a:gd name="T12" fmla="*/ 10208 w 17184"/>
                <a:gd name="T13" fmla="*/ 7887 h 13694"/>
                <a:gd name="T14" fmla="*/ 10208 w 17184"/>
                <a:gd name="T15" fmla="*/ 7887 h 13694"/>
                <a:gd name="T16" fmla="*/ 17183 w 17184"/>
                <a:gd name="T17" fmla="*/ 13693 h 13694"/>
                <a:gd name="connsiteX0" fmla="*/ 0 w 17163"/>
                <a:gd name="connsiteY0" fmla="*/ 0 h 13323"/>
                <a:gd name="connsiteX1" fmla="*/ 0 w 17163"/>
                <a:gd name="connsiteY1" fmla="*/ 0 h 13323"/>
                <a:gd name="connsiteX2" fmla="*/ 9269 w 17163"/>
                <a:gd name="connsiteY2" fmla="*/ 1455 h 13323"/>
                <a:gd name="connsiteX3" fmla="*/ 9269 w 17163"/>
                <a:gd name="connsiteY3" fmla="*/ 1455 h 13323"/>
                <a:gd name="connsiteX4" fmla="*/ 4878 w 17163"/>
                <a:gd name="connsiteY4" fmla="*/ 4361 h 13323"/>
                <a:gd name="connsiteX5" fmla="*/ 4878 w 17163"/>
                <a:gd name="connsiteY5" fmla="*/ 4361 h 13323"/>
                <a:gd name="connsiteX6" fmla="*/ 10208 w 17163"/>
                <a:gd name="connsiteY6" fmla="*/ 7887 h 13323"/>
                <a:gd name="connsiteX7" fmla="*/ 10208 w 17163"/>
                <a:gd name="connsiteY7" fmla="*/ 7887 h 13323"/>
                <a:gd name="connsiteX8" fmla="*/ 17163 w 17163"/>
                <a:gd name="connsiteY8" fmla="*/ 13323 h 13323"/>
                <a:gd name="connsiteX0" fmla="*/ 0 w 17183"/>
                <a:gd name="connsiteY0" fmla="*/ 0 h 13184"/>
                <a:gd name="connsiteX1" fmla="*/ 0 w 17183"/>
                <a:gd name="connsiteY1" fmla="*/ 0 h 13184"/>
                <a:gd name="connsiteX2" fmla="*/ 9269 w 17183"/>
                <a:gd name="connsiteY2" fmla="*/ 1455 h 13184"/>
                <a:gd name="connsiteX3" fmla="*/ 9269 w 17183"/>
                <a:gd name="connsiteY3" fmla="*/ 1455 h 13184"/>
                <a:gd name="connsiteX4" fmla="*/ 4878 w 17183"/>
                <a:gd name="connsiteY4" fmla="*/ 4361 h 13184"/>
                <a:gd name="connsiteX5" fmla="*/ 4878 w 17183"/>
                <a:gd name="connsiteY5" fmla="*/ 4361 h 13184"/>
                <a:gd name="connsiteX6" fmla="*/ 10208 w 17183"/>
                <a:gd name="connsiteY6" fmla="*/ 7887 h 13184"/>
                <a:gd name="connsiteX7" fmla="*/ 10208 w 17183"/>
                <a:gd name="connsiteY7" fmla="*/ 7887 h 13184"/>
                <a:gd name="connsiteX8" fmla="*/ 17183 w 17183"/>
                <a:gd name="connsiteY8" fmla="*/ 13184 h 13184"/>
                <a:gd name="connsiteX0" fmla="*/ 0 w 17183"/>
                <a:gd name="connsiteY0" fmla="*/ 0 h 13184"/>
                <a:gd name="connsiteX1" fmla="*/ 0 w 17183"/>
                <a:gd name="connsiteY1" fmla="*/ 0 h 13184"/>
                <a:gd name="connsiteX2" fmla="*/ 9269 w 17183"/>
                <a:gd name="connsiteY2" fmla="*/ 1455 h 13184"/>
                <a:gd name="connsiteX3" fmla="*/ 9269 w 17183"/>
                <a:gd name="connsiteY3" fmla="*/ 1455 h 13184"/>
                <a:gd name="connsiteX4" fmla="*/ 4878 w 17183"/>
                <a:gd name="connsiteY4" fmla="*/ 4361 h 13184"/>
                <a:gd name="connsiteX5" fmla="*/ 4878 w 17183"/>
                <a:gd name="connsiteY5" fmla="*/ 4361 h 13184"/>
                <a:gd name="connsiteX6" fmla="*/ 10208 w 17183"/>
                <a:gd name="connsiteY6" fmla="*/ 7887 h 13184"/>
                <a:gd name="connsiteX7" fmla="*/ 10208 w 17183"/>
                <a:gd name="connsiteY7" fmla="*/ 7887 h 13184"/>
                <a:gd name="connsiteX8" fmla="*/ 17183 w 17183"/>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08 w 17044"/>
                <a:gd name="connsiteY6" fmla="*/ 7887 h 13184"/>
                <a:gd name="connsiteX7" fmla="*/ 10208 w 17044"/>
                <a:gd name="connsiteY7" fmla="*/ 7887 h 13184"/>
                <a:gd name="connsiteX8" fmla="*/ 17044 w 17044"/>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08 w 17044"/>
                <a:gd name="connsiteY6" fmla="*/ 7887 h 13184"/>
                <a:gd name="connsiteX7" fmla="*/ 10218 w 17044"/>
                <a:gd name="connsiteY7" fmla="*/ 7748 h 13184"/>
                <a:gd name="connsiteX8" fmla="*/ 17044 w 17044"/>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08 w 17044"/>
                <a:gd name="connsiteY6" fmla="*/ 7887 h 13184"/>
                <a:gd name="connsiteX7" fmla="*/ 10218 w 17044"/>
                <a:gd name="connsiteY7" fmla="*/ 7748 h 13184"/>
                <a:gd name="connsiteX8" fmla="*/ 17044 w 17044"/>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18 w 17044"/>
                <a:gd name="connsiteY6" fmla="*/ 7748 h 13184"/>
                <a:gd name="connsiteX7" fmla="*/ 17044 w 17044"/>
                <a:gd name="connsiteY7"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18 w 17044"/>
                <a:gd name="connsiteY6" fmla="*/ 7748 h 13184"/>
                <a:gd name="connsiteX7" fmla="*/ 17044 w 17044"/>
                <a:gd name="connsiteY7"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5165 w 17044"/>
                <a:gd name="connsiteY5" fmla="*/ 5962 h 13184"/>
                <a:gd name="connsiteX6" fmla="*/ 10218 w 17044"/>
                <a:gd name="connsiteY6" fmla="*/ 7748 h 13184"/>
                <a:gd name="connsiteX7" fmla="*/ 17044 w 17044"/>
                <a:gd name="connsiteY7"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44" h="13184">
                  <a:moveTo>
                    <a:pt x="0" y="0"/>
                  </a:moveTo>
                  <a:lnTo>
                    <a:pt x="0" y="0"/>
                  </a:lnTo>
                  <a:cubicBezTo>
                    <a:pt x="0" y="0"/>
                    <a:pt x="7668" y="142"/>
                    <a:pt x="9269" y="1455"/>
                  </a:cubicBezTo>
                  <a:lnTo>
                    <a:pt x="9269" y="1455"/>
                  </a:lnTo>
                  <a:cubicBezTo>
                    <a:pt x="10869" y="2767"/>
                    <a:pt x="6836" y="3122"/>
                    <a:pt x="4878" y="4361"/>
                  </a:cubicBezTo>
                  <a:cubicBezTo>
                    <a:pt x="2350" y="6085"/>
                    <a:pt x="8022" y="7085"/>
                    <a:pt x="10218" y="7748"/>
                  </a:cubicBezTo>
                  <a:cubicBezTo>
                    <a:pt x="16212" y="9335"/>
                    <a:pt x="17004" y="10667"/>
                    <a:pt x="17044" y="13184"/>
                  </a:cubicBezTo>
                </a:path>
              </a:pathLst>
            </a:custGeom>
            <a:noFill/>
            <a:ln w="38100" cap="flat">
              <a:solidFill>
                <a:schemeClr val="bg1"/>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266" dirty="0"/>
            </a:p>
          </p:txBody>
        </p:sp>
        <p:cxnSp>
          <p:nvCxnSpPr>
            <p:cNvPr id="27" name="Straight Connector 9">
              <a:extLst>
                <a:ext uri="{FF2B5EF4-FFF2-40B4-BE49-F238E27FC236}">
                  <a16:creationId xmlns:a16="http://schemas.microsoft.com/office/drawing/2014/main" id="{2B56483F-1384-9685-ED99-D68B025B0714}"/>
                </a:ext>
              </a:extLst>
            </p:cNvPr>
            <p:cNvCxnSpPr>
              <a:cxnSpLocks/>
            </p:cNvCxnSpPr>
            <p:nvPr/>
          </p:nvCxnSpPr>
          <p:spPr>
            <a:xfrm flipH="1">
              <a:off x="-61913" y="1730810"/>
              <a:ext cx="2376409" cy="168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39" name="Rectangle 3">
            <a:extLst>
              <a:ext uri="{FF2B5EF4-FFF2-40B4-BE49-F238E27FC236}">
                <a16:creationId xmlns:a16="http://schemas.microsoft.com/office/drawing/2014/main" id="{2274751C-DAE5-0331-2C5E-6835E6F33523}"/>
              </a:ext>
            </a:extLst>
          </p:cNvPr>
          <p:cNvSpPr>
            <a:spLocks/>
          </p:cNvSpPr>
          <p:nvPr/>
        </p:nvSpPr>
        <p:spPr bwMode="gray">
          <a:xfrm flipH="1">
            <a:off x="8194512" y="1691362"/>
            <a:ext cx="1821778" cy="738664"/>
          </a:xfrm>
          <a:prstGeom prst="rect">
            <a:avLst/>
          </a:prstGeom>
          <a:noFill/>
          <a:ln w="9525" algn="ctr">
            <a:noFill/>
            <a:miter lim="800000"/>
            <a:headEnd/>
            <a:tailEnd/>
          </a:ln>
          <a:effectLst/>
        </p:spPr>
        <p:txBody>
          <a:bodyPr wrap="square" lIns="0" tIns="0" rIns="0" bIns="0" anchor="t">
            <a:spAutoFit/>
          </a:bodyPr>
          <a:lstStyle/>
          <a:p>
            <a:pPr marR="0" lvl="0" fontAlgn="auto">
              <a:lnSpc>
                <a:spcPct val="100000"/>
              </a:lnSpc>
              <a:spcAft>
                <a:spcPts val="0"/>
              </a:spcAft>
              <a:buClr>
                <a:srgbClr val="000000"/>
              </a:buClr>
              <a:buSzTx/>
              <a:tabLst/>
              <a:defRPr/>
            </a:pPr>
            <a:r>
              <a:rPr lang="en-US" sz="2000" dirty="0"/>
              <a:t>TODAY</a:t>
            </a:r>
          </a:p>
          <a:p>
            <a:pPr marR="0" lvl="0" indent="0" fontAlgn="auto">
              <a:lnSpc>
                <a:spcPct val="100000"/>
              </a:lnSpc>
              <a:spcBef>
                <a:spcPts val="0"/>
              </a:spcBef>
              <a:spcAft>
                <a:spcPts val="0"/>
              </a:spcAft>
              <a:buClrTx/>
              <a:buSzTx/>
              <a:buFontTx/>
              <a:buNone/>
              <a:tabLst/>
              <a:defRPr/>
            </a:pPr>
            <a:r>
              <a:rPr lang="en-US" sz="1400" dirty="0"/>
              <a:t>2020 census using </a:t>
            </a:r>
            <a:r>
              <a:rPr lang="en-US" sz="1400" dirty="0" err="1"/>
              <a:t>AlphaEarth</a:t>
            </a:r>
            <a:r>
              <a:rPr lang="en-US" sz="1400" dirty="0"/>
              <a:t> model</a:t>
            </a:r>
          </a:p>
        </p:txBody>
      </p:sp>
      <p:sp>
        <p:nvSpPr>
          <p:cNvPr id="40" name="Rectangle 3">
            <a:extLst>
              <a:ext uri="{FF2B5EF4-FFF2-40B4-BE49-F238E27FC236}">
                <a16:creationId xmlns:a16="http://schemas.microsoft.com/office/drawing/2014/main" id="{9600CF76-E65D-E11C-D356-84A0400C0CC5}"/>
              </a:ext>
            </a:extLst>
          </p:cNvPr>
          <p:cNvSpPr>
            <a:spLocks/>
          </p:cNvSpPr>
          <p:nvPr/>
        </p:nvSpPr>
        <p:spPr bwMode="gray">
          <a:xfrm flipH="1">
            <a:off x="1743498" y="2634818"/>
            <a:ext cx="1821778" cy="738664"/>
          </a:xfrm>
          <a:prstGeom prst="rect">
            <a:avLst/>
          </a:prstGeom>
          <a:noFill/>
          <a:ln w="9525" algn="ctr">
            <a:noFill/>
            <a:miter lim="800000"/>
            <a:headEnd/>
            <a:tailEnd/>
          </a:ln>
          <a:effectLst/>
        </p:spPr>
        <p:txBody>
          <a:bodyPr wrap="square" lIns="0" tIns="0" rIns="0" bIns="0" anchor="t">
            <a:spAutoFit/>
          </a:bodyPr>
          <a:lstStyle/>
          <a:p>
            <a:pPr marR="0" lvl="0" algn="r" fontAlgn="auto">
              <a:lnSpc>
                <a:spcPct val="100000"/>
              </a:lnSpc>
              <a:spcAft>
                <a:spcPts val="0"/>
              </a:spcAft>
              <a:buClr>
                <a:srgbClr val="000000"/>
              </a:buClr>
              <a:buSzTx/>
              <a:tabLst/>
              <a:defRPr/>
            </a:pPr>
            <a:r>
              <a:rPr lang="en-US" sz="2000" dirty="0"/>
              <a:t>Next step #1</a:t>
            </a:r>
          </a:p>
          <a:p>
            <a:pPr marR="0" lvl="0" indent="0" algn="r" fontAlgn="auto">
              <a:lnSpc>
                <a:spcPct val="100000"/>
              </a:lnSpc>
              <a:spcBef>
                <a:spcPts val="0"/>
              </a:spcBef>
              <a:spcAft>
                <a:spcPts val="0"/>
              </a:spcAft>
              <a:buClrTx/>
              <a:buSzTx/>
              <a:buFontTx/>
              <a:buNone/>
              <a:tabLst/>
              <a:defRPr/>
            </a:pPr>
            <a:r>
              <a:rPr lang="en-US" sz="1400" dirty="0"/>
              <a:t>2020 census using CLAY model </a:t>
            </a:r>
          </a:p>
        </p:txBody>
      </p:sp>
      <p:sp>
        <p:nvSpPr>
          <p:cNvPr id="41" name="Rectangle 3">
            <a:extLst>
              <a:ext uri="{FF2B5EF4-FFF2-40B4-BE49-F238E27FC236}">
                <a16:creationId xmlns:a16="http://schemas.microsoft.com/office/drawing/2014/main" id="{08A6C0F6-2E8D-42EB-1D24-4C9FEE7C8507}"/>
              </a:ext>
            </a:extLst>
          </p:cNvPr>
          <p:cNvSpPr>
            <a:spLocks/>
          </p:cNvSpPr>
          <p:nvPr/>
        </p:nvSpPr>
        <p:spPr bwMode="gray">
          <a:xfrm flipH="1">
            <a:off x="2855244" y="4393324"/>
            <a:ext cx="3325098" cy="954107"/>
          </a:xfrm>
          <a:prstGeom prst="rect">
            <a:avLst/>
          </a:prstGeom>
          <a:noFill/>
          <a:ln w="9525" algn="ctr">
            <a:noFill/>
            <a:miter lim="800000"/>
            <a:headEnd/>
            <a:tailEnd/>
          </a:ln>
          <a:effectLst/>
        </p:spPr>
        <p:txBody>
          <a:bodyPr wrap="square" lIns="0" tIns="0" rIns="0" bIns="0" anchor="t">
            <a:spAutoFit/>
          </a:bodyPr>
          <a:lstStyle/>
          <a:p>
            <a:pPr marR="0" lvl="0" algn="r" fontAlgn="auto">
              <a:lnSpc>
                <a:spcPct val="100000"/>
              </a:lnSpc>
              <a:spcAft>
                <a:spcPts val="0"/>
              </a:spcAft>
              <a:buClr>
                <a:srgbClr val="000000"/>
              </a:buClr>
              <a:buSzTx/>
              <a:tabLst/>
              <a:defRPr/>
            </a:pPr>
            <a:r>
              <a:rPr lang="en-US" sz="2000" dirty="0"/>
              <a:t>Next step #2</a:t>
            </a:r>
          </a:p>
          <a:p>
            <a:pPr marR="0" lvl="0" indent="0" algn="r" fontAlgn="auto">
              <a:lnSpc>
                <a:spcPct val="100000"/>
              </a:lnSpc>
              <a:spcBef>
                <a:spcPts val="0"/>
              </a:spcBef>
              <a:spcAft>
                <a:spcPts val="0"/>
              </a:spcAft>
              <a:buClrTx/>
              <a:buSzTx/>
              <a:buFontTx/>
              <a:buNone/>
              <a:tabLst/>
              <a:defRPr/>
            </a:pPr>
            <a:r>
              <a:rPr lang="en-US" sz="1400" dirty="0"/>
              <a:t>2010 using CLAY model. Compare with 2020 predictions to see how well model predicts change over time</a:t>
            </a:r>
          </a:p>
        </p:txBody>
      </p:sp>
      <p:sp>
        <p:nvSpPr>
          <p:cNvPr id="42" name="Rectangle 3">
            <a:extLst>
              <a:ext uri="{FF2B5EF4-FFF2-40B4-BE49-F238E27FC236}">
                <a16:creationId xmlns:a16="http://schemas.microsoft.com/office/drawing/2014/main" id="{5E5901B4-F183-5724-1A9F-3F056B2BE092}"/>
              </a:ext>
            </a:extLst>
          </p:cNvPr>
          <p:cNvSpPr>
            <a:spLocks/>
          </p:cNvSpPr>
          <p:nvPr/>
        </p:nvSpPr>
        <p:spPr bwMode="gray">
          <a:xfrm flipH="1">
            <a:off x="6822259" y="4922221"/>
            <a:ext cx="1821778" cy="954107"/>
          </a:xfrm>
          <a:prstGeom prst="rect">
            <a:avLst/>
          </a:prstGeom>
          <a:noFill/>
          <a:ln w="9525" algn="ctr">
            <a:noFill/>
            <a:miter lim="800000"/>
            <a:headEnd/>
            <a:tailEnd/>
          </a:ln>
          <a:effectLst/>
        </p:spPr>
        <p:txBody>
          <a:bodyPr wrap="square" lIns="0" tIns="0" rIns="0" bIns="0" anchor="t">
            <a:spAutoFit/>
          </a:bodyPr>
          <a:lstStyle/>
          <a:p>
            <a:pPr marR="0" lvl="0" algn="r" fontAlgn="auto">
              <a:lnSpc>
                <a:spcPct val="100000"/>
              </a:lnSpc>
              <a:spcAft>
                <a:spcPts val="0"/>
              </a:spcAft>
              <a:buClr>
                <a:srgbClr val="000000"/>
              </a:buClr>
              <a:buSzTx/>
              <a:tabLst/>
              <a:defRPr/>
            </a:pPr>
            <a:r>
              <a:rPr lang="en-US" sz="2000" dirty="0"/>
              <a:t>Next step #3</a:t>
            </a:r>
          </a:p>
          <a:p>
            <a:pPr marR="0" lvl="0" indent="0" algn="r" fontAlgn="auto">
              <a:lnSpc>
                <a:spcPct val="100000"/>
              </a:lnSpc>
              <a:spcBef>
                <a:spcPts val="0"/>
              </a:spcBef>
              <a:spcAft>
                <a:spcPts val="0"/>
              </a:spcAft>
              <a:buClrTx/>
              <a:buSzTx/>
              <a:buFontTx/>
              <a:buNone/>
              <a:tabLst/>
              <a:defRPr/>
            </a:pPr>
            <a:r>
              <a:rPr lang="en-US" sz="1400" dirty="0"/>
              <a:t>Apply embeddings to exciting applications – world cup??</a:t>
            </a:r>
          </a:p>
        </p:txBody>
      </p:sp>
      <p:sp>
        <p:nvSpPr>
          <p:cNvPr id="43" name="Freeform 30">
            <a:extLst>
              <a:ext uri="{FF2B5EF4-FFF2-40B4-BE49-F238E27FC236}">
                <a16:creationId xmlns:a16="http://schemas.microsoft.com/office/drawing/2014/main" id="{4180BA48-018C-3264-F627-22A52E0EA87D}"/>
              </a:ext>
            </a:extLst>
          </p:cNvPr>
          <p:cNvSpPr>
            <a:spLocks/>
          </p:cNvSpPr>
          <p:nvPr/>
        </p:nvSpPr>
        <p:spPr bwMode="auto">
          <a:xfrm>
            <a:off x="5886957" y="3270210"/>
            <a:ext cx="583690" cy="949584"/>
          </a:xfrm>
          <a:custGeom>
            <a:avLst/>
            <a:gdLst>
              <a:gd name="T0" fmla="*/ 590 w 1181"/>
              <a:gd name="T1" fmla="*/ 933 h 1922"/>
              <a:gd name="T2" fmla="*/ 590 w 1181"/>
              <a:gd name="T3" fmla="*/ 933 h 1922"/>
              <a:gd name="T4" fmla="*/ 289 w 1181"/>
              <a:gd name="T5" fmla="*/ 632 h 1922"/>
              <a:gd name="T6" fmla="*/ 289 w 1181"/>
              <a:gd name="T7" fmla="*/ 632 h 1922"/>
              <a:gd name="T8" fmla="*/ 590 w 1181"/>
              <a:gd name="T9" fmla="*/ 331 h 1922"/>
              <a:gd name="T10" fmla="*/ 590 w 1181"/>
              <a:gd name="T11" fmla="*/ 331 h 1922"/>
              <a:gd name="T12" fmla="*/ 891 w 1181"/>
              <a:gd name="T13" fmla="*/ 632 h 1922"/>
              <a:gd name="T14" fmla="*/ 891 w 1181"/>
              <a:gd name="T15" fmla="*/ 632 h 1922"/>
              <a:gd name="T16" fmla="*/ 590 w 1181"/>
              <a:gd name="T17" fmla="*/ 933 h 1922"/>
              <a:gd name="T18" fmla="*/ 590 w 1181"/>
              <a:gd name="T19" fmla="*/ 0 h 1922"/>
              <a:gd name="T20" fmla="*/ 590 w 1181"/>
              <a:gd name="T21" fmla="*/ 0 h 1922"/>
              <a:gd name="T22" fmla="*/ 0 w 1181"/>
              <a:gd name="T23" fmla="*/ 589 h 1922"/>
              <a:gd name="T24" fmla="*/ 0 w 1181"/>
              <a:gd name="T25" fmla="*/ 589 h 1922"/>
              <a:gd name="T26" fmla="*/ 590 w 1181"/>
              <a:gd name="T27" fmla="*/ 1921 h 1922"/>
              <a:gd name="T28" fmla="*/ 590 w 1181"/>
              <a:gd name="T29" fmla="*/ 1921 h 1922"/>
              <a:gd name="T30" fmla="*/ 1180 w 1181"/>
              <a:gd name="T31" fmla="*/ 589 h 1922"/>
              <a:gd name="T32" fmla="*/ 1180 w 1181"/>
              <a:gd name="T33" fmla="*/ 589 h 1922"/>
              <a:gd name="T34" fmla="*/ 590 w 1181"/>
              <a:gd name="T35" fmla="*/ 0 h 1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1" h="1922">
                <a:moveTo>
                  <a:pt x="590" y="933"/>
                </a:moveTo>
                <a:lnTo>
                  <a:pt x="590" y="933"/>
                </a:lnTo>
                <a:cubicBezTo>
                  <a:pt x="424" y="933"/>
                  <a:pt x="289" y="798"/>
                  <a:pt x="289" y="632"/>
                </a:cubicBezTo>
                <a:lnTo>
                  <a:pt x="289" y="632"/>
                </a:lnTo>
                <a:cubicBezTo>
                  <a:pt x="289" y="466"/>
                  <a:pt x="424" y="331"/>
                  <a:pt x="590" y="331"/>
                </a:cubicBezTo>
                <a:lnTo>
                  <a:pt x="590" y="331"/>
                </a:lnTo>
                <a:cubicBezTo>
                  <a:pt x="756" y="331"/>
                  <a:pt x="891" y="466"/>
                  <a:pt x="891" y="632"/>
                </a:cubicBezTo>
                <a:lnTo>
                  <a:pt x="891" y="632"/>
                </a:lnTo>
                <a:cubicBezTo>
                  <a:pt x="891" y="798"/>
                  <a:pt x="756" y="933"/>
                  <a:pt x="590" y="933"/>
                </a:cubicBezTo>
                <a:close/>
                <a:moveTo>
                  <a:pt x="590" y="0"/>
                </a:moveTo>
                <a:lnTo>
                  <a:pt x="590" y="0"/>
                </a:lnTo>
                <a:cubicBezTo>
                  <a:pt x="265" y="0"/>
                  <a:pt x="0" y="263"/>
                  <a:pt x="0" y="589"/>
                </a:cubicBezTo>
                <a:lnTo>
                  <a:pt x="0" y="589"/>
                </a:lnTo>
                <a:cubicBezTo>
                  <a:pt x="0" y="915"/>
                  <a:pt x="590" y="1921"/>
                  <a:pt x="590" y="1921"/>
                </a:cubicBezTo>
                <a:lnTo>
                  <a:pt x="590" y="1921"/>
                </a:lnTo>
                <a:cubicBezTo>
                  <a:pt x="590" y="1921"/>
                  <a:pt x="1180" y="915"/>
                  <a:pt x="1180" y="589"/>
                </a:cubicBezTo>
                <a:lnTo>
                  <a:pt x="1180" y="589"/>
                </a:lnTo>
                <a:cubicBezTo>
                  <a:pt x="1180" y="263"/>
                  <a:pt x="915" y="0"/>
                  <a:pt x="590" y="0"/>
                </a:cubicBezTo>
                <a:close/>
              </a:path>
            </a:pathLst>
          </a:custGeom>
          <a:solidFill>
            <a:schemeClr val="bg2">
              <a:lumMod val="50000"/>
            </a:schemeClr>
          </a:solidFill>
          <a:ln>
            <a:noFill/>
          </a:ln>
          <a:effectLst/>
        </p:spPr>
        <p:txBody>
          <a:bodyPr wrap="none" anchor="ctr"/>
          <a:lstStyle/>
          <a:p>
            <a:endParaRPr lang="en-US" sz="3266"/>
          </a:p>
        </p:txBody>
      </p:sp>
      <p:sp>
        <p:nvSpPr>
          <p:cNvPr id="44" name="Freeform 31">
            <a:extLst>
              <a:ext uri="{FF2B5EF4-FFF2-40B4-BE49-F238E27FC236}">
                <a16:creationId xmlns:a16="http://schemas.microsoft.com/office/drawing/2014/main" id="{3E2AE27B-5AC8-6353-9FE4-D340CA3121CC}"/>
              </a:ext>
            </a:extLst>
          </p:cNvPr>
          <p:cNvSpPr>
            <a:spLocks/>
          </p:cNvSpPr>
          <p:nvPr/>
        </p:nvSpPr>
        <p:spPr bwMode="auto">
          <a:xfrm>
            <a:off x="3817430" y="2528232"/>
            <a:ext cx="583690" cy="949584"/>
          </a:xfrm>
          <a:custGeom>
            <a:avLst/>
            <a:gdLst>
              <a:gd name="T0" fmla="*/ 589 w 1180"/>
              <a:gd name="T1" fmla="*/ 932 h 1922"/>
              <a:gd name="T2" fmla="*/ 589 w 1180"/>
              <a:gd name="T3" fmla="*/ 932 h 1922"/>
              <a:gd name="T4" fmla="*/ 288 w 1180"/>
              <a:gd name="T5" fmla="*/ 631 h 1922"/>
              <a:gd name="T6" fmla="*/ 288 w 1180"/>
              <a:gd name="T7" fmla="*/ 631 h 1922"/>
              <a:gd name="T8" fmla="*/ 589 w 1180"/>
              <a:gd name="T9" fmla="*/ 332 h 1922"/>
              <a:gd name="T10" fmla="*/ 589 w 1180"/>
              <a:gd name="T11" fmla="*/ 332 h 1922"/>
              <a:gd name="T12" fmla="*/ 890 w 1180"/>
              <a:gd name="T13" fmla="*/ 631 h 1922"/>
              <a:gd name="T14" fmla="*/ 890 w 1180"/>
              <a:gd name="T15" fmla="*/ 631 h 1922"/>
              <a:gd name="T16" fmla="*/ 589 w 1180"/>
              <a:gd name="T17" fmla="*/ 932 h 1922"/>
              <a:gd name="T18" fmla="*/ 589 w 1180"/>
              <a:gd name="T19" fmla="*/ 0 h 1922"/>
              <a:gd name="T20" fmla="*/ 589 w 1180"/>
              <a:gd name="T21" fmla="*/ 0 h 1922"/>
              <a:gd name="T22" fmla="*/ 0 w 1180"/>
              <a:gd name="T23" fmla="*/ 589 h 1922"/>
              <a:gd name="T24" fmla="*/ 0 w 1180"/>
              <a:gd name="T25" fmla="*/ 589 h 1922"/>
              <a:gd name="T26" fmla="*/ 589 w 1180"/>
              <a:gd name="T27" fmla="*/ 1921 h 1922"/>
              <a:gd name="T28" fmla="*/ 589 w 1180"/>
              <a:gd name="T29" fmla="*/ 1921 h 1922"/>
              <a:gd name="T30" fmla="*/ 1179 w 1180"/>
              <a:gd name="T31" fmla="*/ 589 h 1922"/>
              <a:gd name="T32" fmla="*/ 1179 w 1180"/>
              <a:gd name="T33" fmla="*/ 589 h 1922"/>
              <a:gd name="T34" fmla="*/ 589 w 1180"/>
              <a:gd name="T35" fmla="*/ 0 h 1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0" h="1922">
                <a:moveTo>
                  <a:pt x="589" y="932"/>
                </a:moveTo>
                <a:lnTo>
                  <a:pt x="589" y="932"/>
                </a:lnTo>
                <a:cubicBezTo>
                  <a:pt x="423" y="932"/>
                  <a:pt x="288" y="797"/>
                  <a:pt x="288" y="631"/>
                </a:cubicBezTo>
                <a:lnTo>
                  <a:pt x="288" y="631"/>
                </a:lnTo>
                <a:cubicBezTo>
                  <a:pt x="288" y="466"/>
                  <a:pt x="423" y="332"/>
                  <a:pt x="589" y="332"/>
                </a:cubicBezTo>
                <a:lnTo>
                  <a:pt x="589" y="332"/>
                </a:lnTo>
                <a:cubicBezTo>
                  <a:pt x="756" y="332"/>
                  <a:pt x="890" y="466"/>
                  <a:pt x="890" y="631"/>
                </a:cubicBezTo>
                <a:lnTo>
                  <a:pt x="890" y="631"/>
                </a:lnTo>
                <a:cubicBezTo>
                  <a:pt x="890" y="797"/>
                  <a:pt x="756" y="932"/>
                  <a:pt x="589" y="932"/>
                </a:cubicBezTo>
                <a:close/>
                <a:moveTo>
                  <a:pt x="589" y="0"/>
                </a:moveTo>
                <a:lnTo>
                  <a:pt x="589" y="0"/>
                </a:lnTo>
                <a:cubicBezTo>
                  <a:pt x="264" y="0"/>
                  <a:pt x="0" y="264"/>
                  <a:pt x="0" y="589"/>
                </a:cubicBezTo>
                <a:lnTo>
                  <a:pt x="0" y="589"/>
                </a:lnTo>
                <a:cubicBezTo>
                  <a:pt x="0" y="914"/>
                  <a:pt x="589" y="1921"/>
                  <a:pt x="589" y="1921"/>
                </a:cubicBezTo>
                <a:lnTo>
                  <a:pt x="589" y="1921"/>
                </a:lnTo>
                <a:cubicBezTo>
                  <a:pt x="589" y="1921"/>
                  <a:pt x="1179" y="914"/>
                  <a:pt x="1179" y="589"/>
                </a:cubicBezTo>
                <a:lnTo>
                  <a:pt x="1179" y="589"/>
                </a:lnTo>
                <a:cubicBezTo>
                  <a:pt x="1179" y="264"/>
                  <a:pt x="915" y="0"/>
                  <a:pt x="589" y="0"/>
                </a:cubicBezTo>
                <a:close/>
              </a:path>
            </a:pathLst>
          </a:custGeom>
          <a:solidFill>
            <a:schemeClr val="bg2">
              <a:lumMod val="50000"/>
            </a:schemeClr>
          </a:solidFill>
          <a:ln>
            <a:noFill/>
          </a:ln>
          <a:effectLst/>
        </p:spPr>
        <p:txBody>
          <a:bodyPr wrap="none" anchor="ctr"/>
          <a:lstStyle/>
          <a:p>
            <a:endParaRPr lang="en-US" sz="3266"/>
          </a:p>
        </p:txBody>
      </p:sp>
      <p:sp>
        <p:nvSpPr>
          <p:cNvPr id="45" name="Freeform 32">
            <a:extLst>
              <a:ext uri="{FF2B5EF4-FFF2-40B4-BE49-F238E27FC236}">
                <a16:creationId xmlns:a16="http://schemas.microsoft.com/office/drawing/2014/main" id="{0E8BB308-EB34-C968-8F04-0C5868F13845}"/>
              </a:ext>
            </a:extLst>
          </p:cNvPr>
          <p:cNvSpPr>
            <a:spLocks/>
          </p:cNvSpPr>
          <p:nvPr/>
        </p:nvSpPr>
        <p:spPr bwMode="auto">
          <a:xfrm>
            <a:off x="8753066" y="3961946"/>
            <a:ext cx="583690" cy="949584"/>
          </a:xfrm>
          <a:custGeom>
            <a:avLst/>
            <a:gdLst>
              <a:gd name="T0" fmla="*/ 590 w 1181"/>
              <a:gd name="T1" fmla="*/ 934 h 1923"/>
              <a:gd name="T2" fmla="*/ 590 w 1181"/>
              <a:gd name="T3" fmla="*/ 934 h 1923"/>
              <a:gd name="T4" fmla="*/ 289 w 1181"/>
              <a:gd name="T5" fmla="*/ 633 h 1923"/>
              <a:gd name="T6" fmla="*/ 289 w 1181"/>
              <a:gd name="T7" fmla="*/ 633 h 1923"/>
              <a:gd name="T8" fmla="*/ 590 w 1181"/>
              <a:gd name="T9" fmla="*/ 332 h 1923"/>
              <a:gd name="T10" fmla="*/ 590 w 1181"/>
              <a:gd name="T11" fmla="*/ 332 h 1923"/>
              <a:gd name="T12" fmla="*/ 891 w 1181"/>
              <a:gd name="T13" fmla="*/ 633 h 1923"/>
              <a:gd name="T14" fmla="*/ 891 w 1181"/>
              <a:gd name="T15" fmla="*/ 633 h 1923"/>
              <a:gd name="T16" fmla="*/ 590 w 1181"/>
              <a:gd name="T17" fmla="*/ 934 h 1923"/>
              <a:gd name="T18" fmla="*/ 590 w 1181"/>
              <a:gd name="T19" fmla="*/ 0 h 1923"/>
              <a:gd name="T20" fmla="*/ 590 w 1181"/>
              <a:gd name="T21" fmla="*/ 0 h 1923"/>
              <a:gd name="T22" fmla="*/ 0 w 1181"/>
              <a:gd name="T23" fmla="*/ 590 h 1923"/>
              <a:gd name="T24" fmla="*/ 0 w 1181"/>
              <a:gd name="T25" fmla="*/ 590 h 1923"/>
              <a:gd name="T26" fmla="*/ 590 w 1181"/>
              <a:gd name="T27" fmla="*/ 1922 h 1923"/>
              <a:gd name="T28" fmla="*/ 590 w 1181"/>
              <a:gd name="T29" fmla="*/ 1922 h 1923"/>
              <a:gd name="T30" fmla="*/ 1180 w 1181"/>
              <a:gd name="T31" fmla="*/ 590 h 1923"/>
              <a:gd name="T32" fmla="*/ 1180 w 1181"/>
              <a:gd name="T33" fmla="*/ 590 h 1923"/>
              <a:gd name="T34" fmla="*/ 590 w 1181"/>
              <a:gd name="T35" fmla="*/ 0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1" h="1923">
                <a:moveTo>
                  <a:pt x="590" y="934"/>
                </a:moveTo>
                <a:lnTo>
                  <a:pt x="590" y="934"/>
                </a:lnTo>
                <a:cubicBezTo>
                  <a:pt x="424" y="934"/>
                  <a:pt x="289" y="799"/>
                  <a:pt x="289" y="633"/>
                </a:cubicBezTo>
                <a:lnTo>
                  <a:pt x="289" y="633"/>
                </a:lnTo>
                <a:cubicBezTo>
                  <a:pt x="289" y="467"/>
                  <a:pt x="424" y="332"/>
                  <a:pt x="590" y="332"/>
                </a:cubicBezTo>
                <a:lnTo>
                  <a:pt x="590" y="332"/>
                </a:lnTo>
                <a:cubicBezTo>
                  <a:pt x="756" y="332"/>
                  <a:pt x="891" y="467"/>
                  <a:pt x="891" y="633"/>
                </a:cubicBezTo>
                <a:lnTo>
                  <a:pt x="891" y="633"/>
                </a:lnTo>
                <a:cubicBezTo>
                  <a:pt x="891" y="799"/>
                  <a:pt x="756" y="934"/>
                  <a:pt x="590" y="934"/>
                </a:cubicBezTo>
                <a:close/>
                <a:moveTo>
                  <a:pt x="590" y="0"/>
                </a:moveTo>
                <a:lnTo>
                  <a:pt x="590" y="0"/>
                </a:lnTo>
                <a:cubicBezTo>
                  <a:pt x="265" y="0"/>
                  <a:pt x="0" y="265"/>
                  <a:pt x="0" y="590"/>
                </a:cubicBezTo>
                <a:lnTo>
                  <a:pt x="0" y="590"/>
                </a:lnTo>
                <a:cubicBezTo>
                  <a:pt x="0" y="915"/>
                  <a:pt x="590" y="1922"/>
                  <a:pt x="590" y="1922"/>
                </a:cubicBezTo>
                <a:lnTo>
                  <a:pt x="590" y="1922"/>
                </a:lnTo>
                <a:cubicBezTo>
                  <a:pt x="590" y="1922"/>
                  <a:pt x="1180" y="915"/>
                  <a:pt x="1180" y="590"/>
                </a:cubicBezTo>
                <a:lnTo>
                  <a:pt x="1180" y="590"/>
                </a:lnTo>
                <a:cubicBezTo>
                  <a:pt x="1180" y="265"/>
                  <a:pt x="915" y="0"/>
                  <a:pt x="590" y="0"/>
                </a:cubicBezTo>
                <a:close/>
              </a:path>
            </a:pathLst>
          </a:custGeom>
          <a:solidFill>
            <a:schemeClr val="bg2">
              <a:lumMod val="50000"/>
            </a:schemeClr>
          </a:solidFill>
          <a:ln>
            <a:noFill/>
          </a:ln>
          <a:effectLst/>
        </p:spPr>
        <p:txBody>
          <a:bodyPr wrap="none" anchor="ctr"/>
          <a:lstStyle/>
          <a:p>
            <a:endParaRPr lang="en-US" sz="3266"/>
          </a:p>
        </p:txBody>
      </p:sp>
      <p:sp>
        <p:nvSpPr>
          <p:cNvPr id="46" name="Freeform 32">
            <a:extLst>
              <a:ext uri="{FF2B5EF4-FFF2-40B4-BE49-F238E27FC236}">
                <a16:creationId xmlns:a16="http://schemas.microsoft.com/office/drawing/2014/main" id="{E34E9FBF-3516-AE7C-F2B5-E16AEEBF7C8C}"/>
              </a:ext>
            </a:extLst>
          </p:cNvPr>
          <p:cNvSpPr>
            <a:spLocks/>
          </p:cNvSpPr>
          <p:nvPr/>
        </p:nvSpPr>
        <p:spPr bwMode="auto">
          <a:xfrm>
            <a:off x="7347579" y="1584776"/>
            <a:ext cx="583690" cy="949584"/>
          </a:xfrm>
          <a:custGeom>
            <a:avLst/>
            <a:gdLst>
              <a:gd name="T0" fmla="*/ 590 w 1181"/>
              <a:gd name="T1" fmla="*/ 934 h 1923"/>
              <a:gd name="T2" fmla="*/ 590 w 1181"/>
              <a:gd name="T3" fmla="*/ 934 h 1923"/>
              <a:gd name="T4" fmla="*/ 289 w 1181"/>
              <a:gd name="T5" fmla="*/ 633 h 1923"/>
              <a:gd name="T6" fmla="*/ 289 w 1181"/>
              <a:gd name="T7" fmla="*/ 633 h 1923"/>
              <a:gd name="T8" fmla="*/ 590 w 1181"/>
              <a:gd name="T9" fmla="*/ 332 h 1923"/>
              <a:gd name="T10" fmla="*/ 590 w 1181"/>
              <a:gd name="T11" fmla="*/ 332 h 1923"/>
              <a:gd name="T12" fmla="*/ 891 w 1181"/>
              <a:gd name="T13" fmla="*/ 633 h 1923"/>
              <a:gd name="T14" fmla="*/ 891 w 1181"/>
              <a:gd name="T15" fmla="*/ 633 h 1923"/>
              <a:gd name="T16" fmla="*/ 590 w 1181"/>
              <a:gd name="T17" fmla="*/ 934 h 1923"/>
              <a:gd name="T18" fmla="*/ 590 w 1181"/>
              <a:gd name="T19" fmla="*/ 0 h 1923"/>
              <a:gd name="T20" fmla="*/ 590 w 1181"/>
              <a:gd name="T21" fmla="*/ 0 h 1923"/>
              <a:gd name="T22" fmla="*/ 0 w 1181"/>
              <a:gd name="T23" fmla="*/ 590 h 1923"/>
              <a:gd name="T24" fmla="*/ 0 w 1181"/>
              <a:gd name="T25" fmla="*/ 590 h 1923"/>
              <a:gd name="T26" fmla="*/ 590 w 1181"/>
              <a:gd name="T27" fmla="*/ 1922 h 1923"/>
              <a:gd name="T28" fmla="*/ 590 w 1181"/>
              <a:gd name="T29" fmla="*/ 1922 h 1923"/>
              <a:gd name="T30" fmla="*/ 1180 w 1181"/>
              <a:gd name="T31" fmla="*/ 590 h 1923"/>
              <a:gd name="T32" fmla="*/ 1180 w 1181"/>
              <a:gd name="T33" fmla="*/ 590 h 1923"/>
              <a:gd name="T34" fmla="*/ 590 w 1181"/>
              <a:gd name="T35" fmla="*/ 0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1" h="1923">
                <a:moveTo>
                  <a:pt x="590" y="934"/>
                </a:moveTo>
                <a:lnTo>
                  <a:pt x="590" y="934"/>
                </a:lnTo>
                <a:cubicBezTo>
                  <a:pt x="424" y="934"/>
                  <a:pt x="289" y="799"/>
                  <a:pt x="289" y="633"/>
                </a:cubicBezTo>
                <a:lnTo>
                  <a:pt x="289" y="633"/>
                </a:lnTo>
                <a:cubicBezTo>
                  <a:pt x="289" y="467"/>
                  <a:pt x="424" y="332"/>
                  <a:pt x="590" y="332"/>
                </a:cubicBezTo>
                <a:lnTo>
                  <a:pt x="590" y="332"/>
                </a:lnTo>
                <a:cubicBezTo>
                  <a:pt x="756" y="332"/>
                  <a:pt x="891" y="467"/>
                  <a:pt x="891" y="633"/>
                </a:cubicBezTo>
                <a:lnTo>
                  <a:pt x="891" y="633"/>
                </a:lnTo>
                <a:cubicBezTo>
                  <a:pt x="891" y="799"/>
                  <a:pt x="756" y="934"/>
                  <a:pt x="590" y="934"/>
                </a:cubicBezTo>
                <a:close/>
                <a:moveTo>
                  <a:pt x="590" y="0"/>
                </a:moveTo>
                <a:lnTo>
                  <a:pt x="590" y="0"/>
                </a:lnTo>
                <a:cubicBezTo>
                  <a:pt x="265" y="0"/>
                  <a:pt x="0" y="265"/>
                  <a:pt x="0" y="590"/>
                </a:cubicBezTo>
                <a:lnTo>
                  <a:pt x="0" y="590"/>
                </a:lnTo>
                <a:cubicBezTo>
                  <a:pt x="0" y="915"/>
                  <a:pt x="590" y="1922"/>
                  <a:pt x="590" y="1922"/>
                </a:cubicBezTo>
                <a:lnTo>
                  <a:pt x="590" y="1922"/>
                </a:lnTo>
                <a:cubicBezTo>
                  <a:pt x="590" y="1922"/>
                  <a:pt x="1180" y="915"/>
                  <a:pt x="1180" y="590"/>
                </a:cubicBezTo>
                <a:lnTo>
                  <a:pt x="1180" y="590"/>
                </a:lnTo>
                <a:cubicBezTo>
                  <a:pt x="1180" y="265"/>
                  <a:pt x="915" y="0"/>
                  <a:pt x="590" y="0"/>
                </a:cubicBezTo>
                <a:close/>
              </a:path>
            </a:pathLst>
          </a:custGeom>
          <a:solidFill>
            <a:schemeClr val="accent1"/>
          </a:solidFill>
          <a:ln>
            <a:noFill/>
          </a:ln>
          <a:effectLst/>
        </p:spPr>
        <p:txBody>
          <a:bodyPr wrap="none" anchor="ctr"/>
          <a:lstStyle/>
          <a:p>
            <a:endParaRPr lang="en-US" sz="3266"/>
          </a:p>
        </p:txBody>
      </p:sp>
      <p:sp>
        <p:nvSpPr>
          <p:cNvPr id="2" name="Date Placeholder 2">
            <a:extLst>
              <a:ext uri="{FF2B5EF4-FFF2-40B4-BE49-F238E27FC236}">
                <a16:creationId xmlns:a16="http://schemas.microsoft.com/office/drawing/2014/main" id="{1AE52562-9520-13DE-4E29-A9C2C685502E}"/>
              </a:ext>
            </a:extLst>
          </p:cNvPr>
          <p:cNvSpPr>
            <a:spLocks noGrp="1"/>
          </p:cNvSpPr>
          <p:nvPr>
            <p:ph type="dt" sz="half" idx="10"/>
          </p:nvPr>
        </p:nvSpPr>
        <p:spPr>
          <a:xfrm>
            <a:off x="838200" y="6356350"/>
            <a:ext cx="2743200" cy="365125"/>
          </a:xfrm>
        </p:spPr>
        <p:txBody>
          <a:bodyPr/>
          <a:lstStyle/>
          <a:p>
            <a:fld id="{26859444-D652-6A4E-9373-AAD8DF4750C9}" type="datetime4">
              <a:rPr lang="en-US" smtClean="0"/>
              <a:t>March 31, 2026</a:t>
            </a:fld>
            <a:endParaRPr lang="en-US"/>
          </a:p>
        </p:txBody>
      </p:sp>
      <p:sp>
        <p:nvSpPr>
          <p:cNvPr id="3" name="Footer Placeholder 3">
            <a:extLst>
              <a:ext uri="{FF2B5EF4-FFF2-40B4-BE49-F238E27FC236}">
                <a16:creationId xmlns:a16="http://schemas.microsoft.com/office/drawing/2014/main" id="{FE71FAFD-9969-05B9-149D-F2E07D9254D6}"/>
              </a:ext>
            </a:extLst>
          </p:cNvPr>
          <p:cNvSpPr>
            <a:spLocks noGrp="1"/>
          </p:cNvSpPr>
          <p:nvPr>
            <p:ph type="ftr" sz="quarter" idx="11"/>
          </p:nvPr>
        </p:nvSpPr>
        <p:spPr>
          <a:xfrm>
            <a:off x="4038600" y="6356350"/>
            <a:ext cx="4114800" cy="365125"/>
          </a:xfrm>
        </p:spPr>
        <p:txBody>
          <a:bodyPr/>
          <a:lstStyle/>
          <a:p>
            <a:r>
              <a:rPr lang="en-US"/>
              <a:t>Jonathan Edwards College Paskus Mellon Forum </a:t>
            </a:r>
          </a:p>
        </p:txBody>
      </p:sp>
      <p:sp>
        <p:nvSpPr>
          <p:cNvPr id="6" name="Slide Number Placeholder 4">
            <a:extLst>
              <a:ext uri="{FF2B5EF4-FFF2-40B4-BE49-F238E27FC236}">
                <a16:creationId xmlns:a16="http://schemas.microsoft.com/office/drawing/2014/main" id="{B761593D-0468-FB76-2818-CE6AC18C6500}"/>
              </a:ext>
            </a:extLst>
          </p:cNvPr>
          <p:cNvSpPr>
            <a:spLocks noGrp="1"/>
          </p:cNvSpPr>
          <p:nvPr>
            <p:ph type="sldNum" sz="quarter" idx="12"/>
          </p:nvPr>
        </p:nvSpPr>
        <p:spPr>
          <a:xfrm>
            <a:off x="8610600" y="6356350"/>
            <a:ext cx="2743200" cy="365125"/>
          </a:xfrm>
        </p:spPr>
        <p:txBody>
          <a:bodyPr/>
          <a:lstStyle/>
          <a:p>
            <a:fld id="{7D3A6E6C-C5AB-5E45-8D34-7FB9A51EE2CA}" type="slidenum">
              <a:rPr lang="en-US" smtClean="0"/>
              <a:t>24</a:t>
            </a:fld>
            <a:endParaRPr lang="en-US"/>
          </a:p>
        </p:txBody>
      </p:sp>
    </p:spTree>
    <p:extLst>
      <p:ext uri="{BB962C8B-B14F-4D97-AF65-F5344CB8AC3E}">
        <p14:creationId xmlns:p14="http://schemas.microsoft.com/office/powerpoint/2010/main" val="2100464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7D86DC3-2E91-2DCC-C762-9C3690B612D8}"/>
              </a:ext>
            </a:extLst>
          </p:cNvPr>
          <p:cNvGraphicFramePr>
            <a:graphicFrameLocks/>
          </p:cNvGraphicFramePr>
          <p:nvPr>
            <p:custDataLst>
              <p:tags r:id="rId1"/>
            </p:custDataLst>
            <p:extLst>
              <p:ext uri="{D42A27DB-BD31-4B8C-83A1-F6EECF244321}">
                <p14:modId xmlns:p14="http://schemas.microsoft.com/office/powerpoint/2010/main" val="3130914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0D2168-6C64-0420-423E-6C3E7F5225C9}"/>
              </a:ext>
            </a:extLst>
          </p:cNvPr>
          <p:cNvSpPr>
            <a:spLocks noGrp="1"/>
          </p:cNvSpPr>
          <p:nvPr>
            <p:ph type="title"/>
          </p:nvPr>
        </p:nvSpPr>
        <p:spPr/>
        <p:txBody>
          <a:bodyPr vert="horz" rIns="91440"/>
          <a:lstStyle/>
          <a:p>
            <a:r>
              <a:rPr lang="en-US" dirty="0"/>
              <a:t>Thank you! Questions?</a:t>
            </a:r>
          </a:p>
        </p:txBody>
      </p:sp>
      <p:sp>
        <p:nvSpPr>
          <p:cNvPr id="3" name="Text Placeholder 2">
            <a:extLst>
              <a:ext uri="{FF2B5EF4-FFF2-40B4-BE49-F238E27FC236}">
                <a16:creationId xmlns:a16="http://schemas.microsoft.com/office/drawing/2014/main" id="{516ECBC3-A362-2FE8-1391-32FE1E4F780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CEAEF49-AA81-4AAF-11A9-CDBE8F1946F1}"/>
              </a:ext>
            </a:extLst>
          </p:cNvPr>
          <p:cNvSpPr>
            <a:spLocks noGrp="1"/>
          </p:cNvSpPr>
          <p:nvPr>
            <p:ph type="dt" sz="half" idx="10"/>
          </p:nvPr>
        </p:nvSpPr>
        <p:spPr/>
        <p:txBody>
          <a:bodyPr/>
          <a:lstStyle/>
          <a:p>
            <a:fld id="{5D60C28D-57D0-7A4F-94A0-F7B25999ACAC}" type="datetime4">
              <a:rPr lang="en-US" smtClean="0"/>
              <a:t>March 31, 2026</a:t>
            </a:fld>
            <a:endParaRPr lang="en-US"/>
          </a:p>
        </p:txBody>
      </p:sp>
      <p:sp>
        <p:nvSpPr>
          <p:cNvPr id="5" name="Footer Placeholder 4">
            <a:extLst>
              <a:ext uri="{FF2B5EF4-FFF2-40B4-BE49-F238E27FC236}">
                <a16:creationId xmlns:a16="http://schemas.microsoft.com/office/drawing/2014/main" id="{2C9E0843-2D01-0FC9-B70F-47254350777F}"/>
              </a:ext>
            </a:extLst>
          </p:cNvPr>
          <p:cNvSpPr>
            <a:spLocks noGrp="1"/>
          </p:cNvSpPr>
          <p:nvPr>
            <p:ph type="ftr" sz="quarter" idx="11"/>
          </p:nvPr>
        </p:nvSpPr>
        <p:spPr/>
        <p:txBody>
          <a:bodyPr/>
          <a:lstStyle/>
          <a:p>
            <a:r>
              <a:rPr lang="en-US"/>
              <a:t>Jonathan Edwards College Paskus Mellon Forum </a:t>
            </a:r>
          </a:p>
        </p:txBody>
      </p:sp>
      <p:sp>
        <p:nvSpPr>
          <p:cNvPr id="6" name="Slide Number Placeholder 5">
            <a:extLst>
              <a:ext uri="{FF2B5EF4-FFF2-40B4-BE49-F238E27FC236}">
                <a16:creationId xmlns:a16="http://schemas.microsoft.com/office/drawing/2014/main" id="{80F0034D-D30B-8288-C090-101A6E9336D8}"/>
              </a:ext>
            </a:extLst>
          </p:cNvPr>
          <p:cNvSpPr>
            <a:spLocks noGrp="1"/>
          </p:cNvSpPr>
          <p:nvPr>
            <p:ph type="sldNum" sz="quarter" idx="12"/>
          </p:nvPr>
        </p:nvSpPr>
        <p:spPr/>
        <p:txBody>
          <a:bodyPr/>
          <a:lstStyle/>
          <a:p>
            <a:fld id="{7D3A6E6C-C5AB-5E45-8D34-7FB9A51EE2CA}" type="slidenum">
              <a:rPr lang="en-US" smtClean="0"/>
              <a:t>25</a:t>
            </a:fld>
            <a:endParaRPr lang="en-US"/>
          </a:p>
        </p:txBody>
      </p:sp>
      <p:sp>
        <p:nvSpPr>
          <p:cNvPr id="8" name="TextBox 7">
            <a:extLst>
              <a:ext uri="{FF2B5EF4-FFF2-40B4-BE49-F238E27FC236}">
                <a16:creationId xmlns:a16="http://schemas.microsoft.com/office/drawing/2014/main" id="{DBB58B4F-8F98-A03E-FC5C-3AF34B9E9D09}"/>
              </a:ext>
            </a:extLst>
          </p:cNvPr>
          <p:cNvSpPr txBox="1"/>
          <p:nvPr/>
        </p:nvSpPr>
        <p:spPr>
          <a:xfrm>
            <a:off x="-6736806" y="-264319"/>
            <a:ext cx="5904411" cy="3693319"/>
          </a:xfrm>
          <a:prstGeom prst="rect">
            <a:avLst/>
          </a:prstGeom>
          <a:solidFill>
            <a:srgbClr val="FFFF00"/>
          </a:solidFill>
        </p:spPr>
        <p:txBody>
          <a:bodyPr wrap="square" rtlCol="0">
            <a:spAutoFit/>
          </a:bodyPr>
          <a:lstStyle/>
          <a:p>
            <a:r>
              <a:rPr lang="en-US" b="1" dirty="0"/>
              <a:t>Notes:</a:t>
            </a:r>
          </a:p>
          <a:p>
            <a:pPr marL="285750" indent="-285750">
              <a:buFontTx/>
              <a:buChar char="-"/>
            </a:pPr>
            <a:r>
              <a:rPr lang="en-US" dirty="0"/>
              <a:t>Make it more accessible for broad audience</a:t>
            </a:r>
          </a:p>
          <a:p>
            <a:pPr marL="285750" indent="-285750">
              <a:buFontTx/>
              <a:buChar char="-"/>
            </a:pPr>
            <a:r>
              <a:rPr lang="en-US" dirty="0"/>
              <a:t>Has all elements needed for presentation</a:t>
            </a:r>
          </a:p>
          <a:p>
            <a:pPr marL="742950" lvl="1" indent="-285750">
              <a:buFontTx/>
              <a:buChar char="-"/>
            </a:pPr>
            <a:r>
              <a:rPr lang="en-US" dirty="0"/>
              <a:t>Motivations, lit review, findings, next steps</a:t>
            </a:r>
          </a:p>
          <a:p>
            <a:pPr marL="285750" indent="-285750">
              <a:buFontTx/>
              <a:buChar char="-"/>
            </a:pPr>
            <a:r>
              <a:rPr lang="en-US" dirty="0"/>
              <a:t>Have agenda slide at beginning / signposting</a:t>
            </a:r>
          </a:p>
          <a:p>
            <a:pPr marL="285750" indent="-285750">
              <a:buFontTx/>
              <a:buChar char="-"/>
            </a:pPr>
            <a:r>
              <a:rPr lang="en-US" dirty="0"/>
              <a:t>Did good job translating technical terms into layman explanations</a:t>
            </a:r>
          </a:p>
          <a:p>
            <a:pPr marL="285750" indent="-285750">
              <a:buFontTx/>
              <a:buChar char="-"/>
            </a:pPr>
            <a:r>
              <a:rPr lang="en-US" dirty="0"/>
              <a:t>Second slide: subtitles for top and bottom</a:t>
            </a:r>
          </a:p>
          <a:p>
            <a:pPr marL="285750" indent="-285750">
              <a:buFontTx/>
              <a:buChar char="-"/>
            </a:pPr>
            <a:r>
              <a:rPr lang="en-US" dirty="0"/>
              <a:t>Clear up structure + rehearse</a:t>
            </a:r>
          </a:p>
          <a:p>
            <a:pPr marL="285750" indent="-285750">
              <a:buFontTx/>
              <a:buChar char="-"/>
            </a:pPr>
            <a:r>
              <a:rPr lang="en-US" dirty="0"/>
              <a:t>Data ownership questions? Policy?</a:t>
            </a:r>
          </a:p>
          <a:p>
            <a:pPr marL="742950" lvl="1" indent="-285750">
              <a:buFontTx/>
              <a:buChar char="-"/>
            </a:pPr>
            <a:r>
              <a:rPr lang="en-US" dirty="0"/>
              <a:t>Add a slide (?) </a:t>
            </a:r>
          </a:p>
          <a:p>
            <a:pPr marL="285750" indent="-285750">
              <a:buFontTx/>
              <a:buChar char="-"/>
            </a:pPr>
            <a:r>
              <a:rPr lang="en-US" dirty="0"/>
              <a:t>Spoke a little fast (!)</a:t>
            </a:r>
          </a:p>
          <a:p>
            <a:pPr marL="285750" indent="-285750">
              <a:buFontTx/>
              <a:buChar char="-"/>
            </a:pPr>
            <a:r>
              <a:rPr lang="en-US" dirty="0"/>
              <a:t>Takeaway: how it connects to real life (!)</a:t>
            </a:r>
          </a:p>
        </p:txBody>
      </p:sp>
    </p:spTree>
    <p:extLst>
      <p:ext uri="{BB962C8B-B14F-4D97-AF65-F5344CB8AC3E}">
        <p14:creationId xmlns:p14="http://schemas.microsoft.com/office/powerpoint/2010/main" val="22684369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R7vh3U.a9j1MdzMn8JsF6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3yXFN7ksUz8O8h2Pvfx33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wnhT.kLI5KKLJvVVM06W2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qGaUzOEkIe69RZ_t3T8sA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SV8SDRqAUunoKRt89ps.w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_1x73PU6E1Tp1k3VYWfDT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rJD24c5QhSUVs7fq0rL.d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R7vh3U.a9j1MdzMn8JsF6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aP9TDn4FOx_.F9orKHoN8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XwO2czPfpkHHdcNa8OtV9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fY6ZizEdOcmFihzJ0JHr0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D0LrLgDamjm0qByKVzM1g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R7vh3U.a9j1MdzMn8JsF6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JbS1kDcEDMI0KEd2q4Yp2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sCmaS8wY.wm9e6kvJh.xJ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xsmh4uKMTgOgUrcgzaPTP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GtHoC4RJSZkaRzb_pBDm7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R7vh3U.a9j1MdzMn8JsF6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1990</TotalTime>
  <Words>1529</Words>
  <Application>Microsoft Macintosh PowerPoint</Application>
  <PresentationFormat>Widescreen</PresentationFormat>
  <Paragraphs>216</Paragraphs>
  <Slides>25</Slides>
  <Notes>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1" baseType="lpstr">
      <vt:lpstr>Aptos</vt:lpstr>
      <vt:lpstr>Arial</vt:lpstr>
      <vt:lpstr>Georgia</vt:lpstr>
      <vt:lpstr>Wingdings</vt:lpstr>
      <vt:lpstr>Office Theme</vt:lpstr>
      <vt:lpstr>think-cell Slide</vt:lpstr>
      <vt:lpstr>Predicting Population Density from Satellite Imagery: Evidence from Mexico</vt:lpstr>
      <vt:lpstr>Agenda</vt:lpstr>
      <vt:lpstr>Population data underlies many critical decisions in public life…</vt:lpstr>
      <vt:lpstr>… yet population data is often not frequently collected or updated.</vt:lpstr>
      <vt:lpstr>Motivating question:  How can we address temporal sparsity and spatial granularity to make population data more accurate/usable?</vt:lpstr>
      <vt:lpstr>Agenda</vt:lpstr>
      <vt:lpstr>Satellite imagery can solve both problems</vt:lpstr>
      <vt:lpstr>Research question:  Does satellite imagery contain enough signal about human settlement patterns to support accurate population estimates?</vt:lpstr>
      <vt:lpstr>Previous studies of this question predict population density using task-specific trained models</vt:lpstr>
      <vt:lpstr>My project asks whether task-agnostic models can perform just as well. </vt:lpstr>
      <vt:lpstr>Agenda</vt:lpstr>
      <vt:lpstr>My approach has four key stages:</vt:lpstr>
      <vt:lpstr>Step 1: constructing census polygon</vt:lpstr>
      <vt:lpstr>I chose to study Mexico because it has great data availability and documentation.</vt:lpstr>
      <vt:lpstr>Creating the census polygons required merging data across different data types and sources (1/2)</vt:lpstr>
      <vt:lpstr>Creating the census polygons required merging data across different data types and sources (2/2)</vt:lpstr>
      <vt:lpstr>Step 2: the Google AlphaEarth Foundation Model</vt:lpstr>
      <vt:lpstr>Google’s AlphaEarth foundation model is a recently released state-of-the-art geospatial foundation model</vt:lpstr>
      <vt:lpstr>Step 3: Prediction</vt:lpstr>
      <vt:lpstr>Model specifics</vt:lpstr>
      <vt:lpstr>Agenda</vt:lpstr>
      <vt:lpstr>Key Results</vt:lpstr>
      <vt:lpstr>Variations in state-by-state performance are driven by average size of polygon in the state</vt:lpstr>
      <vt:lpstr>Next steps include expanding to other models and predicting pop. change over time.</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Henry</dc:creator>
  <cp:lastModifiedBy>Chen, Henry</cp:lastModifiedBy>
  <cp:revision>433</cp:revision>
  <dcterms:created xsi:type="dcterms:W3CDTF">2026-03-26T14:28:29Z</dcterms:created>
  <dcterms:modified xsi:type="dcterms:W3CDTF">2026-03-31T21:32:06Z</dcterms:modified>
</cp:coreProperties>
</file>